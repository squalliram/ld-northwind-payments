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9100" y="338138"/>
            <a:ext cx="183439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2184589" y="485775"/>
            <a:ext cx="250984" cy="4763"/>
          </a:xfrm>
          <a:custGeom>
            <a:avLst/>
            <a:gdLst/>
            <a:ahLst/>
            <a:cxnLst/>
            <a:rect l="l" t="t" r="r" b="b"/>
            <a:pathLst>
              <a:path w="250984" h="4763">
                <a:moveTo>
                  <a:pt x="0" y="0"/>
                </a:moveTo>
                <a:lnTo>
                  <a:pt x="250984" y="0"/>
                </a:lnTo>
              </a:path>
            </a:pathLst>
          </a:custGeom>
          <a:ln w="2105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273647" y="372428"/>
            <a:ext cx="161925" cy="226695"/>
          </a:xfrm>
          <a:custGeom>
            <a:avLst/>
            <a:gdLst/>
            <a:ahLst/>
            <a:cxnLst/>
            <a:rect l="l" t="t" r="r" b="b"/>
            <a:pathLst>
              <a:path w="161925" h="226695">
                <a:moveTo>
                  <a:pt x="0" y="0"/>
                </a:moveTo>
                <a:lnTo>
                  <a:pt x="161925" y="113347"/>
                </a:lnTo>
                <a:lnTo>
                  <a:pt x="0" y="226695"/>
                </a:lnTo>
              </a:path>
            </a:pathLst>
          </a:custGeom>
          <a:ln w="2105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25070" y="421005"/>
            <a:ext cx="210502" cy="129540"/>
          </a:xfrm>
          <a:custGeom>
            <a:avLst/>
            <a:gdLst/>
            <a:ahLst/>
            <a:cxnLst/>
            <a:rect l="l" t="t" r="r" b="b"/>
            <a:pathLst>
              <a:path w="210502" h="129540">
                <a:moveTo>
                  <a:pt x="0" y="0"/>
                </a:moveTo>
                <a:lnTo>
                  <a:pt x="210502" y="64770"/>
                </a:lnTo>
                <a:lnTo>
                  <a:pt x="0" y="129540"/>
                </a:lnTo>
              </a:path>
            </a:pathLst>
          </a:custGeom>
          <a:ln w="21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00750" y="2286000"/>
            <a:ext cx="3143250" cy="28575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0" y="3238500"/>
            <a:ext cx="2476500" cy="1905000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29500" y="1428750"/>
            <a:ext cx="1714500" cy="2095500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19100" y="1428750"/>
            <a:ext cx="59740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PLAYBACK · NORTHWIND BANK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419100" y="1657350"/>
            <a:ext cx="5410200" cy="12096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500"/>
              </a:lnSpc>
              <a:buNone/>
            </a:pPr>
            <a:r>
              <a:rPr lang="en-US" sz="45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Safer, faster payment releases</a:t>
            </a:r>
            <a:endParaRPr lang="en-US" sz="4500" dirty="0"/>
          </a:p>
        </p:txBody>
      </p:sp>
      <p:sp>
        <p:nvSpPr>
          <p:cNvPr id="11" name="Text 6"/>
          <p:cNvSpPr/>
          <p:nvPr/>
        </p:nvSpPr>
        <p:spPr>
          <a:xfrm>
            <a:off x="419100" y="3067050"/>
            <a:ext cx="5410200" cy="4304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350" dirty="0">
                <a:solidFill>
                  <a:srgbClr val="CFCFC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LaunchDarkly lets a regulated EMEA bank ship more often without raising risk.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419100" y="4676775"/>
            <a:ext cx="231295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Solutions Engineering · October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minutes. Built around your goals, not a feature tour.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81000" y="1428750"/>
            <a:ext cx="2679650" cy="2781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0525" y="1438275"/>
            <a:ext cx="2660600" cy="95250"/>
          </a:xfrm>
          <a:prstGeom prst="rect">
            <a:avLst/>
          </a:prstGeom>
          <a:solidFill>
            <a:srgbClr val="405BFF"/>
          </a:solidFill>
          <a:ln/>
        </p:spPr>
      </p:sp>
      <p:sp>
        <p:nvSpPr>
          <p:cNvPr id="6" name="Text 4"/>
          <p:cNvSpPr/>
          <p:nvPr/>
        </p:nvSpPr>
        <p:spPr>
          <a:xfrm>
            <a:off x="638175" y="1743075"/>
            <a:ext cx="24251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38175" y="1971675"/>
            <a:ext cx="24251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638175" y="2324100"/>
            <a:ext cx="2230259" cy="581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Understanding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38175" y="3048000"/>
            <a:ext cx="2230259" cy="732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current state and its cost, the future state you are aiming for, and the capabilities and metrics that bridge the two.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32100" y="1428750"/>
            <a:ext cx="2679799" cy="2781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1625" y="1438275"/>
            <a:ext cx="2660749" cy="95250"/>
          </a:xfrm>
          <a:prstGeom prst="rect">
            <a:avLst/>
          </a:prstGeom>
          <a:solidFill>
            <a:srgbClr val="A34FDE"/>
          </a:solidFill>
          <a:ln/>
        </p:spPr>
      </p:sp>
      <p:sp>
        <p:nvSpPr>
          <p:cNvPr id="12" name="Text 10"/>
          <p:cNvSpPr/>
          <p:nvPr/>
        </p:nvSpPr>
        <p:spPr>
          <a:xfrm>
            <a:off x="3489275" y="1743075"/>
            <a:ext cx="242530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489275" y="1971675"/>
            <a:ext cx="242530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3489275" y="2324100"/>
            <a:ext cx="2425303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3489275" y="2752725"/>
            <a:ext cx="2230413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live payments app: targeted release, kill switch, instant rollback and a guarded rollout that catches a bad release on its own. Each step tied to an outcome.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3350" y="1428750"/>
            <a:ext cx="2679650" cy="2781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92875" y="1438275"/>
            <a:ext cx="2660600" cy="95250"/>
          </a:xfrm>
          <a:prstGeom prst="rect">
            <a:avLst/>
          </a:prstGeom>
          <a:solidFill>
            <a:srgbClr val="FF3399"/>
          </a:solidFill>
          <a:ln/>
        </p:spPr>
      </p:sp>
      <p:sp>
        <p:nvSpPr>
          <p:cNvPr id="18" name="Text 16"/>
          <p:cNvSpPr/>
          <p:nvPr/>
        </p:nvSpPr>
        <p:spPr>
          <a:xfrm>
            <a:off x="6340525" y="1743075"/>
            <a:ext cx="24251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40525" y="1971675"/>
            <a:ext cx="24251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6340525" y="2324100"/>
            <a:ext cx="242513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6340525" y="2752725"/>
            <a:ext cx="2230259" cy="539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44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concerns and questions, then a mutual plan from here to a pilot with clear owners and dates.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38275"/>
            <a:ext cx="6635663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57200" y="1981200"/>
            <a:ext cx="6635663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Understanding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895600"/>
            <a:ext cx="663566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why, before the what.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2476500"/>
            <a:ext cx="2857500" cy="2667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9217152" cy="3619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678"/>
              </a:lnSpc>
              <a:buNone/>
            </a:pPr>
            <a:r>
              <a:rPr lang="en-US" sz="255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Understanding</a:t>
            </a:r>
            <a:endParaRPr lang="en-US" sz="2550" dirty="0"/>
          </a:p>
        </p:txBody>
      </p:sp>
      <p:sp>
        <p:nvSpPr>
          <p:cNvPr id="3" name="Text 1"/>
          <p:cNvSpPr/>
          <p:nvPr/>
        </p:nvSpPr>
        <p:spPr>
          <a:xfrm>
            <a:off x="457200" y="644723"/>
            <a:ext cx="921715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Northwind is today, where it wants to be, and what it takes to get there.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457200" y="990600"/>
            <a:ext cx="40386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725" y="1000125"/>
            <a:ext cx="4019550" cy="57150"/>
          </a:xfrm>
          <a:prstGeom prst="rect">
            <a:avLst/>
          </a:prstGeom>
          <a:solidFill>
            <a:srgbClr val="FF3399"/>
          </a:solidFill>
          <a:ln/>
        </p:spPr>
      </p:sp>
      <p:sp>
        <p:nvSpPr>
          <p:cNvPr id="6" name="Text 4"/>
          <p:cNvSpPr/>
          <p:nvPr/>
        </p:nvSpPr>
        <p:spPr>
          <a:xfrm>
            <a:off x="619125" y="1152525"/>
            <a:ext cx="416052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 </a:t>
            </a:r>
            <a:pPr algn="l" indent="0" marL="0">
              <a:buNone/>
            </a:pPr>
            <a:r>
              <a:rPr lang="en-US" sz="9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pain → consequence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19125" y="1362075"/>
            <a:ext cx="379095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All-or-nothing releases to every customer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defect can disrupt payments for the whole base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19125" y="1725811"/>
            <a:ext cx="379095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 needs a redeploy through change control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incidents last hours and become reportable events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19125" y="2089547"/>
            <a:ext cx="379095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release-level monitoring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regressions found through complaints, not data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19125" y="2453283"/>
            <a:ext cx="379095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heavy approval for every change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release train, slower than digital challengers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48200" y="990600"/>
            <a:ext cx="4038600" cy="19050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57725" y="1000125"/>
            <a:ext cx="4019550" cy="57150"/>
          </a:xfrm>
          <a:prstGeom prst="rect">
            <a:avLst/>
          </a:prstGeom>
          <a:solidFill>
            <a:srgbClr val="405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43475" y="1152525"/>
            <a:ext cx="401116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STATE </a:t>
            </a:r>
            <a:pPr algn="l" indent="0" marL="0">
              <a:buNone/>
            </a:pPr>
            <a:r>
              <a:rPr lang="en-US" sz="900" b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target → business outcome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43475" y="1362075"/>
            <a:ext cx="365760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release: staff, beta, then % of UK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defect reaches a few customers, not all of them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943475" y="1725811"/>
            <a:ext cx="365760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Rollback in seconds by flag, no deploy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shorter incidents and proven operational resilience (DORA)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43475" y="2089547"/>
            <a:ext cx="365760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Rollouts gated on live payment metrics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widen exposure on evidence; ship with confidence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943475" y="2453283"/>
            <a:ext cx="3657600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separated from release, market by market</a:t>
            </a:r>
            <a:endParaRPr lang="en-US" sz="900" dirty="0"/>
          </a:p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cadence; launch as soon as each regulator approves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990850"/>
            <a:ext cx="8229600" cy="16192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7"/>
          <p:cNvSpPr/>
          <p:nvPr/>
        </p:nvSpPr>
        <p:spPr>
          <a:xfrm>
            <a:off x="609600" y="3086100"/>
            <a:ext cx="887577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CAPABILITIES </a:t>
            </a:r>
            <a:pPr algn="l" indent="0" marL="0">
              <a:buNone/>
            </a:pPr>
            <a:r>
              <a:rPr lang="en-US" sz="900" b="1" dirty="0">
                <a:solidFill>
                  <a:srgbClr val="9A9A9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capability → metric it moves (vendor-neutral)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9600" y="3501628"/>
            <a:ext cx="7924800" cy="9525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1" name="Text 19"/>
          <p:cNvSpPr/>
          <p:nvPr/>
        </p:nvSpPr>
        <p:spPr>
          <a:xfrm>
            <a:off x="609600" y="3314700"/>
            <a:ext cx="53553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rollouts and granular targeting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using segments, country, staff, beta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391150" y="3314700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Release frequency · % of customers exposed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9600" y="3736181"/>
            <a:ext cx="7924800" cy="9525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4" name="Text 22"/>
          <p:cNvSpPr/>
          <p:nvPr/>
        </p:nvSpPr>
        <p:spPr>
          <a:xfrm>
            <a:off x="609600" y="3549253"/>
            <a:ext cx="53553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switch and instant rollback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change behaviour without a deploy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391150" y="3549253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Mean time to recovery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09600" y="3970734"/>
            <a:ext cx="7924800" cy="9525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5"/>
          <p:cNvSpPr/>
          <p:nvPr/>
        </p:nvSpPr>
        <p:spPr>
          <a:xfrm>
            <a:off x="609600" y="3783806"/>
            <a:ext cx="53553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guardrails and auto-rollback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failure rate and latency per variation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391150" y="3783806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Change failure rate · customers hit per incident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09600" y="4205288"/>
            <a:ext cx="7924800" cy="9525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8"/>
          <p:cNvSpPr/>
          <p:nvPr/>
        </p:nvSpPr>
        <p:spPr>
          <a:xfrm>
            <a:off x="609600" y="4018359"/>
            <a:ext cx="53553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trail, approvals and roles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recording who, what, when and why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391150" y="4018359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Change lead time · audit preparation effort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09600" y="4252913"/>
            <a:ext cx="535533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Privacy-safe, resilient evaluation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no PII in the context and safe fallbacks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391150" y="4252913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5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Personal data shared (zero) · payment uptime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5" name="Shape 33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81500" y="1809750"/>
            <a:ext cx="381000" cy="38100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39" name="Shape 37"/>
          <p:cNvSpPr/>
          <p:nvPr/>
        </p:nvSpPr>
        <p:spPr>
          <a:xfrm>
            <a:off x="4502150" y="2000250"/>
            <a:ext cx="139700" cy="4763"/>
          </a:xfrm>
          <a:custGeom>
            <a:avLst/>
            <a:gdLst/>
            <a:ahLst/>
            <a:cxnLst/>
            <a:rect l="l" t="t" r="r" b="b"/>
            <a:pathLst>
              <a:path w="139700" h="4763">
                <a:moveTo>
                  <a:pt x="0" y="0"/>
                </a:moveTo>
                <a:lnTo>
                  <a:pt x="139700" y="0"/>
                </a:lnTo>
              </a:path>
            </a:pathLst>
          </a:custGeom>
          <a:ln w="20955">
            <a:solidFill>
              <a:srgbClr val="D8F55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580731" y="1939131"/>
            <a:ext cx="61119" cy="122237"/>
          </a:xfrm>
          <a:custGeom>
            <a:avLst/>
            <a:gdLst/>
            <a:ahLst/>
            <a:cxnLst/>
            <a:rect l="l" t="t" r="r" b="b"/>
            <a:pathLst>
              <a:path w="61119" h="122237">
                <a:moveTo>
                  <a:pt x="0" y="0"/>
                </a:moveTo>
                <a:lnTo>
                  <a:pt x="61119" y="61119"/>
                </a:lnTo>
                <a:lnTo>
                  <a:pt x="0" y="122237"/>
                </a:lnTo>
              </a:path>
            </a:pathLst>
          </a:custGeom>
          <a:ln w="20955">
            <a:solidFill>
              <a:srgbClr val="D8F55A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read your brief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words in the brief were deliberately open. This is what we took them to mean.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571625"/>
            <a:ext cx="283052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"REGULATED"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8478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847850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resilience (DORA): no new single point of failure.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2328863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2328863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audit trail: who changed what, when and why.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80987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2809875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GDPR data minimisation: no personal data sent to a vendor.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3290888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3290888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by market, following local approval.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08300" y="1571625"/>
            <a:ext cx="28306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"SAFER"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308300" y="18478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536900" y="1847850"/>
            <a:ext cx="2367763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blast radius: staff first, then a few customers.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08300" y="2328863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36900" y="2328863"/>
            <a:ext cx="2367763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Reversible in seconds, without a deploy.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308300" y="280987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536900" y="2809875"/>
            <a:ext cx="2367763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Regressions detected by metrics, not complaints, and rolled back automatically.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159550" y="1571625"/>
            <a:ext cx="283052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"MORE CONFIDENT"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59550" y="18478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88150" y="1847850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decision to widen a rollout is backed by production data.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159550" y="2328863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388150" y="2328863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are recorded, so they can be explained to an auditor later.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159550" y="280987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388150" y="2809875"/>
            <a:ext cx="23676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data later supports experiments on what to build.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initiative and how we'll measure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Payments modernisation: ship customer-protection features faster, with fewer and shorter incidents.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28750"/>
          <a:ext cx="8229600" cy="914400"/>
        </p:xfrm>
        <a:graphic>
          <a:graphicData uri="http://schemas.openxmlformats.org/drawingml/2006/table">
            <a:tbl>
              <a:tblPr/>
              <a:tblGrid>
                <a:gridCol w="2468761"/>
                <a:gridCol w="2468761"/>
                <a:gridCol w="3292078"/>
              </a:tblGrid>
              <a:tr h="2381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SUCCESS CRITERION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TODAY (ASSUMED)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 WITH LAUNCHDARKLY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382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Time to roll back a bad release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Hours: redeploy through change control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 1 minute</a:t>
                      </a:r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no deploy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05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Customers exposed to a bad release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of them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Under 5%</a:t>
                      </a:r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before automatic rollback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05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 cadence, payments journey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Monthly release train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Weekly</a:t>
                      </a:r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, with deploy separated from release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05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 evidence per change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tickets and screenshots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Automatic</a:t>
                      </a:r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who, what, when and why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059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data shared with the vendor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: opaque keys, no names or emails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457700"/>
            <a:ext cx="476376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"Today" values are our assumptions. Agreeing the real baseline is the first next step.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Shape 4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assumed, and what we need to ask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brief was incomplete on purpose. These are the gaps we filled, stated openly.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524000"/>
            <a:ext cx="426720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 WE MADE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180022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1800225"/>
            <a:ext cx="365760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web payment journey comes first. Mobile follows on the same flags.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57200" y="2281238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85800" y="2281238"/>
            <a:ext cx="365760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UK is the first market. Other markets wait for local approval.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57200" y="27622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85800" y="2762250"/>
            <a:ext cx="365760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identity comes from an authenticated session on your backend.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457200" y="3243263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85800" y="3243263"/>
            <a:ext cx="365760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existing monitoring tools stay. LaunchDarkly adds release-level signals.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762500" y="1524000"/>
            <a:ext cx="43738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FOR YOU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762500" y="180022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4991100" y="1800225"/>
            <a:ext cx="375285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change controls must a flag change pass (CAB, four-eyes approval)?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762500" y="2281238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991100" y="2281238"/>
            <a:ext cx="375285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may flag and event data be stored (data residency)?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762500" y="27622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991100" y="2762250"/>
            <a:ext cx="4117848" cy="1619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metrics define a "healthy" payment journey today?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62500" y="3050381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991100" y="3050381"/>
            <a:ext cx="375285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is allowed to press the kill switch at 2am: engineering, operations or the business?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38275"/>
            <a:ext cx="673200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57200" y="1981200"/>
            <a:ext cx="6732008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895600"/>
            <a:ext cx="673200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 and Observe, applied to the riskiest journey you have: sending money.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2476500"/>
            <a:ext cx="2857500" cy="2667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Bank is rolling out Payee verification v2: Confirmation of Payee plus scam warnings on high-value payments.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400300" cy="198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8175" y="1781175"/>
            <a:ext cx="22829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WEB APP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38175" y="2028825"/>
            <a:ext cx="2099501" cy="539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payment journey. Current (v1) and new (v2) both deployed; the flag decides who sees which.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90850" y="2452688"/>
            <a:ext cx="323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371850" y="1600200"/>
            <a:ext cx="2400300" cy="198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52825" y="1781175"/>
            <a:ext cx="22829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 REACT SDK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52825" y="2028825"/>
            <a:ext cx="2099501" cy="7323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Client-side ID only. No names or emails in the context. Changes stream in within a second. Safe fallbacks if unreachable.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905500" y="2452688"/>
            <a:ext cx="32385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⇄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6286500" y="1600200"/>
            <a:ext cx="2400300" cy="1981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67475" y="1781175"/>
            <a:ext cx="22829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67475" y="2028825"/>
            <a:ext cx="2099501" cy="925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Flags, a beta segment, three payment metrics, a guarded rollout, and the audit log. Production changes need a comment.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505200"/>
            <a:ext cx="2654201" cy="5143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4"/>
          <p:cNvSpPr/>
          <p:nvPr/>
        </p:nvSpPr>
        <p:spPr>
          <a:xfrm>
            <a:off x="609600" y="3619500"/>
            <a:ext cx="2419883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release-payee-verification-v2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Temporary release flag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44751" y="3505200"/>
            <a:ext cx="2654350" cy="5143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6"/>
          <p:cNvSpPr/>
          <p:nvPr/>
        </p:nvSpPr>
        <p:spPr>
          <a:xfrm>
            <a:off x="3397151" y="3619500"/>
            <a:ext cx="24200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ops-outbound-payments-enabled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Permanent kill switch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2450" y="3505200"/>
            <a:ext cx="2654350" cy="5143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8"/>
          <p:cNvSpPr/>
          <p:nvPr/>
        </p:nvSpPr>
        <p:spPr>
          <a:xfrm>
            <a:off x="6184850" y="3619500"/>
            <a:ext cx="2420036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payment-failed · latency · submitted</a:t>
            </a:r>
            <a:endParaRPr lang="en-US" sz="10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Guardrail metrics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Shape 20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Release: a path risk can sign off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widens exposure only when the previous step has proved safe.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571625"/>
            <a:ext cx="1971675" cy="38100"/>
          </a:xfrm>
          <a:prstGeom prst="rect">
            <a:avLst/>
          </a:prstGeom>
          <a:solidFill>
            <a:srgbClr val="405BFF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24025"/>
            <a:ext cx="22082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457200" y="2057400"/>
            <a:ext cx="220827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314575"/>
            <a:ext cx="203082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Rule: </a:t>
            </a:r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BDBDB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isEmployee</a:t>
            </a:r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true. Real payments, real accounts, our own people.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543175" y="1571625"/>
            <a:ext cx="1971675" cy="38100"/>
          </a:xfrm>
          <a:prstGeom prst="rect">
            <a:avLst/>
          </a:prstGeom>
          <a:solidFill>
            <a:srgbClr val="3DD6F5"/>
          </a:solidFill>
          <a:ln/>
        </p:spPr>
      </p:sp>
      <p:sp>
        <p:nvSpPr>
          <p:cNvPr id="9" name="Text 7"/>
          <p:cNvSpPr/>
          <p:nvPr/>
        </p:nvSpPr>
        <p:spPr>
          <a:xfrm>
            <a:off x="2543175" y="1724025"/>
            <a:ext cx="22082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3DD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2543175" y="2057400"/>
            <a:ext cx="220827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beta customers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43175" y="2314575"/>
            <a:ext cx="2030825" cy="316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of customers who opted in, limited to the UK.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9150" y="1571625"/>
            <a:ext cx="1971675" cy="38100"/>
          </a:xfrm>
          <a:prstGeom prst="rect">
            <a:avLst/>
          </a:prstGeom>
          <a:solidFill>
            <a:srgbClr val="A34FDE"/>
          </a:solidFill>
          <a:ln/>
        </p:spPr>
      </p:sp>
      <p:sp>
        <p:nvSpPr>
          <p:cNvPr id="13" name="Text 11"/>
          <p:cNvSpPr/>
          <p:nvPr/>
        </p:nvSpPr>
        <p:spPr>
          <a:xfrm>
            <a:off x="4629150" y="1724025"/>
            <a:ext cx="22082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4629150" y="2057400"/>
            <a:ext cx="220827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UK customers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29150" y="2314575"/>
            <a:ext cx="203082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Guarded rollout: exposure grows step by step while metrics stay healthy.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715125" y="1571625"/>
            <a:ext cx="1971675" cy="38100"/>
          </a:xfrm>
          <a:prstGeom prst="rect">
            <a:avLst/>
          </a:prstGeom>
          <a:solidFill>
            <a:srgbClr val="FF3399"/>
          </a:solidFill>
          <a:ln/>
        </p:spPr>
      </p:sp>
      <p:sp>
        <p:nvSpPr>
          <p:cNvPr id="17" name="Text 15"/>
          <p:cNvSpPr/>
          <p:nvPr/>
        </p:nvSpPr>
        <p:spPr>
          <a:xfrm>
            <a:off x="6715125" y="1724025"/>
            <a:ext cx="220827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6715125" y="2057400"/>
            <a:ext cx="2208276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EMEA markets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715125" y="2314575"/>
            <a:ext cx="203082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 a country to the rule once its regulator has approved. No code change.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333750"/>
            <a:ext cx="4038600" cy="1017091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1" name="Text 19"/>
          <p:cNvSpPr/>
          <p:nvPr/>
        </p:nvSpPr>
        <p:spPr>
          <a:xfrm>
            <a:off x="628650" y="3467100"/>
            <a:ext cx="413918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SWITCH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8650" y="3667125"/>
            <a:ext cx="3771900" cy="339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</a:t>
            </a:r>
            <a:pPr algn="l" indent="0" marL="0">
              <a:lnSpc>
                <a:spcPts val="147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ops-outbound-payments-enabled</a:t>
            </a:r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off and every payment pauses in about a second. No deploy, no refresh.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4648200" y="3333750"/>
            <a:ext cx="4038600" cy="1017091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24" name="Text 22"/>
          <p:cNvSpPr/>
          <p:nvPr/>
        </p:nvSpPr>
        <p:spPr>
          <a:xfrm>
            <a:off x="4819650" y="3467100"/>
            <a:ext cx="413918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INSTANT ROLLBACK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19650" y="3667125"/>
            <a:ext cx="3771900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the release flag off and every customer is back on the approved journey. If LaunchDarkly is unreachable, the app falls back to the same safe 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customer journey under flag control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app, same deploy. What each customer sees is decided in LaunchDarkly, and the reason is visible.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8750"/>
            <a:ext cx="4114800" cy="2876550"/>
          </a:xfrm>
          <a:prstGeom prst="roundRect">
            <a:avLst>
              <a:gd name="adj" fmla="val 3311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66725" y="1438275"/>
            <a:ext cx="4095750" cy="295275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4"/>
          <p:cNvSpPr/>
          <p:nvPr/>
        </p:nvSpPr>
        <p:spPr>
          <a:xfrm>
            <a:off x="600075" y="1514475"/>
            <a:ext cx="1063300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 Bank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38079" y="1514475"/>
            <a:ext cx="110997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Tom Hughes (GB)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19125" y="1847850"/>
            <a:ext cx="107846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money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00127" y="1866900"/>
            <a:ext cx="1009948" cy="152400"/>
          </a:xfrm>
          <a:prstGeom prst="roundRect">
            <a:avLst>
              <a:gd name="adj" fmla="val 50000"/>
            </a:avLst>
          </a:prstGeom>
          <a:solidFill>
            <a:srgbClr val="E6E9FF"/>
          </a:solidFill>
          <a:ln/>
        </p:spPr>
      </p:sp>
      <p:sp>
        <p:nvSpPr>
          <p:cNvPr id="10" name="Text 8"/>
          <p:cNvSpPr/>
          <p:nvPr/>
        </p:nvSpPr>
        <p:spPr>
          <a:xfrm>
            <a:off x="3485852" y="1885950"/>
            <a:ext cx="939117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journey (v2)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19125" y="2114550"/>
            <a:ext cx="4245864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on the account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19125" y="2228850"/>
            <a:ext cx="3790950" cy="247650"/>
          </a:xfrm>
          <a:prstGeom prst="roundRect">
            <a:avLst>
              <a:gd name="adj" fmla="val 23077"/>
            </a:avLst>
          </a:prstGeom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4850" y="2286000"/>
            <a:ext cx="40538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Jane Smith Ltd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9125" y="2533650"/>
            <a:ext cx="4245864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number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19125" y="2647950"/>
            <a:ext cx="3790950" cy="247650"/>
          </a:xfrm>
          <a:prstGeom prst="roundRect">
            <a:avLst>
              <a:gd name="adj" fmla="val 23077"/>
            </a:avLst>
          </a:prstGeom>
          <a:ln w="9525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850" y="2705100"/>
            <a:ext cx="40538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12345677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19125" y="2971800"/>
            <a:ext cx="3790950" cy="342900"/>
          </a:xfrm>
          <a:prstGeom prst="roundRect">
            <a:avLst>
              <a:gd name="adj" fmla="val 16667"/>
            </a:avLst>
          </a:prstGeom>
          <a:ln w="9525">
            <a:solidFill>
              <a:srgbClr val="405BFF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704850" y="3038475"/>
            <a:ext cx="3619500" cy="209550"/>
          </a:xfrm>
          <a:prstGeom prst="roundRect">
            <a:avLst>
              <a:gd name="adj" fmla="val 18182"/>
            </a:avLst>
          </a:prstGeom>
          <a:solidFill>
            <a:srgbClr val="FFF3DC"/>
          </a:solidFill>
          <a:ln/>
        </p:spPr>
      </p:sp>
      <p:sp>
        <p:nvSpPr>
          <p:cNvPr id="19" name="Text 17"/>
          <p:cNvSpPr/>
          <p:nvPr/>
        </p:nvSpPr>
        <p:spPr>
          <a:xfrm>
            <a:off x="771525" y="3086100"/>
            <a:ext cx="3904488" cy="1204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B2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match: the account holder's name is "Jane Smith Limited".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19125" y="3390900"/>
            <a:ext cx="3790950" cy="361950"/>
          </a:xfrm>
          <a:prstGeom prst="roundRect">
            <a:avLst>
              <a:gd name="adj" fmla="val 15789"/>
            </a:avLst>
          </a:prstGeom>
          <a:solidFill>
            <a:srgbClr val="FFF3DC"/>
          </a:solidFill>
          <a:ln/>
        </p:spPr>
      </p:sp>
      <p:sp>
        <p:nvSpPr>
          <p:cNvPr id="21" name="Text 19"/>
          <p:cNvSpPr/>
          <p:nvPr/>
        </p:nvSpPr>
        <p:spPr>
          <a:xfrm>
            <a:off x="695325" y="3448050"/>
            <a:ext cx="3714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☐ Could this be a scam? Northwind will never ask you to move money to a safe account.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19125" y="3829050"/>
            <a:ext cx="3790950" cy="266700"/>
          </a:xfrm>
          <a:prstGeom prst="roundRect">
            <a:avLst>
              <a:gd name="adj" fmla="val 21429"/>
            </a:avLst>
          </a:prstGeom>
          <a:solidFill>
            <a:srgbClr val="405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66344" y="3895725"/>
            <a:ext cx="409651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payment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762500" y="1428750"/>
            <a:ext cx="3924300" cy="28575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24425" y="1581150"/>
            <a:ext cx="403250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LaunchDarkly decided for each customer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24425" y="1819275"/>
          <a:ext cx="3600450" cy="914400"/>
        </p:xfrm>
        <a:graphic>
          <a:graphicData uri="http://schemas.openxmlformats.org/drawingml/2006/table">
            <a:tbl>
              <a:tblPr/>
              <a:tblGrid>
                <a:gridCol w="1222325"/>
                <a:gridCol w="732086"/>
                <a:gridCol w="1646039"/>
              </a:tblGrid>
              <a:tr h="2381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JOURNEY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096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Aisha (staff, GB)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850" b="1" dirty="0">
                          <a:solidFill>
                            <a:srgbClr val="0F8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 1: staff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20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Tom (beta, GB)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850" b="1" dirty="0">
                          <a:solidFill>
                            <a:srgbClr val="0F8A5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v2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Rule 2: UK beta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20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Lena (DE)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850" b="1" dirty="0">
                          <a:solidFill>
                            <a:srgbClr val="C431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Default: not approved in DE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3620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Atelier Moreau (FR)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850" b="1" dirty="0">
                          <a:solidFill>
                            <a:srgbClr val="C4314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170"/>
                        </a:lnSpc>
                        <a:buNone/>
                      </a:pPr>
                      <a:r>
                        <a:rPr lang="en-US" sz="9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Default: not approved in FR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Text 24"/>
          <p:cNvSpPr/>
          <p:nvPr/>
        </p:nvSpPr>
        <p:spPr>
          <a:xfrm>
            <a:off x="4924425" y="3526036"/>
            <a:ext cx="3676650" cy="267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change log in the app: </a:t>
            </a:r>
            <a:pPr algn="l" indent="0" marL="0">
              <a:lnSpc>
                <a:spcPts val="1208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ops-outbound-payments-enabled true → false</a:t>
            </a:r>
            <a:pPr algn="l" indent="0" marL="0">
              <a:lnSpc>
                <a:spcPts val="1208"/>
              </a:lnSpc>
              <a:buNone/>
            </a:pPr>
            <a:r>
              <a:rPr lang="en-US" sz="850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appears within a second of the change in LaunchDarkly.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Shape 26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five moments, five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step answers one question your risk committee will ask.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33500"/>
          <a:ext cx="8229600" cy="914400"/>
        </p:xfrm>
        <a:graphic>
          <a:graphicData uri="http://schemas.openxmlformats.org/drawingml/2006/table">
            <a:tbl>
              <a:tblPr/>
              <a:tblGrid>
                <a:gridCol w="329059"/>
                <a:gridCol w="1810494"/>
                <a:gridCol w="3127177"/>
                <a:gridCol w="2962870"/>
              </a:tblGrid>
              <a:tr h="23812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WE DO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YOU'LL SEE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spc="38" kern="0" dirty="0">
                          <a:solidFill>
                            <a:srgbClr val="707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 TO YOU</a:t>
                      </a:r>
                      <a:endParaRPr lang="en-US" sz="1200" dirty="0"/>
                    </a:p>
                  </a:txBody>
                  <a:tcPr marL="76200" marR="76200" marT="57150" marB="5715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095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Switch customers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 and UK beta get v2. Germany and France stay on v1, with the matching rule shown.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Releases follow regulatory approval, market by market.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1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Press the kill switch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Payments pause in about a second, with no refresh or deploy.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incident is contained in seconds, not hours.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1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 back the release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Release flag off: everyone is back on the approved journey.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bad release is undone without an emergency change.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1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Inject a regression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Guarded rollout sees failure rate and latency rise, and rolls back on its own.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Problems are caught by data before most customers notice.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6193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405B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Open the audit log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Every change with who, when, before/after and the required comment.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316"/>
                        </a:lnSpc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Evidence for auditors without manual tickets.</a:t>
                      </a:r>
                      <a:endParaRPr lang="en-US" sz="1200" dirty="0"/>
                    </a:p>
                  </a:txBody>
                  <a:tcPr marL="76200" marR="76200" marT="76200" marB="7620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Shape 3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Observe: why we chose it over Iterate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a bank asks "which version is better?", it asks "how do we know this release isn't hurting customers?"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5811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85800" y="1581150"/>
            <a:ext cx="34671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payment sends three events, whichever journey served it, so both groups are measured the same way.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57200" y="2255044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85800" y="2255044"/>
            <a:ext cx="346710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guarded rollout compares v2 with v1 on these metrics and </a:t>
            </a:r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rolls back automatically</a:t>
            </a:r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regression.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57200" y="2928938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85800" y="2928938"/>
            <a:ext cx="346710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Iterate comes next: the same metrics can back an experiment once the release process is trusted.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476750" y="1571625"/>
            <a:ext cx="4210050" cy="533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4629150" y="1685925"/>
            <a:ext cx="1750385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failure rate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29150" y="1857375"/>
            <a:ext cx="17503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payment-failed · lower is better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562779" y="1766888"/>
            <a:ext cx="97162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</a:t>
            </a:r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2%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v2 </a:t>
            </a:r>
            <a:pPr algn="r" indent="0" marL="0">
              <a:buNone/>
            </a:pPr>
            <a:r>
              <a:rPr lang="en-US" sz="1000" b="1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76750" y="2219325"/>
            <a:ext cx="4210050" cy="533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5" name="Text 13"/>
          <p:cNvSpPr/>
          <p:nvPr/>
        </p:nvSpPr>
        <p:spPr>
          <a:xfrm>
            <a:off x="4629150" y="2333625"/>
            <a:ext cx="2063258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latency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629150" y="2505075"/>
            <a:ext cx="206325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payment-latency-ms · lower is better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100054" y="2414588"/>
            <a:ext cx="1434346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 </a:t>
            </a:r>
            <a:pPr algn="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~380 ms</a:t>
            </a:r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v2 </a:t>
            </a:r>
            <a:pPr algn="r" indent="0" marL="0">
              <a:buNone/>
            </a:pPr>
            <a:r>
              <a:rPr lang="en-US" sz="1000" b="1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~1.6 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476750" y="2867025"/>
            <a:ext cx="4210050" cy="5334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9" name="Text 17"/>
          <p:cNvSpPr/>
          <p:nvPr/>
        </p:nvSpPr>
        <p:spPr>
          <a:xfrm>
            <a:off x="4629150" y="2981325"/>
            <a:ext cx="2049256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completion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629150" y="3152775"/>
            <a:ext cx="204925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payment-submitted · higher is better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108055" y="3062288"/>
            <a:ext cx="1426345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tracked for both groups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476750" y="3514725"/>
            <a:ext cx="4715256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Values shown when the demo's "inject regression" switch is on.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capability to outcome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each part of the demo is worth to Northwind.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81000" y="1381125"/>
            <a:ext cx="2692301" cy="28765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90525" y="1390650"/>
            <a:ext cx="45541" cy="2857500"/>
          </a:xfrm>
          <a:prstGeom prst="rect">
            <a:avLst/>
          </a:prstGeom>
          <a:solidFill>
            <a:srgbClr val="405BFF"/>
          </a:solidFill>
          <a:ln/>
        </p:spPr>
      </p:sp>
      <p:sp>
        <p:nvSpPr>
          <p:cNvPr id="6" name="Text 4"/>
          <p:cNvSpPr/>
          <p:nvPr/>
        </p:nvSpPr>
        <p:spPr>
          <a:xfrm>
            <a:off x="645616" y="1581150"/>
            <a:ext cx="2473643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 RELEASES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5616" y="185737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74216" y="1857375"/>
            <a:ext cx="2039410" cy="7405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whenever code is ready; release when the business and regulator are ready.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5616" y="2724150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74216" y="2724150"/>
            <a:ext cx="2039410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Market-by-market targeting replaces separate code branches.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5616" y="3398044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74216" y="3398044"/>
            <a:ext cx="2039410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Lower-risk releases need less approval effort.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225701" y="1381125"/>
            <a:ext cx="2692450" cy="28765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35226" y="1390650"/>
            <a:ext cx="53727" cy="2857500"/>
          </a:xfrm>
          <a:prstGeom prst="rect">
            <a:avLst/>
          </a:prstGeom>
          <a:solidFill>
            <a:srgbClr val="3DD6F5"/>
          </a:solidFill>
          <a:ln/>
        </p:spPr>
      </p:sp>
      <p:sp>
        <p:nvSpPr>
          <p:cNvPr id="15" name="Text 13"/>
          <p:cNvSpPr/>
          <p:nvPr/>
        </p:nvSpPr>
        <p:spPr>
          <a:xfrm>
            <a:off x="3498503" y="1581150"/>
            <a:ext cx="246464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1AA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RISK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98503" y="185737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727103" y="1857375"/>
            <a:ext cx="2031132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Kill switch and rollback in seconds, without a deploy.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498503" y="2338388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727103" y="2338388"/>
            <a:ext cx="2031132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Guarded rollouts limit how many customers a bad release reaches.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498503" y="3012281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727103" y="3012281"/>
            <a:ext cx="2031132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 fallbacks keep payments running if LaunchDarkly is unreachable.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070550" y="1381125"/>
            <a:ext cx="2692450" cy="287655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80075" y="1390650"/>
            <a:ext cx="50155" cy="2857500"/>
          </a:xfrm>
          <a:prstGeom prst="rect">
            <a:avLst/>
          </a:prstGeom>
          <a:solidFill>
            <a:srgbClr val="A34FDE"/>
          </a:solidFill>
          <a:ln/>
        </p:spPr>
      </p:sp>
      <p:sp>
        <p:nvSpPr>
          <p:cNvPr id="24" name="Text 22"/>
          <p:cNvSpPr/>
          <p:nvPr/>
        </p:nvSpPr>
        <p:spPr>
          <a:xfrm>
            <a:off x="6339780" y="1581150"/>
            <a:ext cx="246864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DECISIONS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39780" y="1857375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568380" y="1857375"/>
            <a:ext cx="2034811" cy="547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Widen a rollout because the metrics say so, not because the calendar does.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39780" y="2531269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568380" y="2531269"/>
            <a:ext cx="2034811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change is recorded with a reason, ready for audit.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339780" y="3012281"/>
            <a:ext cx="30480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568380" y="3012281"/>
            <a:ext cx="2034811" cy="354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9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metrics later decide what to build next.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2" name="Shape 30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Decisions, trade-offs and risks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decision log is in the repository. These are the points that matter for production.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33500"/>
            <a:ext cx="26670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9125" y="1476375"/>
            <a:ext cx="262432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19125" y="1676400"/>
            <a:ext cx="241344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client SDK</a:t>
            </a:r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a visible, real-time UI change. Money-movement rules belong on a server SDK in production.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38500" y="1333500"/>
            <a:ext cx="26670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0425" y="1476375"/>
            <a:ext cx="262432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00425" y="1676400"/>
            <a:ext cx="241344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Observe before Iterate.</a:t>
            </a:r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Proving a release is safe comes before proving a feature is better.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019800" y="1333500"/>
            <a:ext cx="26670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1725" y="1476375"/>
            <a:ext cx="262432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181725" y="1676400"/>
            <a:ext cx="241344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Fallbacks are the boring path.</a:t>
            </a:r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LaunchDarkly is unreachable: current journey, payments on.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705100"/>
            <a:ext cx="26670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9125" y="2847975"/>
            <a:ext cx="262432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OVERRIDDEN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9125" y="3048000"/>
            <a:ext cx="241344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claimed private attributes keep PII from LaunchDarkly. Not in a client-side SDK. PII removed from the context instead.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38500" y="2705100"/>
            <a:ext cx="26670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FF3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00425" y="2847975"/>
            <a:ext cx="262432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BIGGEST RISK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00425" y="3048000"/>
            <a:ext cx="2413445" cy="6625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</a:t>
            </a:r>
            <a:pPr algn="l" indent="0" marL="0">
              <a:lnSpc>
                <a:spcPts val="1365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mode</a:t>
            </a:r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 browser can claim to be staff and see unreleased features. Fix: hash the context on the server.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19800" y="2705100"/>
            <a:ext cx="2667000" cy="12573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81725" y="2847975"/>
            <a:ext cx="262432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1AA6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IT WERE A STARTUP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181725" y="3048000"/>
            <a:ext cx="2413445" cy="4893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Drop the required comments and approvals. One percentage rollout plus a kill switch is enough.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Shape 21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438275"/>
            <a:ext cx="4305038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4050" b="1" dirty="0">
                <a:solidFill>
                  <a:srgbClr val="FF3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50" dirty="0"/>
          </a:p>
        </p:txBody>
      </p:sp>
      <p:sp>
        <p:nvSpPr>
          <p:cNvPr id="3" name="Text 1"/>
          <p:cNvSpPr/>
          <p:nvPr/>
        </p:nvSpPr>
        <p:spPr>
          <a:xfrm>
            <a:off x="457200" y="1981200"/>
            <a:ext cx="4305038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457200" y="2895600"/>
            <a:ext cx="43050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concerns first, then a plan we both commit to.</a:t>
            </a:r>
            <a:endParaRPr lang="en-US" sz="135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86500" y="2476500"/>
            <a:ext cx="2857500" cy="2667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Concerns we expect, and how we'd answer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BDBDB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Raised by security, risk and procurement in deals like this one.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428750"/>
            <a:ext cx="4048125" cy="12573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5" name="Text 3"/>
          <p:cNvSpPr/>
          <p:nvPr/>
        </p:nvSpPr>
        <p:spPr>
          <a:xfrm>
            <a:off x="628650" y="1562100"/>
            <a:ext cx="41498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"ANOTHER VENDOR IN THE PAYMENTS PATH"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28650" y="1781175"/>
            <a:ext cx="3781425" cy="502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Flags are evaluated locally from a cache, so an outage does not block a payment. Fallbacks are tested. This supports your DORA third-party assessment.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38675" y="1428750"/>
            <a:ext cx="4048125" cy="12573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8" name="Text 6"/>
          <p:cNvSpPr/>
          <p:nvPr/>
        </p:nvSpPr>
        <p:spPr>
          <a:xfrm>
            <a:off x="4810125" y="1562100"/>
            <a:ext cx="41498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"CUSTOMER DATA LEAVING THE BANK"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810125" y="1781175"/>
            <a:ext cx="3781425" cy="502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an opaque key and targeting attributes are sent. No names or emails, by design. Data residency to be confirmed in the security review.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819400"/>
            <a:ext cx="4048125" cy="12573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1" name="Text 9"/>
          <p:cNvSpPr/>
          <p:nvPr/>
        </p:nvSpPr>
        <p:spPr>
          <a:xfrm>
            <a:off x="628650" y="2952750"/>
            <a:ext cx="41498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"FLAG CHANGES BYPASS OUR CAB"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28650" y="3171825"/>
            <a:ext cx="3781425" cy="502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changes require a comment and can require approval. Custom roles control who can change what. The audit log records everything.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38675" y="2819400"/>
            <a:ext cx="4048125" cy="1257300"/>
          </a:xfrm>
          <a:prstGeom prst="rect">
            <a:avLst/>
          </a:prstGeom>
          <a:solidFill>
            <a:srgbClr val="2B2B2B"/>
          </a:solidFill>
          <a:ln/>
        </p:spPr>
      </p:sp>
      <p:sp>
        <p:nvSpPr>
          <p:cNvPr id="14" name="Text 12"/>
          <p:cNvSpPr/>
          <p:nvPr/>
        </p:nvSpPr>
        <p:spPr>
          <a:xfrm>
            <a:off x="4810125" y="2952750"/>
            <a:ext cx="414985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spc="38" kern="0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 COULD BUILD TOGGLES OURSELVES"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10125" y="3171825"/>
            <a:ext cx="3781425" cy="5027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00" dirty="0">
                <a:solidFill>
                  <a:srgbClr val="DDDDD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kill switch is easy. Targeting, guarded rollouts, governance and audit at bank scale are not. Building them is cost your engineers don't spend on customers.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0990" y="4800600"/>
            <a:ext cx="265747" cy="4763"/>
          </a:xfrm>
          <a:custGeom>
            <a:avLst/>
            <a:gdLst/>
            <a:ahLst/>
            <a:cxnLst/>
            <a:rect l="l" t="t" r="r" b="b"/>
            <a:pathLst>
              <a:path w="265747" h="4763">
                <a:moveTo>
                  <a:pt x="0" y="0"/>
                </a:moveTo>
                <a:lnTo>
                  <a:pt x="265747" y="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5288" y="4680585"/>
            <a:ext cx="171450" cy="240030"/>
          </a:xfrm>
          <a:custGeom>
            <a:avLst/>
            <a:gdLst/>
            <a:ahLst/>
            <a:cxnLst/>
            <a:rect l="l" t="t" r="r" b="b"/>
            <a:pathLst>
              <a:path w="171450" h="240030">
                <a:moveTo>
                  <a:pt x="0" y="0"/>
                </a:moveTo>
                <a:lnTo>
                  <a:pt x="171450" y="120015"/>
                </a:lnTo>
                <a:lnTo>
                  <a:pt x="0" y="24003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3853" y="4732020"/>
            <a:ext cx="222885" cy="137160"/>
          </a:xfrm>
          <a:custGeom>
            <a:avLst/>
            <a:gdLst/>
            <a:ahLst/>
            <a:cxnLst/>
            <a:rect l="l" t="t" r="r" b="b"/>
            <a:pathLst>
              <a:path w="222885" h="137160">
                <a:moveTo>
                  <a:pt x="0" y="0"/>
                </a:moveTo>
                <a:lnTo>
                  <a:pt x="222885" y="68580"/>
                </a:lnTo>
                <a:lnTo>
                  <a:pt x="0" y="137160"/>
                </a:lnTo>
              </a:path>
            </a:pathLst>
          </a:custGeom>
          <a:ln w="22289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33375"/>
            <a:ext cx="9217152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spc="-75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steps: a mutual plan to a pilot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38200"/>
            <a:ext cx="9217152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707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Seven weeks from today's conversation to a decision based on your own data.</a:t>
            </a:r>
            <a:endParaRPr lang="en-US" sz="1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85900" y="1581150"/>
            <a:ext cx="6172200" cy="381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00150" y="1314450"/>
            <a:ext cx="571500" cy="571500"/>
          </a:xfrm>
          <a:prstGeom prst="ellipse">
            <a:avLst/>
          </a:prstGeom>
          <a:solidFill>
            <a:srgbClr val="405BFF"/>
          </a:solidFill>
          <a:ln w="38100">
            <a:solidFill>
              <a:srgbClr val="F7F7F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393031" y="1507331"/>
            <a:ext cx="185738" cy="185738"/>
          </a:xfrm>
          <a:prstGeom prst="ellipse">
            <a:avLst/>
          </a:prstGeom>
          <a:ln w="20638">
            <a:solidFill>
              <a:srgbClr val="FFFFF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434306" y="1548606"/>
            <a:ext cx="103187" cy="103187"/>
          </a:xfrm>
          <a:prstGeom prst="ellipse">
            <a:avLst/>
          </a:prstGeom>
          <a:ln w="20638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470422" y="1584722"/>
            <a:ext cx="30956" cy="30956"/>
          </a:xfrm>
          <a:prstGeom prst="ellipse">
            <a:avLst/>
          </a:prstGeom>
          <a:solidFill>
            <a:srgbClr val="FFFFFF"/>
          </a:solidFill>
          <a:ln w="20638">
            <a:solidFill>
              <a:srgbClr val="FFFFF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257550" y="1314450"/>
            <a:ext cx="571500" cy="571500"/>
          </a:xfrm>
          <a:prstGeom prst="ellipse">
            <a:avLst/>
          </a:prstGeom>
          <a:solidFill>
            <a:srgbClr val="1AA6C4"/>
          </a:solidFill>
          <a:ln w="38100">
            <a:solidFill>
              <a:srgbClr val="F7F7F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471069" y="1507331"/>
            <a:ext cx="144462" cy="185738"/>
          </a:xfrm>
          <a:custGeom>
            <a:avLst/>
            <a:gdLst/>
            <a:ahLst/>
            <a:cxnLst/>
            <a:rect l="l" t="t" r="r" b="b"/>
            <a:pathLst>
              <a:path w="144462" h="185738">
                <a:moveTo>
                  <a:pt x="72231" y="0"/>
                </a:moveTo>
                <a:lnTo>
                  <a:pt x="144462" y="30956"/>
                </a:lnTo>
                <a:lnTo>
                  <a:pt x="144462" y="82550"/>
                </a:lnTo>
                <a:cubicBezTo>
                  <a:pt x="144462" y="134144"/>
                  <a:pt x="108347" y="170259"/>
                  <a:pt x="72231" y="185738"/>
                </a:cubicBezTo>
                <a:cubicBezTo>
                  <a:pt x="36116" y="170259"/>
                  <a:pt x="0" y="134144"/>
                  <a:pt x="0" y="82550"/>
                </a:cubicBezTo>
                <a:lnTo>
                  <a:pt x="0" y="30956"/>
                </a:lnTo>
                <a:close/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12344" y="1579563"/>
            <a:ext cx="61912" cy="41275"/>
          </a:xfrm>
          <a:custGeom>
            <a:avLst/>
            <a:gdLst/>
            <a:ahLst/>
            <a:cxnLst/>
            <a:rect l="l" t="t" r="r" b="b"/>
            <a:pathLst>
              <a:path w="61912" h="41275">
                <a:moveTo>
                  <a:pt x="0" y="20637"/>
                </a:moveTo>
                <a:lnTo>
                  <a:pt x="20638" y="41275"/>
                </a:lnTo>
                <a:lnTo>
                  <a:pt x="61912" y="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314950" y="1314450"/>
            <a:ext cx="571500" cy="571500"/>
          </a:xfrm>
          <a:prstGeom prst="ellipse">
            <a:avLst/>
          </a:prstGeom>
          <a:solidFill>
            <a:srgbClr val="A34FDE"/>
          </a:solidFill>
          <a:ln w="38100">
            <a:solidFill>
              <a:srgbClr val="F7F7F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28469" y="1517650"/>
            <a:ext cx="4763" cy="175419"/>
          </a:xfrm>
          <a:custGeom>
            <a:avLst/>
            <a:gdLst/>
            <a:ahLst/>
            <a:cxnLst/>
            <a:rect l="l" t="t" r="r" b="b"/>
            <a:pathLst>
              <a:path w="4763" h="175419">
                <a:moveTo>
                  <a:pt x="0" y="175419"/>
                </a:moveTo>
                <a:lnTo>
                  <a:pt x="0" y="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528469" y="1517650"/>
            <a:ext cx="123825" cy="82550"/>
          </a:xfrm>
          <a:custGeom>
            <a:avLst/>
            <a:gdLst/>
            <a:ahLst/>
            <a:cxnLst/>
            <a:rect l="l" t="t" r="r" b="b"/>
            <a:pathLst>
              <a:path w="123825" h="82550">
                <a:moveTo>
                  <a:pt x="0" y="0"/>
                </a:moveTo>
                <a:lnTo>
                  <a:pt x="123825" y="0"/>
                </a:lnTo>
                <a:lnTo>
                  <a:pt x="98028" y="41275"/>
                </a:lnTo>
                <a:lnTo>
                  <a:pt x="123825" y="82550"/>
                </a:lnTo>
                <a:lnTo>
                  <a:pt x="0" y="8255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372350" y="1314450"/>
            <a:ext cx="571500" cy="571500"/>
          </a:xfrm>
          <a:prstGeom prst="ellipse">
            <a:avLst/>
          </a:prstGeom>
          <a:solidFill>
            <a:srgbClr val="FF3399"/>
          </a:solidFill>
          <a:ln w="38100">
            <a:solidFill>
              <a:srgbClr val="F7F7F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75550" y="1682750"/>
            <a:ext cx="165100" cy="4763"/>
          </a:xfrm>
          <a:custGeom>
            <a:avLst/>
            <a:gdLst/>
            <a:ahLst/>
            <a:cxnLst/>
            <a:rect l="l" t="t" r="r" b="b"/>
            <a:pathLst>
              <a:path w="165100" h="4763">
                <a:moveTo>
                  <a:pt x="0" y="0"/>
                </a:moveTo>
                <a:lnTo>
                  <a:pt x="165100" y="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06506" y="1600200"/>
            <a:ext cx="4763" cy="41275"/>
          </a:xfrm>
          <a:custGeom>
            <a:avLst/>
            <a:gdLst/>
            <a:ahLst/>
            <a:cxnLst/>
            <a:rect l="l" t="t" r="r" b="b"/>
            <a:pathLst>
              <a:path w="4763" h="41275">
                <a:moveTo>
                  <a:pt x="0" y="41275"/>
                </a:moveTo>
                <a:lnTo>
                  <a:pt x="0" y="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58100" y="1558925"/>
            <a:ext cx="4763" cy="82550"/>
          </a:xfrm>
          <a:custGeom>
            <a:avLst/>
            <a:gdLst/>
            <a:ahLst/>
            <a:cxnLst/>
            <a:rect l="l" t="t" r="r" b="b"/>
            <a:pathLst>
              <a:path w="4763" h="82550">
                <a:moveTo>
                  <a:pt x="0" y="82550"/>
                </a:moveTo>
                <a:lnTo>
                  <a:pt x="0" y="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09694" y="1527969"/>
            <a:ext cx="4763" cy="113506"/>
          </a:xfrm>
          <a:custGeom>
            <a:avLst/>
            <a:gdLst/>
            <a:ahLst/>
            <a:cxnLst/>
            <a:rect l="l" t="t" r="r" b="b"/>
            <a:pathLst>
              <a:path w="4763" h="113506">
                <a:moveTo>
                  <a:pt x="0" y="113506"/>
                </a:moveTo>
                <a:lnTo>
                  <a:pt x="0" y="0"/>
                </a:lnTo>
              </a:path>
            </a:pathLst>
          </a:custGeom>
          <a:ln w="20638">
            <a:solidFill>
              <a:srgbClr val="FFFF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80777" y="2019300"/>
            <a:ext cx="1010096" cy="152400"/>
          </a:xfrm>
          <a:prstGeom prst="roundRect">
            <a:avLst>
              <a:gd name="adj" fmla="val 50000"/>
            </a:avLst>
          </a:prstGeom>
          <a:solidFill>
            <a:srgbClr val="E6E9FF"/>
          </a:solidFill>
          <a:ln/>
        </p:spPr>
      </p:sp>
      <p:sp>
        <p:nvSpPr>
          <p:cNvPr id="21" name="Text 18"/>
          <p:cNvSpPr/>
          <p:nvPr/>
        </p:nvSpPr>
        <p:spPr>
          <a:xfrm>
            <a:off x="1016184" y="2038350"/>
            <a:ext cx="939284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 · 1 week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61772" y="2247900"/>
            <a:ext cx="2048256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 on success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4068" y="2476500"/>
            <a:ext cx="1883664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baseline and targets: recovery time, failure rate, cadence.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71500" y="2981325"/>
            <a:ext cx="1828800" cy="952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25" name="Text 22"/>
          <p:cNvSpPr/>
          <p:nvPr/>
        </p:nvSpPr>
        <p:spPr>
          <a:xfrm>
            <a:off x="571500" y="3067050"/>
            <a:ext cx="1883664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Head of Payments Eng.</a:t>
            </a:r>
            <a:endParaRPr lang="en-US" sz="850" dirty="0"/>
          </a:p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Solutions Engineer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3038177" y="2019300"/>
            <a:ext cx="1010096" cy="152400"/>
          </a:xfrm>
          <a:prstGeom prst="roundRect">
            <a:avLst>
              <a:gd name="adj" fmla="val 50000"/>
            </a:avLst>
          </a:prstGeom>
          <a:solidFill>
            <a:srgbClr val="DFF6FB"/>
          </a:solidFill>
          <a:ln/>
        </p:spPr>
      </p:sp>
      <p:sp>
        <p:nvSpPr>
          <p:cNvPr id="27" name="Text 24"/>
          <p:cNvSpPr/>
          <p:nvPr/>
        </p:nvSpPr>
        <p:spPr>
          <a:xfrm>
            <a:off x="3073584" y="2038350"/>
            <a:ext cx="939284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8A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2 · 1 week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2519172" y="2247900"/>
            <a:ext cx="2048256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review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2601468" y="2476500"/>
            <a:ext cx="1883664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mode, data residency and the DORA third-party register.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2628900" y="2981325"/>
            <a:ext cx="1828800" cy="952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31" name="Text 28"/>
          <p:cNvSpPr/>
          <p:nvPr/>
        </p:nvSpPr>
        <p:spPr>
          <a:xfrm>
            <a:off x="2628900" y="3067050"/>
            <a:ext cx="1883664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InfoSec, Architecture</a:t>
            </a:r>
            <a:endParaRPr lang="en-US" sz="850" dirty="0"/>
          </a:p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SE, Security team</a:t>
            </a:r>
            <a:endParaRPr lang="en-US" sz="850" dirty="0"/>
          </a:p>
        </p:txBody>
      </p:sp>
      <p:sp>
        <p:nvSpPr>
          <p:cNvPr id="32" name="Shape 29"/>
          <p:cNvSpPr/>
          <p:nvPr/>
        </p:nvSpPr>
        <p:spPr>
          <a:xfrm>
            <a:off x="4973241" y="2019300"/>
            <a:ext cx="1254770" cy="152400"/>
          </a:xfrm>
          <a:prstGeom prst="roundRect">
            <a:avLst>
              <a:gd name="adj" fmla="val 50000"/>
            </a:avLst>
          </a:prstGeom>
          <a:solidFill>
            <a:srgbClr val="F2E6FB"/>
          </a:solidFill>
          <a:ln/>
        </p:spPr>
      </p:sp>
      <p:sp>
        <p:nvSpPr>
          <p:cNvPr id="33" name="Text 30"/>
          <p:cNvSpPr/>
          <p:nvPr/>
        </p:nvSpPr>
        <p:spPr>
          <a:xfrm>
            <a:off x="4993966" y="2038350"/>
            <a:ext cx="1213318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34F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WEEKS 3–6 · 4 weeks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576572" y="2247900"/>
            <a:ext cx="2048256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a real release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658868" y="2476500"/>
            <a:ext cx="1883664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squad ships one payments change behind a guarded rollout.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4686300" y="2981325"/>
            <a:ext cx="1828800" cy="952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37" name="Text 34"/>
          <p:cNvSpPr/>
          <p:nvPr/>
        </p:nvSpPr>
        <p:spPr>
          <a:xfrm>
            <a:off x="4686300" y="3067050"/>
            <a:ext cx="1883664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Pilot squad</a:t>
            </a:r>
            <a:endParaRPr lang="en-US" sz="850" dirty="0"/>
          </a:p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SE, weekly check-in</a:t>
            </a:r>
            <a:endParaRPr lang="en-US" sz="850" dirty="0"/>
          </a:p>
        </p:txBody>
      </p:sp>
      <p:sp>
        <p:nvSpPr>
          <p:cNvPr id="38" name="Shape 35"/>
          <p:cNvSpPr/>
          <p:nvPr/>
        </p:nvSpPr>
        <p:spPr>
          <a:xfrm>
            <a:off x="7112347" y="2019300"/>
            <a:ext cx="1091357" cy="152400"/>
          </a:xfrm>
          <a:prstGeom prst="roundRect">
            <a:avLst>
              <a:gd name="adj" fmla="val 50000"/>
            </a:avLst>
          </a:prstGeom>
          <a:solidFill>
            <a:srgbClr val="FFE3F0"/>
          </a:solidFill>
          <a:ln/>
        </p:spPr>
      </p:sp>
      <p:sp>
        <p:nvSpPr>
          <p:cNvPr id="39" name="Text 36"/>
          <p:cNvSpPr/>
          <p:nvPr/>
        </p:nvSpPr>
        <p:spPr>
          <a:xfrm>
            <a:off x="7142878" y="2038350"/>
            <a:ext cx="1030295" cy="1152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020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7 · decision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6633972" y="2247900"/>
            <a:ext cx="2048256" cy="16764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Readout &amp; proposal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716268" y="2476500"/>
            <a:ext cx="1883664" cy="287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Results against the agreed criteria, plus a commercial proposal.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6743700" y="2981325"/>
            <a:ext cx="1828800" cy="9525"/>
          </a:xfrm>
          <a:prstGeom prst="rect">
            <a:avLst/>
          </a:prstGeom>
          <a:solidFill>
            <a:srgbClr val="DCDCDC"/>
          </a:solidFill>
          <a:ln/>
        </p:spPr>
      </p:sp>
      <p:sp>
        <p:nvSpPr>
          <p:cNvPr id="43" name="Text 40"/>
          <p:cNvSpPr/>
          <p:nvPr/>
        </p:nvSpPr>
        <p:spPr>
          <a:xfrm>
            <a:off x="6743700" y="3067050"/>
            <a:ext cx="1883664" cy="262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Northwind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Executive sponsor</a:t>
            </a:r>
            <a:endParaRPr lang="en-US" sz="850" dirty="0"/>
          </a:p>
          <a:p>
            <a:pPr algn="l" indent="0" marL="0">
              <a:lnSpc>
                <a:spcPts val="1164"/>
              </a:lnSpc>
              <a:buNone/>
            </a:pPr>
            <a:r>
              <a:rPr lang="en-US" sz="850" b="1" dirty="0">
                <a:solidFill>
                  <a:srgbClr val="405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pPr algn="l" indent="0" marL="0">
              <a:lnSpc>
                <a:spcPts val="1164"/>
              </a:lnSpc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· Account Exec, SE</a:t>
            </a:r>
            <a:endParaRPr lang="en-US" sz="850" dirty="0"/>
          </a:p>
        </p:txBody>
      </p:sp>
      <p:sp>
        <p:nvSpPr>
          <p:cNvPr id="44" name="Shape 41"/>
          <p:cNvSpPr/>
          <p:nvPr/>
        </p:nvSpPr>
        <p:spPr>
          <a:xfrm>
            <a:off x="457200" y="4114800"/>
            <a:ext cx="8229600" cy="43815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5" name="Shape 42"/>
          <p:cNvSpPr/>
          <p:nvPr/>
        </p:nvSpPr>
        <p:spPr>
          <a:xfrm>
            <a:off x="654844" y="4272756"/>
            <a:ext cx="157163" cy="139700"/>
          </a:xfrm>
          <a:prstGeom prst="roundRect">
            <a:avLst>
              <a:gd name="adj" fmla="val 12500"/>
            </a:avLst>
          </a:prstGeom>
          <a:ln w="17463">
            <a:solidFill>
              <a:srgbClr val="D8F55A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54844" y="4316413"/>
            <a:ext cx="157163" cy="4763"/>
          </a:xfrm>
          <a:custGeom>
            <a:avLst/>
            <a:gdLst/>
            <a:ahLst/>
            <a:cxnLst/>
            <a:rect l="l" t="t" r="r" b="b"/>
            <a:pathLst>
              <a:path w="157163" h="4763">
                <a:moveTo>
                  <a:pt x="0" y="0"/>
                </a:moveTo>
                <a:lnTo>
                  <a:pt x="157163" y="0"/>
                </a:lnTo>
              </a:path>
            </a:pathLst>
          </a:custGeom>
          <a:ln w="17463">
            <a:solidFill>
              <a:srgbClr val="D8F55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98500" y="4255294"/>
            <a:ext cx="4763" cy="34925"/>
          </a:xfrm>
          <a:custGeom>
            <a:avLst/>
            <a:gdLst/>
            <a:ahLst/>
            <a:cxnLst/>
            <a:rect l="l" t="t" r="r" b="b"/>
            <a:pathLst>
              <a:path w="4763" h="34925">
                <a:moveTo>
                  <a:pt x="0" y="0"/>
                </a:moveTo>
                <a:lnTo>
                  <a:pt x="0" y="34925"/>
                </a:lnTo>
              </a:path>
            </a:pathLst>
          </a:custGeom>
          <a:ln w="17463">
            <a:solidFill>
              <a:srgbClr val="D8F55A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68350" y="4255294"/>
            <a:ext cx="4763" cy="34925"/>
          </a:xfrm>
          <a:custGeom>
            <a:avLst/>
            <a:gdLst/>
            <a:ahLst/>
            <a:cxnLst/>
            <a:rect l="l" t="t" r="r" b="b"/>
            <a:pathLst>
              <a:path w="4763" h="34925">
                <a:moveTo>
                  <a:pt x="0" y="0"/>
                </a:moveTo>
                <a:lnTo>
                  <a:pt x="0" y="34925"/>
                </a:lnTo>
              </a:path>
            </a:pathLst>
          </a:custGeom>
          <a:ln w="17463">
            <a:solidFill>
              <a:srgbClr val="D8F55A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07231" y="4342606"/>
            <a:ext cx="52388" cy="34925"/>
          </a:xfrm>
          <a:custGeom>
            <a:avLst/>
            <a:gdLst/>
            <a:ahLst/>
            <a:cxnLst/>
            <a:rect l="l" t="t" r="r" b="b"/>
            <a:pathLst>
              <a:path w="52388" h="34925">
                <a:moveTo>
                  <a:pt x="0" y="17462"/>
                </a:moveTo>
                <a:lnTo>
                  <a:pt x="17462" y="34925"/>
                </a:lnTo>
                <a:lnTo>
                  <a:pt x="52388" y="0"/>
                </a:lnTo>
              </a:path>
            </a:pathLst>
          </a:custGeom>
          <a:ln w="17463">
            <a:solidFill>
              <a:srgbClr val="D8F55A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952500" y="4257675"/>
            <a:ext cx="683302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D8F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ask today: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name an executive sponsor and a pilot team, and book the week 1 workshop today.</a:t>
            </a:r>
            <a:endParaRPr lang="en-US" sz="1100" dirty="0"/>
          </a:p>
        </p:txBody>
      </p:sp>
      <p:sp>
        <p:nvSpPr>
          <p:cNvPr id="51" name="Shape 48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52" name="Shape 49"/>
          <p:cNvSpPr/>
          <p:nvPr/>
        </p:nvSpPr>
        <p:spPr>
          <a:xfrm>
            <a:off x="291465" y="4933950"/>
            <a:ext cx="191929" cy="4763"/>
          </a:xfrm>
          <a:custGeom>
            <a:avLst/>
            <a:gdLst/>
            <a:ahLst/>
            <a:cxnLst/>
            <a:rect l="l" t="t" r="r" b="b"/>
            <a:pathLst>
              <a:path w="191929" h="4763">
                <a:moveTo>
                  <a:pt x="0" y="0"/>
                </a:moveTo>
                <a:lnTo>
                  <a:pt x="191929" y="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59569" y="4847273"/>
            <a:ext cx="123825" cy="173355"/>
          </a:xfrm>
          <a:custGeom>
            <a:avLst/>
            <a:gdLst/>
            <a:ahLst/>
            <a:cxnLst/>
            <a:rect l="l" t="t" r="r" b="b"/>
            <a:pathLst>
              <a:path w="123825" h="173355">
                <a:moveTo>
                  <a:pt x="0" y="0"/>
                </a:moveTo>
                <a:lnTo>
                  <a:pt x="123825" y="86678"/>
                </a:lnTo>
                <a:lnTo>
                  <a:pt x="0" y="173355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322421" y="4884420"/>
            <a:ext cx="160973" cy="99060"/>
          </a:xfrm>
          <a:custGeom>
            <a:avLst/>
            <a:gdLst/>
            <a:ahLst/>
            <a:cxnLst/>
            <a:rect l="l" t="t" r="r" b="b"/>
            <a:pathLst>
              <a:path w="160973" h="99060">
                <a:moveTo>
                  <a:pt x="0" y="0"/>
                </a:moveTo>
                <a:lnTo>
                  <a:pt x="160973" y="49530"/>
                </a:lnTo>
                <a:lnTo>
                  <a:pt x="0" y="99060"/>
                </a:lnTo>
              </a:path>
            </a:pathLst>
          </a:custGeom>
          <a:ln w="14859">
            <a:solidFill>
              <a:srgbClr val="777777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619500"/>
            <a:ext cx="3810000" cy="1524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19100" y="338138"/>
            <a:ext cx="1834396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LaunchDarkly</a:t>
            </a:r>
            <a:endParaRPr lang="en-US" sz="1950" dirty="0"/>
          </a:p>
        </p:txBody>
      </p:sp>
      <p:sp>
        <p:nvSpPr>
          <p:cNvPr id="4" name="Shape 1"/>
          <p:cNvSpPr/>
          <p:nvPr/>
        </p:nvSpPr>
        <p:spPr>
          <a:xfrm>
            <a:off x="2184589" y="485775"/>
            <a:ext cx="250984" cy="4763"/>
          </a:xfrm>
          <a:custGeom>
            <a:avLst/>
            <a:gdLst/>
            <a:ahLst/>
            <a:cxnLst/>
            <a:rect l="l" t="t" r="r" b="b"/>
            <a:pathLst>
              <a:path w="250984" h="4763">
                <a:moveTo>
                  <a:pt x="0" y="0"/>
                </a:moveTo>
                <a:lnTo>
                  <a:pt x="250984" y="0"/>
                </a:lnTo>
              </a:path>
            </a:pathLst>
          </a:custGeom>
          <a:ln w="21050">
            <a:solidFill>
              <a:srgbClr val="FFFFFF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2273647" y="372428"/>
            <a:ext cx="161925" cy="226695"/>
          </a:xfrm>
          <a:custGeom>
            <a:avLst/>
            <a:gdLst/>
            <a:ahLst/>
            <a:cxnLst/>
            <a:rect l="l" t="t" r="r" b="b"/>
            <a:pathLst>
              <a:path w="161925" h="226695">
                <a:moveTo>
                  <a:pt x="0" y="0"/>
                </a:moveTo>
                <a:lnTo>
                  <a:pt x="161925" y="113347"/>
                </a:lnTo>
                <a:lnTo>
                  <a:pt x="0" y="226695"/>
                </a:lnTo>
              </a:path>
            </a:pathLst>
          </a:custGeom>
          <a:ln w="2105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225070" y="421005"/>
            <a:ext cx="210502" cy="129540"/>
          </a:xfrm>
          <a:custGeom>
            <a:avLst/>
            <a:gdLst/>
            <a:ahLst/>
            <a:cxnLst/>
            <a:rect l="l" t="t" r="r" b="b"/>
            <a:pathLst>
              <a:path w="210502" h="129540">
                <a:moveTo>
                  <a:pt x="0" y="0"/>
                </a:moveTo>
                <a:lnTo>
                  <a:pt x="210502" y="64770"/>
                </a:lnTo>
                <a:lnTo>
                  <a:pt x="0" y="129540"/>
                </a:lnTo>
              </a:path>
            </a:pathLst>
          </a:custGeom>
          <a:ln w="2105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9100" y="1485900"/>
            <a:ext cx="3658046" cy="144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00"/>
              </a:lnSpc>
              <a:buNone/>
            </a:pPr>
            <a:r>
              <a:rPr lang="en-US" sz="54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you.</a:t>
            </a:r>
            <a:endParaRPr lang="en-US" sz="5400" dirty="0"/>
          </a:p>
          <a:p>
            <a:pPr algn="l" indent="0" marL="0">
              <a:lnSpc>
                <a:spcPts val="5400"/>
              </a:lnSpc>
              <a:buNone/>
            </a:pPr>
            <a:r>
              <a:rPr lang="en-US" sz="5400" b="1" spc="-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19100" y="3105150"/>
            <a:ext cx="401166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faster. Release safer. Decide with data.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0" y="4724400"/>
            <a:ext cx="9144000" cy="4191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0" name="Text 7"/>
          <p:cNvSpPr/>
          <p:nvPr/>
        </p:nvSpPr>
        <p:spPr>
          <a:xfrm>
            <a:off x="419100" y="4862513"/>
            <a:ext cx="4406551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github.com/squalliram/ld-northwind-payments → docs.launchdarkly.com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Northwind Bank: Safer, faster payment releases</dc:title>
  <dc:subject>PptxGenJS Presentation</dc:subject>
  <dc:creator>PptxGenJS</dc:creator>
  <cp:lastModifiedBy>PptxGenJS</cp:lastModifiedBy>
  <cp:revision>1</cp:revision>
  <dcterms:created xsi:type="dcterms:W3CDTF">2026-10-21T09:45:49Z</dcterms:created>
  <dcterms:modified xsi:type="dcterms:W3CDTF">2026-10-21T09:45:49Z</dcterms:modified>
</cp:coreProperties>
</file>