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Safer, faster payment releases</a:t>
            </a:r>
          </a:p>
          <a:p>
            <a:r>
              <a:rPr lang="en-GB"/>
              <a:t>Timing: 0:00–0:30.</a:t>
            </a:r>
          </a:p>
          <a:p>
            <a:r>
              <a:rPr lang="en-GB"/>
              <a:t>Say: “Thank you for the time. My understanding is that Northwind wants to release payment improvements more often without increasing customer risk. Today I want to check that understanding, demonstrate the controls, and agree whether a small pilot is worth doing.”</a:t>
            </a:r>
          </a:p>
          <a:p>
            <a:r>
              <a:rPr lang="en-GB"/>
              <a:t>Primary discovery, Ravi (executive sponsor): “What would make these 45 minutes useful for you?”</a:t>
            </a:r>
          </a:p>
          <a:p>
            <a:r>
              <a:rPr lang="en-GB"/>
              <a:t>Listen for: Growth, customer trust, regulatory exposure or engineering capacity. Repeat their priority and use it in the close.</a:t>
            </a:r>
          </a:p>
          <a:p>
            <a:r>
              <a:rPr lang="en-GB"/>
              <a:t>Transition: “Here is how we will use the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Agenda</a:t>
            </a:r>
          </a:p>
          <a:p>
            <a:r>
              <a:rPr lang="en-GB"/>
              <a:t>Timing: 0:30–1:15.</a:t>
            </a:r>
          </a:p>
          <a:p>
            <a:r>
              <a:rPr lang="en-GB"/>
              <a:t>Say: “Fifteen minutes to validate the business problem, fifteen for a payments release, then fifteen for concerns and a mutual plan. Please interrupt and correct anything we have assumed.”</a:t>
            </a:r>
          </a:p>
          <a:p>
            <a:r>
              <a:rPr lang="en-GB"/>
              <a:t>Primary discovery, all: “Does that balance work, or is there a decision or concern we should prioritize?”</a:t>
            </a:r>
          </a:p>
          <a:p>
            <a:r>
              <a:rPr lang="en-GB"/>
              <a:t>Role setup: Address James Henderson-Mills as Northwind Head of Engineering, Ravi Khera as executive sponsor, and Celina Silva as architecture/security lead. These are roleplay roles, not claims about their real jobs.</a:t>
            </a:r>
          </a:p>
          <a:p>
            <a:r>
              <a:rPr lang="en-GB"/>
              <a:t>Transition: “Let us start with your situation, not our product.”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Our Understanding divider</a:t>
            </a:r>
          </a:p>
          <a:p>
            <a:r>
              <a:rPr lang="en-GB"/>
              <a:t>Timing: 1:15–1:30.</a:t>
            </a:r>
          </a:p>
          <a:p>
            <a:r>
              <a:rPr lang="en-GB"/>
              <a:t>Say: “These are hypotheses from the brief, not facts we have discovered about your bank.”</a:t>
            </a:r>
          </a:p>
          <a:p>
            <a:r>
              <a:rPr lang="en-GB"/>
              <a:t>Primary discovery, James: “Which part of the payments release process is causing the most friction today?”</a:t>
            </a:r>
          </a:p>
          <a:p>
            <a:r>
              <a:rPr lang="en-GB"/>
              <a:t>Transition: Move straight to the three-block understanding slide. Do not explain the divider.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Our Understanding</a:t>
            </a:r>
          </a:p>
          <a:p>
            <a:r>
              <a:rPr lang="en-GB"/>
              <a:t>Timing: 1:30–7:30, including discovery.</a:t>
            </a:r>
          </a:p>
          <a:p>
            <a:r>
              <a:rPr lang="en-GB"/>
              <a:t>Say: “On the left, releasing to everyone makes a defect a bank-wide problem. If recovery requires a redeploy, that exposure lasts longer. On the right, we want smaller, reversible releases and evidence before widening exposure. The bottom is the vendor-neutral capability set needed to bridge that gap.”</a:t>
            </a:r>
          </a:p>
          <a:p>
            <a:r>
              <a:rPr lang="en-GB"/>
              <a:t>Primary discovery, James: “Walk me through the last payment release that went wrong. How was it detected, who acted, and how long until customers recovered?”</a:t>
            </a:r>
          </a:p>
          <a:p>
            <a:r>
              <a:rPr lang="en-GB"/>
              <a:t>Follow-up, Ravi: “What did that cost in disrupted payments, customer contacts, staff time or delayed launches?”</a:t>
            </a:r>
          </a:p>
          <a:p>
            <a:r>
              <a:rPr lang="en-GB"/>
              <a:t>Follow-up, Celina: “Which release decisions must remain gated by risk or market approval?”</a:t>
            </a:r>
          </a:p>
          <a:p>
            <a:r>
              <a:rPr lang="en-GB"/>
              <a:t>Listen for: Actual detection/recovery times, exposure, frequency, owners and constraints. Write down their corrections. Do not assume that an incident becomes legally reportable; that depends on classification.</a:t>
            </a:r>
          </a:p>
          <a:p>
            <a:r>
              <a:rPr lang="en-GB"/>
              <a:t>Value bridge: Targeting limits initial exposure; a kill switch shortens mitigation; release metrics inform rollback; history supports governance; minimized data and outage design support resilience.</a:t>
            </a:r>
          </a:p>
          <a:p>
            <a:r>
              <a:rPr lang="en-GB"/>
              <a:t>Guardrails: Flags do not establish DORA compliance, prevent all incidents or replace backend authorization. Do not promise a hard cap on affected customers from a percentage allocation.</a:t>
            </a:r>
          </a:p>
          <a:p>
            <a:r>
              <a:rPr lang="en-GB"/>
              <a:t>Transition: “Have I captured the important pains and outcomes? Which capability matters most?”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How we read your brief</a:t>
            </a:r>
          </a:p>
          <a:p>
            <a:r>
              <a:rPr lang="en-GB"/>
              <a:t>Timing: 7:30–9:30.</a:t>
            </a:r>
          </a:p>
          <a:p>
            <a:r>
              <a:rPr lang="en-GB"/>
              <a:t>Say: “We interpreted regulated as resilience, governance, data minimisation and market-specific release. Safer means reducing exposure and recovery time. Confidence means a release decision backed by evidence rather than a complaint.”</a:t>
            </a:r>
          </a:p>
          <a:p>
            <a:r>
              <a:rPr lang="en-GB"/>
              <a:t>Primary discovery, Celina: “When you say regulated, which specific obligations or internal controls must this initiative satisfy?”</a:t>
            </a:r>
          </a:p>
          <a:p>
            <a:r>
              <a:rPr lang="en-GB"/>
              <a:t>Follow-up, Ravi: “If speed and risk conflict, what is the non-negotiable?”</a:t>
            </a:r>
          </a:p>
          <a:p>
            <a:r>
              <a:rPr lang="en-GB"/>
              <a:t>Listen for: DORA scope, outsourcing assessment, residency, retention, segregation of duties and data classification.</a:t>
            </a:r>
          </a:p>
          <a:p>
            <a:r>
              <a:rPr lang="en-GB"/>
              <a:t>Caveat: An opaque key can still be pseudonymous personal data. No names/emails is not the same as no GDPR scope.</a:t>
            </a:r>
          </a:p>
          <a:p>
            <a:r>
              <a:rPr lang="en-GB"/>
              <a:t>Transition: “Let us make success measurable.”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initiative and how we'll measure it</a:t>
            </a:r>
          </a:p>
          <a:p>
            <a:r>
              <a:rPr lang="en-GB"/>
              <a:t>Timing: 9:30–12:30.</a:t>
            </a:r>
          </a:p>
          <a:p>
            <a:r>
              <a:rPr lang="en-GB"/>
              <a:t>Say: “These are proposed pilot criteria. Recovery under a minute is a target to test, not a service guarantee. Start below five percent of eligible UK users, then decide whether to expand based on the agreed signals.”</a:t>
            </a:r>
          </a:p>
          <a:p>
            <a:r>
              <a:rPr lang="en-GB"/>
              <a:t>Primary discovery, Ravi: “Which two measures would justify investment, and what improvement would be meaningful?”</a:t>
            </a:r>
          </a:p>
          <a:p>
            <a:r>
              <a:rPr lang="en-GB"/>
              <a:t>Follow-up, James: “What are your actual baseline release cadence, recovery time and change failure rate, and where is that data?”</a:t>
            </a:r>
          </a:p>
          <a:p>
            <a:r>
              <a:rPr lang="en-GB"/>
              <a:t>Follow-up, Celina: “What evidence must we produce for a control to count as passed?”</a:t>
            </a:r>
          </a:p>
          <a:p>
            <a:r>
              <a:rPr lang="en-GB"/>
              <a:t>Listen for: A measurable baseline, target, owner and evidence source for each selected criterion. Agree pilot go/no-go criteria.</a:t>
            </a:r>
          </a:p>
          <a:p>
            <a:r>
              <a:rPr lang="en-GB"/>
              <a:t>Caveats: Percentage of eligible contexts is not percentage of payment attempts or a guaranteed impact ceiling. Rollback reduces harm duration; it does not automatically reduce the number of defective changes. Treat cadence and audit-effort improvements as hypotheses.</a:t>
            </a:r>
          </a:p>
          <a:p>
            <a:r>
              <a:rPr lang="en-GB"/>
              <a:t>Transition: “A few assumptions could change the design.”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we assumed, and what we need to ask</a:t>
            </a:r>
          </a:p>
          <a:p>
            <a:r>
              <a:rPr lang="en-GB"/>
              <a:t>Timing: 12:30–15:00.</a:t>
            </a:r>
          </a:p>
          <a:p>
            <a:r>
              <a:rPr lang="en-GB"/>
              <a:t>Say: “For this demo I chose web first, UK first and Observe before experimentation. Existing observability stays in place. We need to validate identity, data residency, health metrics and emergency authority before a real pilot.”</a:t>
            </a:r>
          </a:p>
          <a:p>
            <a:r>
              <a:rPr lang="en-GB"/>
              <a:t>Primary discovery, Celina: “Where may context and event data be processed and retained, and which data categories are prohibited?”</a:t>
            </a:r>
          </a:p>
          <a:p>
            <a:r>
              <a:rPr lang="en-GB"/>
              <a:t>Follow-up, James: “Who can change a flag at 2am, and which approvals can an emergency change bypass?”</a:t>
            </a:r>
          </a:p>
          <a:p>
            <a:r>
              <a:rPr lang="en-GB"/>
              <a:t>Follow-up, Ravi: “Which market and customer journey should prove value first?”</a:t>
            </a:r>
          </a:p>
          <a:p>
            <a:r>
              <a:rPr lang="en-GB"/>
              <a:t>Action: Capture unresolved requirements and assign them to the security workshop rather than guessing. If UK-first is wrong, change the pilot scope visibly.</a:t>
            </a:r>
          </a:p>
          <a:p>
            <a:r>
              <a:rPr lang="en-GB"/>
              <a:t>Transition: “With those assumptions explicit, I will show how the controls address the priorities you selected.”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Demo divider</a:t>
            </a:r>
          </a:p>
          <a:p>
            <a:r>
              <a:rPr lang="en-GB"/>
              <a:t>Timing: 15:00–15:10.</a:t>
            </a:r>
          </a:p>
          <a:p>
            <a:r>
              <a:rPr lang="en-GB"/>
              <a:t>Say: “This is a simulated payment journey, not a production banking system.”</a:t>
            </a:r>
          </a:p>
          <a:p>
            <a:r>
              <a:rPr lang="en-GB"/>
              <a:t>Primary discovery, James: “Shall we use a faulty payee-verification release as the failure scenario?”</a:t>
            </a:r>
          </a:p>
          <a:p>
            <a:r>
              <a:rPr lang="en-GB"/>
              <a:t>Transition: Move immediately to the Tell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you're about to see</a:t>
            </a:r>
          </a:p>
          <a:p>
            <a:r>
              <a:rPr lang="en-GB"/>
              <a:t>Timing: 15:10–16:00.</a:t>
            </a:r>
          </a:p>
          <a:p>
            <a:r>
              <a:rPr lang="en-GB"/>
              <a:t>Say: “First we limit who sees the release. Then we examine a regression and rollback. Next we pause the journey without deploying, inspect the record of the change, and discuss data and outage behaviour. Those map directly to the five capabilities we agreed.”</a:t>
            </a:r>
          </a:p>
          <a:p>
            <a:r>
              <a:rPr lang="en-GB"/>
              <a:t>Primary discovery, all: “If we demonstrate these controls, what else would you need before approving a pilot?”</a:t>
            </a:r>
          </a:p>
          <a:p>
            <a:r>
              <a:rPr lang="en-GB"/>
              <a:t>Listen for: A new acceptance criterion. Add it to the mutual plan.</a:t>
            </a:r>
          </a:p>
          <a:p>
            <a:r>
              <a:rPr lang="en-GB"/>
              <a:t>Execution: State whether guarded rollback will be live, a verified rehearsal result, or a walkthrough. Do not imply a completed automatic rollback if none has been observed.</a:t>
            </a:r>
          </a:p>
          <a:p>
            <a:r>
              <a:rPr lang="en-GB"/>
              <a:t>Transition: “One picture of the setup, then we will move into the app.”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we built</a:t>
            </a:r>
          </a:p>
          <a:p>
            <a:r>
              <a:rPr lang="en-GB"/>
              <a:t>Timing: 16:00–16:30, then live demo 16:30–25:30.</a:t>
            </a:r>
          </a:p>
          <a:p>
            <a:r>
              <a:rPr lang="en-GB"/>
              <a:t>Say: “Both journeys are already deployed in React. The release flag selects v1 or v2. A separate operational flag pauses the simulated UI. The SDK sends latency and an outcome event for the selected journey.”</a:t>
            </a:r>
          </a:p>
          <a:p>
            <a:r>
              <a:rPr lang="en-GB"/>
              <a:t>Primary discovery, Celina: “Where would authorization and payment execution live in your architecture?”</a:t>
            </a:r>
          </a:p>
          <a:p>
            <a:r>
              <a:rPr lang="en-GB"/>
              <a:t>Answer boundary: The backend must enforce identity, eligibility, authorization and any real payment pause. Client flags are presentation controls. Secure mode binds context identity keys; it does not make browser-supplied staff/country attributes authoritative.</a:t>
            </a:r>
          </a:p>
          <a:p>
            <a:r>
              <a:rPr lang="en-GB"/>
              <a:t>Live sequence: Targeting 2:00; guarded rollout 3:00; kill switch/release rollback 1:30; audit 1:00; data/outage behaviour 1:30. Use docs/DEMO_FLOW.md for exact navigation and value bites.</a:t>
            </a:r>
          </a:p>
          <a:p>
            <a:r>
              <a:rPr lang="en-GB"/>
              <a:t>Customer proof: Use one short relevant story at each moment, then return to the customer's outcome. Do not read all stories.</a:t>
            </a:r>
          </a:p>
          <a:p>
            <a:r>
              <a:rPr lang="en-GB"/>
              <a:t>Fallback: If analysis is pending, show an actually captured result from rehearsal or explain the configured workflow. If no evidence exists, mark rollback unproven and move on.</a:t>
            </a:r>
          </a:p>
          <a:p>
            <a:r>
              <a:rPr lang="en-GB"/>
              <a:t>Transition: Return to the deck for the Tell-back checklist.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you just saw</a:t>
            </a:r>
          </a:p>
          <a:p>
            <a:r>
              <a:rPr lang="en-GB"/>
              <a:t>Timing: 25:30–26:15.</a:t>
            </a:r>
          </a:p>
          <a:p>
            <a:r>
              <a:rPr lang="en-GB"/>
              <a:t>Say: “Let us check the evidence against your requirements. We demonstrated the targeting rules and the UI control. Which items do you consider proven, and which still need pilot validation?”</a:t>
            </a:r>
          </a:p>
          <a:p>
            <a:r>
              <a:rPr lang="en-GB"/>
              <a:t>Primary discovery, James: “Would these controls have reduced the impact of the incident you described?”</a:t>
            </a:r>
          </a:p>
          <a:p>
            <a:r>
              <a:rPr lang="en-GB"/>
              <a:t>Follow-up, Celina: “Which controls still need independent security or operational evidence?”</a:t>
            </a:r>
          </a:p>
          <a:p>
            <a:r>
              <a:rPr lang="en-GB"/>
              <a:t>Checklist discipline: Boxes are intentionally empty. Tick only what actually happened. Separate a live result, a rehearsal recording, a configuration walkthrough and a proposal. If rollback or outage tests were not demonstrated, leave them open. Showing audit history does not prove production approvals and permissions.</a:t>
            </a:r>
          </a:p>
          <a:p>
            <a:r>
              <a:rPr lang="en-GB"/>
              <a:t>Value recap: “Smaller exposure, mitigation without a redeploy, and a traceable decision. Weekly releases remain a pilot hypothesis, not something this demo has proved.”</a:t>
            </a:r>
          </a:p>
          <a:p>
            <a:r>
              <a:rPr lang="en-GB"/>
              <a:t>Transition: “Other teams provide useful precedents, not guarantees.”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Where we've done this before</a:t>
            </a:r>
          </a:p>
          <a:p>
            <a:r>
              <a:rPr lang="en-GB"/>
              <a:t>Timing: 26:15–27:30.</a:t>
            </a:r>
          </a:p>
          <a:p>
            <a:r>
              <a:rPr lang="en-GB"/>
              <a:t>Say: “Saxo is the cadence example: roughly every three weeks to twice weekly, about sixfold. AlayaCare reported fifty percent shorter resolution time when using a flag instead of a code deployment. Ally reported ninety-seven percent fewer off-hours releases alongside more deployments.”</a:t>
            </a:r>
          </a:p>
          <a:p>
            <a:r>
              <a:rPr lang="en-GB"/>
              <a:t>Primary discovery, Ravi: “Which comparison is closest to the outcome Northwind wants?”</a:t>
            </a:r>
          </a:p>
          <a:p>
            <a:r>
              <a:rPr lang="en-GB"/>
              <a:t>Follow-up, James: “Would a technical reference discussion with a comparable team help?”</a:t>
            </a:r>
          </a:p>
          <a:p>
            <a:r>
              <a:rPr lang="en-GB"/>
              <a:t>Source discipline: These are customer-reported results, not guaranteed causal effects. Tide's talk describes automatic kill switches/triggers as roadmap items, not proof of LaunchDarkly guarded rollouts. NAB is a named financial-services customer; do not invent a quantified NAB audit result. None of these stories establishes privacy compliance or outage guarantees.</a:t>
            </a:r>
          </a:p>
          <a:p>
            <a:r>
              <a:rPr lang="en-GB"/>
              <a:t>Sources:</a:t>
            </a:r>
          </a:p>
          <a:p>
            <a:r>
              <a:rPr lang="en-GB"/>
              <a:t>- Saxo Bank: https://launchdarkly.com/case-studies/saxo-bank/</a:t>
            </a:r>
          </a:p>
          <a:p>
            <a:r>
              <a:rPr lang="en-GB"/>
              <a:t>- Tide, Giorgos Ampavis, feature-toggle talk: https://videos.itrevolution.com/watch/707352143</a:t>
            </a:r>
          </a:p>
          <a:p>
            <a:r>
              <a:rPr lang="en-GB"/>
              <a:t>- AlayaCare and Ally customer quotations: https://launchdarkly.com/customer-stories/ and https://launchdarkly.com/customer-stories/2/</a:t>
            </a:r>
          </a:p>
          <a:p>
            <a:r>
              <a:rPr lang="en-GB"/>
              <a:t>- NAB and financial-services governance context: https://launchdarkly.com/solutions/financial-services/</a:t>
            </a:r>
          </a:p>
          <a:p>
            <a:r>
              <a:rPr lang="en-GB"/>
              <a:t>Transition: “For Northwind, the path would be incremental.”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Release: a path risk can sign off</a:t>
            </a:r>
          </a:p>
          <a:p>
            <a:r>
              <a:rPr lang="en-GB"/>
              <a:t>Timing: 27:30–28:00.</a:t>
            </a:r>
          </a:p>
          <a:p>
            <a:r>
              <a:rPr lang="en-GB"/>
              <a:t>Say: “Staff first, opted-in UK beta next, then eligible UK customers under metric guardrails. Other markets remain on v1 until your release authority approves. These are ordered rules, so staff and beta bypass the later UK rollout.”</a:t>
            </a:r>
          </a:p>
          <a:p>
            <a:r>
              <a:rPr lang="en-GB"/>
              <a:t>Primary discovery, James: “Who signs off each expansion, and how would you define the eligible cohort?”</a:t>
            </a:r>
          </a:p>
          <a:p>
            <a:r>
              <a:rPr lang="en-GB"/>
              <a:t>Caveats: A release flag selects an already deployed path; it cannot undo database writes or recover money already moved. A disconnected client cannot receive a new kill command.</a:t>
            </a:r>
          </a:p>
          <a:p>
            <a:r>
              <a:rPr lang="en-GB"/>
              <a:t>Transition: “The evidence gate is the reason for Observe.”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Observe: why we chose it over Iterate</a:t>
            </a:r>
          </a:p>
          <a:p>
            <a:r>
              <a:rPr lang="en-GB"/>
              <a:t>Timing: 28:00–28:45.</a:t>
            </a:r>
          </a:p>
          <a:p>
            <a:r>
              <a:rPr lang="en-GB"/>
              <a:t>Say: “The first question is whether v2 harms customers, not whether it wins an experiment. Each attempt records latency plus either failure or completion. The rollout can compare those signals before we expand.”</a:t>
            </a:r>
          </a:p>
          <a:p>
            <a:r>
              <a:rPr lang="en-GB"/>
              <a:t>Primary discovery, James: “Which customer-impact signal should stop the rollout, and who owns its threshold?”</a:t>
            </a:r>
          </a:p>
          <a:p>
            <a:r>
              <a:rPr lang="en-GB"/>
              <a:t>Follow-up, Celina: “How much exposure and observation time is acceptable before a decision?”</a:t>
            </a:r>
          </a:p>
          <a:p>
            <a:r>
              <a:rPr lang="en-GB"/>
              <a:t>Caveats: Numbers on this slide are simulated illustrations. The configured latency metric is an average, not p95. Conversion metrics are context-based, not a direct per-attempt rate when a user makes multiple payments. Repeated simulations reuse keys, so do not claim every run adds new independent users. Analysis needs sufficient eligible traffic and time; it is not an immediate promise.</a:t>
            </a:r>
          </a:p>
          <a:p>
            <a:r>
              <a:rPr lang="en-GB"/>
              <a:t>Transition: “Here are the design choices and the production gaps.”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Decisions, trade-offs and risks</a:t>
            </a:r>
          </a:p>
          <a:p>
            <a:r>
              <a:rPr lang="en-GB"/>
              <a:t>Timing: 28:45–30:00.</a:t>
            </a:r>
          </a:p>
          <a:p>
            <a:r>
              <a:rPr lang="en-GB"/>
              <a:t>Say: “I chose a client SDK for a visible demo, not to authorize money movement. Observe comes before experimentation. We exclude names and emails rather than relying on private attributes. The largest production gap is trusting browser state for anything sensitive.”</a:t>
            </a:r>
          </a:p>
          <a:p>
            <a:r>
              <a:rPr lang="en-GB"/>
              <a:t>Primary discovery, Celina: “Which risk here would block a pilot, and what evidence would clear it?”</a:t>
            </a:r>
          </a:p>
          <a:p>
            <a:r>
              <a:rPr lang="en-GB"/>
              <a:t>Follow-up, James: “Would you prefer server-side enforcement in the first pilot scope?”</a:t>
            </a:r>
          </a:p>
          <a:p>
            <a:r>
              <a:rPr lang="en-GB"/>
              <a:t>Technical precision: Client SDK private attributes are still sent for remote evaluation. Opaque identifiers can still be personal data. Secure mode does not sign arbitrary attributes. On stream loss, known flag values and cold-start defaults are different cases; fail-open payments-on is an explicit business decision, not universally safe.</a:t>
            </a:r>
          </a:p>
          <a:p>
            <a:r>
              <a:rPr lang="en-GB"/>
              <a:t>Curveball method: Acknowledge, clarify impact, tie to an acceptance criterion, state what evidence is missing, and visibly update the plan. Do not bluff.</a:t>
            </a:r>
          </a:p>
          <a:p>
            <a:r>
              <a:rPr lang="en-GB"/>
              <a:t>Transition: “Before we discuss a pilot, let us surface your concerns.”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Next Steps divider</a:t>
            </a:r>
          </a:p>
          <a:p>
            <a:r>
              <a:rPr lang="en-GB"/>
              <a:t>Timing: 30:00–30:15.</a:t>
            </a:r>
          </a:p>
          <a:p>
            <a:r>
              <a:rPr lang="en-GB"/>
              <a:t>Say: “We have seen the mechanics. Now the question is whether the outcome and evidence justify the next investment.”</a:t>
            </a:r>
          </a:p>
          <a:p>
            <a:r>
              <a:rPr lang="en-GB"/>
              <a:t>Primary discovery, Ravi: “What is the biggest reason you might decide not to proceed?”</a:t>
            </a:r>
          </a:p>
          <a:p>
            <a:r>
              <a:rPr lang="en-GB"/>
              <a:t>Transition: Stop speaking and let the objection land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Concerns we expect, and how we'd answer</a:t>
            </a:r>
          </a:p>
          <a:p>
            <a:r>
              <a:rPr lang="en-GB"/>
              <a:t>Timing: 30:15–36:15, primarily discussion.</a:t>
            </a:r>
          </a:p>
          <a:p>
            <a:r>
              <a:rPr lang="en-GB"/>
              <a:t>Say: “These are common concerns, but I would rather hear yours than argue against a list.”</a:t>
            </a:r>
          </a:p>
          <a:p>
            <a:r>
              <a:rPr lang="en-GB"/>
              <a:t>Primary discovery, Celina: “Which architecture, privacy or third-party risk concern remains unresolved?”</a:t>
            </a:r>
          </a:p>
          <a:p>
            <a:r>
              <a:rPr lang="en-GB"/>
              <a:t>Follow-up, James: “What would your team need that a homegrown toggle does not provide today?”</a:t>
            </a:r>
          </a:p>
          <a:p>
            <a:r>
              <a:rPr lang="en-GB"/>
              <a:t>Follow-up, Ravi: “What competes with this initiative for budget, and what is the cost of leaving the process unchanged?”</a:t>
            </a:r>
          </a:p>
          <a:p>
            <a:r>
              <a:rPr lang="en-GB"/>
              <a:t>Responses: Outage: distinguish retained values, cold starts and inability to deliver a remote command. Data: review opaque keys, attributes, telemetry, region and retention. CAB: validate approvals, custom roles, emergency procedures and evidence export. Build: compare ongoing engineering/control cost, not just the first boolean toggle.</a:t>
            </a:r>
          </a:p>
          <a:p>
            <a:r>
              <a:rPr lang="en-GB"/>
              <a:t>Listen for: A genuine blocker versus an information request. Confirm priority, owner and next evidence. Do not claim that all fallbacks or governance controls have been tested.</a:t>
            </a:r>
          </a:p>
          <a:p>
            <a:r>
              <a:rPr lang="en-GB"/>
              <a:t>Transition: “If we resolve those points, here is a bounded plan to make a decision.”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Next steps: a mutual plan to a pilot</a:t>
            </a:r>
          </a:p>
          <a:p>
            <a:r>
              <a:rPr lang="en-GB"/>
              <a:t>Timing: 36:15–43:45.</a:t>
            </a:r>
          </a:p>
          <a:p>
            <a:r>
              <a:rPr lang="en-GB"/>
              <a:t>Say: “Week one: baseline and criteria. Week two: architecture, privacy and operational review. Weeks three to six: one squad, one real release. Week seven: readout against the criteria and a commercial decision. This is a proposal, not a committed schedule.”</a:t>
            </a:r>
          </a:p>
          <a:p>
            <a:r>
              <a:rPr lang="en-GB"/>
              <a:t>Primary discovery, Ravi: “If we meet the agreed criteria, who owns the decision and what else is required for approval?”</a:t>
            </a:r>
          </a:p>
          <a:p>
            <a:r>
              <a:rPr lang="en-GB"/>
              <a:t>Follow-up, James: “Which squad, release and engineering owner can we commit to?”</a:t>
            </a:r>
          </a:p>
          <a:p>
            <a:r>
              <a:rPr lang="en-GB"/>
              <a:t>Follow-up, Celina: “Can we name an architecture/security counterpart and agree the evidence checklist?”</a:t>
            </a:r>
          </a:p>
          <a:p>
            <a:r>
              <a:rPr lang="en-GB"/>
              <a:t>Business case: Baseline incident count × recovery hours × agreed cost/hour, plus release/on-call and audit time saved, minus license and implementation cost. Use customer inputs, avoid double counting and do not invent ROI. Capture benefit owner and data source in week one.</a:t>
            </a:r>
          </a:p>
          <a:p>
            <a:r>
              <a:rPr lang="en-GB"/>
              <a:t>Explicit ask: Name the executive sponsor, pilot team and workshop owner. Agree a date and attendees for the week-one workshop. Ask what procurement/security steps must run in parallel.</a:t>
            </a:r>
          </a:p>
          <a:p>
            <a:r>
              <a:rPr lang="en-GB"/>
              <a:t>Exit criteria: A pilot scope, two measurable outcomes, test cases for backend enforcement/outages, and a decision owner. If security review blocks the live pilot, make the immediate next step a design workshop instead.</a:t>
            </a:r>
          </a:p>
          <a:p>
            <a:r>
              <a:rPr lang="en-GB"/>
              <a:t>Transition: Summarize their actual commitments, not the template's assumed commitments.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Thank you</a:t>
            </a:r>
          </a:p>
          <a:p>
            <a:r>
              <a:rPr lang="en-GB"/>
              <a:t>Timing: 43:45–45:00.</a:t>
            </a:r>
          </a:p>
          <a:p>
            <a:r>
              <a:rPr lang="en-GB"/>
              <a:t>Say: “We agreed that [their priority] matters most. The pilot will test [two measures]. The open issue is [blocker], owned by [name]. Our next step is [workshop], on [date], with [attendees]. Have I captured that correctly?”</a:t>
            </a:r>
          </a:p>
          <a:p>
            <a:r>
              <a:rPr lang="en-GB"/>
              <a:t>Primary discovery, Ravi: “Are we aligned to take that next step?”</a:t>
            </a:r>
          </a:p>
          <a:p>
            <a:r>
              <a:rPr lang="en-GB"/>
              <a:t>Follow-up, all: “Is there a stakeholder or condition missing before we close?”</a:t>
            </a:r>
          </a:p>
          <a:p>
            <a:r>
              <a:rPr lang="en-GB"/>
              <a:t>Action: Fill the date/owner on the slide only after agreement. If no agreement, record the blocker and the owner of the evidence needed, without claiming a committed pilot.</a:t>
            </a:r>
          </a:p>
          <a:p>
            <a:r>
              <a:rPr lang="en-GB"/>
              <a:t>Close: Thank them. Leave the repository link visible. Do not reopen a generic “any questions?” loop after securing the next step.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19100" y="338138"/>
            <a:ext cx="1679002" cy="293065"/>
          </a:xfrm>
          <a:prstGeom prst="rect">
            <a:avLst/>
          </a:prstGeom>
          <a:noFill/>
          <a:ln/>
        </p:spPr>
        <p:txBody>
          <a:bodyPr wrap="none" lIns="0" tIns="0" rIns="0" bIns="0" rtlCol="0" anchor="ctr"/>
          <a:lstStyle/>
          <a:p>
            <a:pPr indent="0" marL="0">
              <a:buNone/>
            </a:pPr>
            <a:r>
              <a:rPr lang="en-US" sz="1950" b="1" dirty="0">
                <a:solidFill>
                  <a:srgbClr val="FFFFFF"/>
                </a:solidFill>
                <a:latin typeface="Arial" pitchFamily="34" charset="0"/>
                <a:ea typeface="Arial" pitchFamily="34" charset="-122"/>
                <a:cs typeface="Arial" pitchFamily="34" charset="-120"/>
              </a:rPr>
              <a:t>LaunchDarkly</a:t>
            </a:r>
            <a:endParaRPr lang="en-US" sz="1950" dirty="0"/>
          </a:p>
        </p:txBody>
      </p:sp>
      <p:pic>
        <p:nvPicPr>
          <p:cNvPr id="4" name="Image 0" descr="preencoded.png">    </p:cNvPr>
          <p:cNvPicPr>
            <a:picLocks noChangeAspect="1"/>
          </p:cNvPicPr>
          <p:nvPr/>
        </p:nvPicPr>
        <p:blipFill>
          <a:blip r:embed="rId1"/>
          <a:stretch>
            <a:fillRect/>
          </a:stretch>
        </p:blipFill>
        <p:spPr>
          <a:xfrm>
            <a:off x="2152204" y="323850"/>
            <a:ext cx="323850" cy="323850"/>
          </a:xfrm>
          <a:prstGeom prst="rect">
            <a:avLst/>
          </a:prstGeom>
        </p:spPr>
      </p:pic>
      <p:pic>
        <p:nvPicPr>
          <p:cNvPr id="5" name="Image 1" descr="preencoded.png">    </p:cNvPr>
          <p:cNvPicPr>
            <a:picLocks noChangeAspect="1"/>
          </p:cNvPicPr>
          <p:nvPr/>
        </p:nvPicPr>
        <p:blipFill>
          <a:blip r:embed="rId2"/>
          <a:stretch>
            <a:fillRect/>
          </a:stretch>
        </p:blipFill>
        <p:spPr>
          <a:xfrm>
            <a:off x="6000750" y="2286000"/>
            <a:ext cx="4000500" cy="4000500"/>
          </a:xfrm>
          <a:prstGeom prst="rect">
            <a:avLst/>
          </a:prstGeom>
        </p:spPr>
      </p:pic>
      <p:pic>
        <p:nvPicPr>
          <p:cNvPr id="6" name="Image 2" descr="preencoded.png">    </p:cNvPr>
          <p:cNvPicPr>
            <a:picLocks noChangeAspect="1"/>
          </p:cNvPicPr>
          <p:nvPr/>
        </p:nvPicPr>
        <p:blipFill>
          <a:blip r:embed="rId3"/>
          <a:stretch>
            <a:fillRect/>
          </a:stretch>
        </p:blipFill>
        <p:spPr>
          <a:xfrm>
            <a:off x="5524500" y="3238500"/>
            <a:ext cx="2476500" cy="2476500"/>
          </a:xfrm>
          <a:prstGeom prst="rect">
            <a:avLst/>
          </a:prstGeom>
        </p:spPr>
      </p:pic>
      <p:pic>
        <p:nvPicPr>
          <p:cNvPr id="7" name="Image 3" descr="preencoded.png">    </p:cNvPr>
          <p:cNvPicPr>
            <a:picLocks noChangeAspect="1"/>
          </p:cNvPicPr>
          <p:nvPr/>
        </p:nvPicPr>
        <p:blipFill>
          <a:blip r:embed="rId4"/>
          <a:stretch>
            <a:fillRect/>
          </a:stretch>
        </p:blipFill>
        <p:spPr>
          <a:xfrm>
            <a:off x="7429500" y="1428750"/>
            <a:ext cx="2095500" cy="2095500"/>
          </a:xfrm>
          <a:prstGeom prst="rect">
            <a:avLst/>
          </a:prstGeom>
        </p:spPr>
      </p:pic>
      <p:sp>
        <p:nvSpPr>
          <p:cNvPr id="8" name="Text 2"/>
          <p:cNvSpPr/>
          <p:nvPr/>
        </p:nvSpPr>
        <p:spPr>
          <a:xfrm>
            <a:off x="419100" y="1428750"/>
            <a:ext cx="2398586"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VALUE PLAYBACK · NORTHWIND BANK</a:t>
            </a:r>
            <a:endParaRPr lang="en-US" sz="900" dirty="0"/>
          </a:p>
        </p:txBody>
      </p:sp>
      <p:sp>
        <p:nvSpPr>
          <p:cNvPr id="9" name="Text 3"/>
          <p:cNvSpPr/>
          <p:nvPr/>
        </p:nvSpPr>
        <p:spPr>
          <a:xfrm>
            <a:off x="419100" y="1657350"/>
            <a:ext cx="3065782" cy="645490"/>
          </a:xfrm>
          <a:prstGeom prst="rect">
            <a:avLst/>
          </a:prstGeom>
          <a:noFill/>
          <a:ln/>
        </p:spPr>
        <p:txBody>
          <a:bodyPr wrap="none" lIns="0" tIns="0" rIns="0" bIns="0" rtlCol="0" anchor="ctr"/>
          <a:lstStyle/>
          <a:p>
            <a:pPr indent="0" marL="0">
              <a:buNone/>
            </a:pPr>
            <a:r>
              <a:rPr lang="en-US" sz="4500" b="1" spc="-150" kern="0" dirty="0">
                <a:solidFill>
                  <a:srgbClr val="FFFFFF"/>
                </a:solidFill>
                <a:latin typeface="Arial" pitchFamily="34" charset="0"/>
                <a:ea typeface="Arial" pitchFamily="34" charset="-122"/>
                <a:cs typeface="Arial" pitchFamily="34" charset="-120"/>
              </a:rPr>
              <a:t>Safer, faster</a:t>
            </a:r>
            <a:endParaRPr lang="en-US" sz="4500" dirty="0"/>
          </a:p>
        </p:txBody>
      </p:sp>
      <p:sp>
        <p:nvSpPr>
          <p:cNvPr id="10" name="Text 4"/>
          <p:cNvSpPr/>
          <p:nvPr/>
        </p:nvSpPr>
        <p:spPr>
          <a:xfrm>
            <a:off x="419100" y="2228850"/>
            <a:ext cx="4533674" cy="645490"/>
          </a:xfrm>
          <a:prstGeom prst="rect">
            <a:avLst/>
          </a:prstGeom>
          <a:noFill/>
          <a:ln/>
        </p:spPr>
        <p:txBody>
          <a:bodyPr wrap="none" lIns="0" tIns="0" rIns="0" bIns="0" rtlCol="0" anchor="ctr"/>
          <a:lstStyle/>
          <a:p>
            <a:pPr indent="0" marL="0">
              <a:buNone/>
            </a:pPr>
            <a:r>
              <a:rPr lang="en-US" sz="4500" b="1" spc="-150" kern="0" dirty="0">
                <a:solidFill>
                  <a:srgbClr val="FFFFFF"/>
                </a:solidFill>
                <a:latin typeface="Arial" pitchFamily="34" charset="0"/>
                <a:ea typeface="Arial" pitchFamily="34" charset="-122"/>
                <a:cs typeface="Arial" pitchFamily="34" charset="-120"/>
              </a:rPr>
              <a:t>payment releases</a:t>
            </a:r>
            <a:endParaRPr lang="en-US" sz="4500" dirty="0"/>
          </a:p>
        </p:txBody>
      </p:sp>
      <p:sp>
        <p:nvSpPr>
          <p:cNvPr id="11" name="Text 5"/>
          <p:cNvSpPr/>
          <p:nvPr/>
        </p:nvSpPr>
        <p:spPr>
          <a:xfrm>
            <a:off x="419100" y="3067050"/>
            <a:ext cx="4873002" cy="197815"/>
          </a:xfrm>
          <a:prstGeom prst="rect">
            <a:avLst/>
          </a:prstGeom>
          <a:noFill/>
          <a:ln/>
        </p:spPr>
        <p:txBody>
          <a:bodyPr wrap="none" lIns="0" tIns="0" rIns="0" bIns="0" rtlCol="0" anchor="ctr"/>
          <a:lstStyle/>
          <a:p>
            <a:pPr indent="0" marL="0">
              <a:buNone/>
            </a:pPr>
            <a:r>
              <a:rPr lang="en-US" sz="1350" dirty="0">
                <a:solidFill>
                  <a:srgbClr val="CFCFCF"/>
                </a:solidFill>
                <a:latin typeface="Arial" pitchFamily="34" charset="0"/>
                <a:ea typeface="Arial" pitchFamily="34" charset="-122"/>
                <a:cs typeface="Arial" pitchFamily="34" charset="-120"/>
              </a:rPr>
              <a:t>How LaunchDarkly lets a regulated EMEA bank ship more often</a:t>
            </a:r>
            <a:endParaRPr lang="en-US" sz="1350" dirty="0"/>
          </a:p>
        </p:txBody>
      </p:sp>
      <p:sp>
        <p:nvSpPr>
          <p:cNvPr id="12" name="Text 6"/>
          <p:cNvSpPr/>
          <p:nvPr/>
        </p:nvSpPr>
        <p:spPr>
          <a:xfrm>
            <a:off x="419100" y="3306961"/>
            <a:ext cx="1499068" cy="197815"/>
          </a:xfrm>
          <a:prstGeom prst="rect">
            <a:avLst/>
          </a:prstGeom>
          <a:noFill/>
          <a:ln/>
        </p:spPr>
        <p:txBody>
          <a:bodyPr wrap="none" lIns="0" tIns="0" rIns="0" bIns="0" rtlCol="0" anchor="ctr"/>
          <a:lstStyle/>
          <a:p>
            <a:pPr indent="0" marL="0">
              <a:buNone/>
            </a:pPr>
            <a:r>
              <a:rPr lang="en-US" sz="1350" dirty="0">
                <a:solidFill>
                  <a:srgbClr val="CFCFCF"/>
                </a:solidFill>
                <a:latin typeface="Arial" pitchFamily="34" charset="0"/>
                <a:ea typeface="Arial" pitchFamily="34" charset="-122"/>
                <a:cs typeface="Arial" pitchFamily="34" charset="-120"/>
              </a:rPr>
              <a:t>without raising risk.</a:t>
            </a:r>
            <a:endParaRPr lang="en-US" sz="1350" dirty="0"/>
          </a:p>
        </p:txBody>
      </p:sp>
      <p:sp>
        <p:nvSpPr>
          <p:cNvPr id="13" name="Text 7"/>
          <p:cNvSpPr/>
          <p:nvPr/>
        </p:nvSpPr>
        <p:spPr>
          <a:xfrm>
            <a:off x="419100" y="4676775"/>
            <a:ext cx="2106287" cy="150190"/>
          </a:xfrm>
          <a:prstGeom prst="rect">
            <a:avLst/>
          </a:prstGeom>
          <a:noFill/>
          <a:ln/>
        </p:spPr>
        <p:txBody>
          <a:bodyPr wrap="none" lIns="0" tIns="0" rIns="0" bIns="0" rtlCol="0" anchor="ctr"/>
          <a:lstStyle/>
          <a:p>
            <a:pPr indent="0" marL="0">
              <a:buNone/>
            </a:pPr>
            <a:r>
              <a:rPr lang="en-US" sz="975" dirty="0">
                <a:solidFill>
                  <a:srgbClr val="9A9A9A"/>
                </a:solidFill>
                <a:latin typeface="Arial" pitchFamily="34" charset="0"/>
                <a:ea typeface="Arial" pitchFamily="34" charset="-122"/>
                <a:cs typeface="Arial" pitchFamily="34" charset="-120"/>
              </a:rPr>
              <a:t>Solutions Engineering · October 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1381196"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Agenda</a:t>
            </a:r>
            <a:endParaRPr lang="en-US" sz="3000" dirty="0"/>
          </a:p>
        </p:txBody>
      </p:sp>
      <p:sp>
        <p:nvSpPr>
          <p:cNvPr id="4" name="Text 2"/>
          <p:cNvSpPr/>
          <p:nvPr/>
        </p:nvSpPr>
        <p:spPr>
          <a:xfrm>
            <a:off x="457200" y="838200"/>
            <a:ext cx="3712291"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45 minutes. Built around your goals, not a feature tour.</a:t>
            </a:r>
            <a:endParaRPr lang="en-US" sz="1200" dirty="0"/>
          </a:p>
        </p:txBody>
      </p:sp>
      <p:sp>
        <p:nvSpPr>
          <p:cNvPr id="5" name="Shape 3"/>
          <p:cNvSpPr/>
          <p:nvPr/>
        </p:nvSpPr>
        <p:spPr>
          <a:xfrm>
            <a:off x="381000" y="1428750"/>
            <a:ext cx="2679650" cy="2781300"/>
          </a:xfrm>
          <a:prstGeom prst="rect">
            <a:avLst/>
          </a:prstGeom>
          <a:solidFill>
            <a:srgbClr val="FFFFFF"/>
          </a:solidFill>
          <a:ln w="12700">
            <a:solidFill>
              <a:srgbClr val="333333">
                <a:alpha val="0"/>
              </a:srgbClr>
            </a:solidFill>
            <a:prstDash val="solid"/>
          </a:ln>
        </p:spPr>
      </p:sp>
      <p:sp>
        <p:nvSpPr>
          <p:cNvPr id="6" name="Shape 4"/>
          <p:cNvSpPr/>
          <p:nvPr/>
        </p:nvSpPr>
        <p:spPr>
          <a:xfrm>
            <a:off x="381000" y="1428750"/>
            <a:ext cx="2679650" cy="9525"/>
          </a:xfrm>
          <a:prstGeom prst="rect">
            <a:avLst/>
          </a:prstGeom>
          <a:solidFill>
            <a:srgbClr val="D9D9D9"/>
          </a:solidFill>
          <a:ln w="12700">
            <a:solidFill>
              <a:srgbClr val="333333">
                <a:alpha val="0"/>
              </a:srgbClr>
            </a:solidFill>
            <a:prstDash val="solid"/>
          </a:ln>
        </p:spPr>
      </p:sp>
      <p:sp>
        <p:nvSpPr>
          <p:cNvPr id="7" name="Shape 5"/>
          <p:cNvSpPr/>
          <p:nvPr/>
        </p:nvSpPr>
        <p:spPr>
          <a:xfrm>
            <a:off x="3051125" y="1428750"/>
            <a:ext cx="9525" cy="2781300"/>
          </a:xfrm>
          <a:prstGeom prst="rect">
            <a:avLst/>
          </a:prstGeom>
          <a:solidFill>
            <a:srgbClr val="D9D9D9"/>
          </a:solidFill>
          <a:ln w="12700">
            <a:solidFill>
              <a:srgbClr val="333333">
                <a:alpha val="0"/>
              </a:srgbClr>
            </a:solidFill>
            <a:prstDash val="solid"/>
          </a:ln>
        </p:spPr>
      </p:sp>
      <p:sp>
        <p:nvSpPr>
          <p:cNvPr id="8" name="Shape 6"/>
          <p:cNvSpPr/>
          <p:nvPr/>
        </p:nvSpPr>
        <p:spPr>
          <a:xfrm>
            <a:off x="381000" y="4200525"/>
            <a:ext cx="2679650" cy="9525"/>
          </a:xfrm>
          <a:prstGeom prst="rect">
            <a:avLst/>
          </a:prstGeom>
          <a:solidFill>
            <a:srgbClr val="D9D9D9"/>
          </a:solidFill>
          <a:ln w="12700">
            <a:solidFill>
              <a:srgbClr val="333333">
                <a:alpha val="0"/>
              </a:srgbClr>
            </a:solidFill>
            <a:prstDash val="solid"/>
          </a:ln>
        </p:spPr>
      </p:sp>
      <p:sp>
        <p:nvSpPr>
          <p:cNvPr id="9" name="Shape 7"/>
          <p:cNvSpPr/>
          <p:nvPr/>
        </p:nvSpPr>
        <p:spPr>
          <a:xfrm>
            <a:off x="381000" y="1428750"/>
            <a:ext cx="9525" cy="2781300"/>
          </a:xfrm>
          <a:prstGeom prst="rect">
            <a:avLst/>
          </a:prstGeom>
          <a:solidFill>
            <a:srgbClr val="D9D9D9"/>
          </a:solidFill>
          <a:ln w="12700">
            <a:solidFill>
              <a:srgbClr val="333333">
                <a:alpha val="0"/>
              </a:srgbClr>
            </a:solidFill>
            <a:prstDash val="solid"/>
          </a:ln>
        </p:spPr>
      </p:sp>
      <p:sp>
        <p:nvSpPr>
          <p:cNvPr id="10" name="Shape 8"/>
          <p:cNvSpPr/>
          <p:nvPr/>
        </p:nvSpPr>
        <p:spPr>
          <a:xfrm>
            <a:off x="390525" y="1438275"/>
            <a:ext cx="2660600" cy="95250"/>
          </a:xfrm>
          <a:prstGeom prst="rect">
            <a:avLst/>
          </a:prstGeom>
          <a:solidFill>
            <a:srgbClr val="405BFF"/>
          </a:solidFill>
          <a:ln w="12700">
            <a:solidFill>
              <a:srgbClr val="333333">
                <a:alpha val="0"/>
              </a:srgbClr>
            </a:solidFill>
            <a:prstDash val="solid"/>
          </a:ln>
        </p:spPr>
      </p:sp>
      <p:sp>
        <p:nvSpPr>
          <p:cNvPr id="11" name="Text 9"/>
          <p:cNvSpPr/>
          <p:nvPr/>
        </p:nvSpPr>
        <p:spPr>
          <a:xfrm>
            <a:off x="638175" y="1743075"/>
            <a:ext cx="438221"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15 MIN</a:t>
            </a:r>
            <a:endParaRPr lang="en-US" sz="900" dirty="0"/>
          </a:p>
        </p:txBody>
      </p:sp>
      <p:sp>
        <p:nvSpPr>
          <p:cNvPr id="12" name="Text 10"/>
          <p:cNvSpPr/>
          <p:nvPr/>
        </p:nvSpPr>
        <p:spPr>
          <a:xfrm>
            <a:off x="638175" y="1971675"/>
            <a:ext cx="316629"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01</a:t>
            </a:r>
            <a:endParaRPr lang="en-US" sz="1950" dirty="0"/>
          </a:p>
        </p:txBody>
      </p:sp>
      <p:sp>
        <p:nvSpPr>
          <p:cNvPr id="13" name="Text 11"/>
          <p:cNvSpPr/>
          <p:nvPr/>
        </p:nvSpPr>
        <p:spPr>
          <a:xfrm>
            <a:off x="638175" y="2324100"/>
            <a:ext cx="481530"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Our</a:t>
            </a:r>
            <a:endParaRPr lang="en-US" sz="1950" dirty="0"/>
          </a:p>
        </p:txBody>
      </p:sp>
      <p:sp>
        <p:nvSpPr>
          <p:cNvPr id="14" name="Text 12"/>
          <p:cNvSpPr/>
          <p:nvPr/>
        </p:nvSpPr>
        <p:spPr>
          <a:xfrm>
            <a:off x="638175" y="2619375"/>
            <a:ext cx="178853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Understanding</a:t>
            </a:r>
            <a:endParaRPr lang="en-US" sz="1950" dirty="0"/>
          </a:p>
        </p:txBody>
      </p:sp>
      <p:sp>
        <p:nvSpPr>
          <p:cNvPr id="15" name="Text 13"/>
          <p:cNvSpPr/>
          <p:nvPr/>
        </p:nvSpPr>
        <p:spPr>
          <a:xfrm>
            <a:off x="638175" y="3048000"/>
            <a:ext cx="2052560"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current state, the future state</a:t>
            </a:r>
            <a:endParaRPr lang="en-US" sz="1050" dirty="0"/>
          </a:p>
        </p:txBody>
      </p:sp>
      <p:sp>
        <p:nvSpPr>
          <p:cNvPr id="16" name="Text 14"/>
          <p:cNvSpPr/>
          <p:nvPr/>
        </p:nvSpPr>
        <p:spPr>
          <a:xfrm>
            <a:off x="638175" y="3241328"/>
            <a:ext cx="1620214"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 are aiming for, and the</a:t>
            </a:r>
            <a:endParaRPr lang="en-US" sz="1050" dirty="0"/>
          </a:p>
        </p:txBody>
      </p:sp>
      <p:sp>
        <p:nvSpPr>
          <p:cNvPr id="17" name="Text 15"/>
          <p:cNvSpPr/>
          <p:nvPr/>
        </p:nvSpPr>
        <p:spPr>
          <a:xfrm>
            <a:off x="638175" y="3434655"/>
            <a:ext cx="218352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capabilities that bridge them. Please</a:t>
            </a:r>
            <a:endParaRPr lang="en-US" sz="1050" dirty="0"/>
          </a:p>
        </p:txBody>
      </p:sp>
      <p:sp>
        <p:nvSpPr>
          <p:cNvPr id="18" name="Text 16"/>
          <p:cNvSpPr/>
          <p:nvPr/>
        </p:nvSpPr>
        <p:spPr>
          <a:xfrm>
            <a:off x="638175" y="3627983"/>
            <a:ext cx="1234452"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correct us as we go.</a:t>
            </a:r>
            <a:endParaRPr lang="en-US" sz="1050" dirty="0"/>
          </a:p>
        </p:txBody>
      </p:sp>
      <p:sp>
        <p:nvSpPr>
          <p:cNvPr id="19" name="Shape 17"/>
          <p:cNvSpPr/>
          <p:nvPr/>
        </p:nvSpPr>
        <p:spPr>
          <a:xfrm>
            <a:off x="3232100" y="1428750"/>
            <a:ext cx="2679799" cy="2781300"/>
          </a:xfrm>
          <a:prstGeom prst="rect">
            <a:avLst/>
          </a:prstGeom>
          <a:solidFill>
            <a:srgbClr val="FFFFFF"/>
          </a:solidFill>
          <a:ln w="12700">
            <a:solidFill>
              <a:srgbClr val="333333">
                <a:alpha val="0"/>
              </a:srgbClr>
            </a:solidFill>
            <a:prstDash val="solid"/>
          </a:ln>
        </p:spPr>
      </p:sp>
      <p:sp>
        <p:nvSpPr>
          <p:cNvPr id="20" name="Shape 18"/>
          <p:cNvSpPr/>
          <p:nvPr/>
        </p:nvSpPr>
        <p:spPr>
          <a:xfrm>
            <a:off x="3232100" y="1428750"/>
            <a:ext cx="2679799" cy="9525"/>
          </a:xfrm>
          <a:prstGeom prst="rect">
            <a:avLst/>
          </a:prstGeom>
          <a:solidFill>
            <a:srgbClr val="D9D9D9"/>
          </a:solidFill>
          <a:ln w="12700">
            <a:solidFill>
              <a:srgbClr val="333333">
                <a:alpha val="0"/>
              </a:srgbClr>
            </a:solidFill>
            <a:prstDash val="solid"/>
          </a:ln>
        </p:spPr>
      </p:sp>
      <p:sp>
        <p:nvSpPr>
          <p:cNvPr id="21" name="Shape 19"/>
          <p:cNvSpPr/>
          <p:nvPr/>
        </p:nvSpPr>
        <p:spPr>
          <a:xfrm>
            <a:off x="5902375" y="1428750"/>
            <a:ext cx="9525" cy="2781300"/>
          </a:xfrm>
          <a:prstGeom prst="rect">
            <a:avLst/>
          </a:prstGeom>
          <a:solidFill>
            <a:srgbClr val="D9D9D9"/>
          </a:solidFill>
          <a:ln w="12700">
            <a:solidFill>
              <a:srgbClr val="333333">
                <a:alpha val="0"/>
              </a:srgbClr>
            </a:solidFill>
            <a:prstDash val="solid"/>
          </a:ln>
        </p:spPr>
      </p:sp>
      <p:sp>
        <p:nvSpPr>
          <p:cNvPr id="22" name="Shape 20"/>
          <p:cNvSpPr/>
          <p:nvPr/>
        </p:nvSpPr>
        <p:spPr>
          <a:xfrm>
            <a:off x="3232100" y="4200525"/>
            <a:ext cx="2679799" cy="9525"/>
          </a:xfrm>
          <a:prstGeom prst="rect">
            <a:avLst/>
          </a:prstGeom>
          <a:solidFill>
            <a:srgbClr val="D9D9D9"/>
          </a:solidFill>
          <a:ln w="12700">
            <a:solidFill>
              <a:srgbClr val="333333">
                <a:alpha val="0"/>
              </a:srgbClr>
            </a:solidFill>
            <a:prstDash val="solid"/>
          </a:ln>
        </p:spPr>
      </p:sp>
      <p:sp>
        <p:nvSpPr>
          <p:cNvPr id="23" name="Shape 21"/>
          <p:cNvSpPr/>
          <p:nvPr/>
        </p:nvSpPr>
        <p:spPr>
          <a:xfrm>
            <a:off x="3232100" y="1428750"/>
            <a:ext cx="9525" cy="2781300"/>
          </a:xfrm>
          <a:prstGeom prst="rect">
            <a:avLst/>
          </a:prstGeom>
          <a:solidFill>
            <a:srgbClr val="D9D9D9"/>
          </a:solidFill>
          <a:ln w="12700">
            <a:solidFill>
              <a:srgbClr val="333333">
                <a:alpha val="0"/>
              </a:srgbClr>
            </a:solidFill>
            <a:prstDash val="solid"/>
          </a:ln>
        </p:spPr>
      </p:sp>
      <p:sp>
        <p:nvSpPr>
          <p:cNvPr id="24" name="Shape 22"/>
          <p:cNvSpPr/>
          <p:nvPr/>
        </p:nvSpPr>
        <p:spPr>
          <a:xfrm>
            <a:off x="3241625" y="1438275"/>
            <a:ext cx="2660749" cy="95250"/>
          </a:xfrm>
          <a:prstGeom prst="rect">
            <a:avLst/>
          </a:prstGeom>
          <a:solidFill>
            <a:srgbClr val="A34FDE"/>
          </a:solidFill>
          <a:ln w="12700">
            <a:solidFill>
              <a:srgbClr val="333333">
                <a:alpha val="0"/>
              </a:srgbClr>
            </a:solidFill>
            <a:prstDash val="solid"/>
          </a:ln>
        </p:spPr>
      </p:sp>
      <p:sp>
        <p:nvSpPr>
          <p:cNvPr id="25" name="Text 23"/>
          <p:cNvSpPr/>
          <p:nvPr/>
        </p:nvSpPr>
        <p:spPr>
          <a:xfrm>
            <a:off x="3489275" y="1743075"/>
            <a:ext cx="438221"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15 MIN</a:t>
            </a:r>
            <a:endParaRPr lang="en-US" sz="900" dirty="0"/>
          </a:p>
        </p:txBody>
      </p:sp>
      <p:sp>
        <p:nvSpPr>
          <p:cNvPr id="26" name="Text 24"/>
          <p:cNvSpPr/>
          <p:nvPr/>
        </p:nvSpPr>
        <p:spPr>
          <a:xfrm>
            <a:off x="3489275" y="1971675"/>
            <a:ext cx="316629" cy="293065"/>
          </a:xfrm>
          <a:prstGeom prst="rect">
            <a:avLst/>
          </a:prstGeom>
          <a:noFill/>
          <a:ln/>
        </p:spPr>
        <p:txBody>
          <a:bodyPr wrap="none" lIns="0" tIns="0" rIns="0" bIns="0" rtlCol="0" anchor="ctr"/>
          <a:lstStyle/>
          <a:p>
            <a:pPr indent="0" marL="0">
              <a:buNone/>
            </a:pPr>
            <a:r>
              <a:rPr lang="en-US" sz="1950" b="1" dirty="0">
                <a:solidFill>
                  <a:srgbClr val="A34FDE"/>
                </a:solidFill>
                <a:latin typeface="Arial" pitchFamily="34" charset="0"/>
                <a:ea typeface="Arial" pitchFamily="34" charset="-122"/>
                <a:cs typeface="Arial" pitchFamily="34" charset="-120"/>
              </a:rPr>
              <a:t>02</a:t>
            </a:r>
            <a:endParaRPr lang="en-US" sz="1950" dirty="0"/>
          </a:p>
        </p:txBody>
      </p:sp>
      <p:sp>
        <p:nvSpPr>
          <p:cNvPr id="27" name="Text 25"/>
          <p:cNvSpPr/>
          <p:nvPr/>
        </p:nvSpPr>
        <p:spPr>
          <a:xfrm>
            <a:off x="3489275" y="2324100"/>
            <a:ext cx="72932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Demo</a:t>
            </a:r>
            <a:endParaRPr lang="en-US" sz="1950" dirty="0"/>
          </a:p>
        </p:txBody>
      </p:sp>
      <p:sp>
        <p:nvSpPr>
          <p:cNvPr id="28" name="Text 26"/>
          <p:cNvSpPr/>
          <p:nvPr/>
        </p:nvSpPr>
        <p:spPr>
          <a:xfrm>
            <a:off x="3489275" y="2752725"/>
            <a:ext cx="212384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Tell, show, tell. What you will see, a</a:t>
            </a:r>
            <a:endParaRPr lang="en-US" sz="1050" dirty="0"/>
          </a:p>
        </p:txBody>
      </p:sp>
      <p:sp>
        <p:nvSpPr>
          <p:cNvPr id="29" name="Text 27"/>
          <p:cNvSpPr/>
          <p:nvPr/>
        </p:nvSpPr>
        <p:spPr>
          <a:xfrm>
            <a:off x="3489275" y="2946053"/>
            <a:ext cx="199808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live payments release mapped to</a:t>
            </a:r>
            <a:endParaRPr lang="en-US" sz="1050" dirty="0"/>
          </a:p>
        </p:txBody>
      </p:sp>
      <p:sp>
        <p:nvSpPr>
          <p:cNvPr id="30" name="Text 28"/>
          <p:cNvSpPr/>
          <p:nvPr/>
        </p:nvSpPr>
        <p:spPr>
          <a:xfrm>
            <a:off x="3489275" y="3139380"/>
            <a:ext cx="1968472"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required capabilities, then a</a:t>
            </a:r>
            <a:endParaRPr lang="en-US" sz="1050" dirty="0"/>
          </a:p>
        </p:txBody>
      </p:sp>
      <p:sp>
        <p:nvSpPr>
          <p:cNvPr id="31" name="Text 29"/>
          <p:cNvSpPr/>
          <p:nvPr/>
        </p:nvSpPr>
        <p:spPr>
          <a:xfrm>
            <a:off x="3489275" y="3332708"/>
            <a:ext cx="1946148"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checklist and where other banks</a:t>
            </a:r>
            <a:endParaRPr lang="en-US" sz="1050" dirty="0"/>
          </a:p>
        </p:txBody>
      </p:sp>
      <p:sp>
        <p:nvSpPr>
          <p:cNvPr id="32" name="Text 30"/>
          <p:cNvSpPr/>
          <p:nvPr/>
        </p:nvSpPr>
        <p:spPr>
          <a:xfrm>
            <a:off x="3489275" y="3526036"/>
            <a:ext cx="804785"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have done it.</a:t>
            </a:r>
            <a:endParaRPr lang="en-US" sz="1050" dirty="0"/>
          </a:p>
        </p:txBody>
      </p:sp>
      <p:sp>
        <p:nvSpPr>
          <p:cNvPr id="33" name="Shape 31"/>
          <p:cNvSpPr/>
          <p:nvPr/>
        </p:nvSpPr>
        <p:spPr>
          <a:xfrm>
            <a:off x="6083350" y="1428750"/>
            <a:ext cx="2679650" cy="2781300"/>
          </a:xfrm>
          <a:prstGeom prst="rect">
            <a:avLst/>
          </a:prstGeom>
          <a:solidFill>
            <a:srgbClr val="FFFFFF"/>
          </a:solidFill>
          <a:ln w="12700">
            <a:solidFill>
              <a:srgbClr val="333333">
                <a:alpha val="0"/>
              </a:srgbClr>
            </a:solidFill>
            <a:prstDash val="solid"/>
          </a:ln>
        </p:spPr>
      </p:sp>
      <p:sp>
        <p:nvSpPr>
          <p:cNvPr id="34" name="Shape 32"/>
          <p:cNvSpPr/>
          <p:nvPr/>
        </p:nvSpPr>
        <p:spPr>
          <a:xfrm>
            <a:off x="6083350" y="1428750"/>
            <a:ext cx="2679650" cy="9525"/>
          </a:xfrm>
          <a:prstGeom prst="rect">
            <a:avLst/>
          </a:prstGeom>
          <a:solidFill>
            <a:srgbClr val="D9D9D9"/>
          </a:solidFill>
          <a:ln w="12700">
            <a:solidFill>
              <a:srgbClr val="333333">
                <a:alpha val="0"/>
              </a:srgbClr>
            </a:solidFill>
            <a:prstDash val="solid"/>
          </a:ln>
        </p:spPr>
      </p:sp>
      <p:sp>
        <p:nvSpPr>
          <p:cNvPr id="35" name="Shape 33"/>
          <p:cNvSpPr/>
          <p:nvPr/>
        </p:nvSpPr>
        <p:spPr>
          <a:xfrm>
            <a:off x="8753475" y="1428750"/>
            <a:ext cx="9525" cy="2781300"/>
          </a:xfrm>
          <a:prstGeom prst="rect">
            <a:avLst/>
          </a:prstGeom>
          <a:solidFill>
            <a:srgbClr val="D9D9D9"/>
          </a:solidFill>
          <a:ln w="12700">
            <a:solidFill>
              <a:srgbClr val="333333">
                <a:alpha val="0"/>
              </a:srgbClr>
            </a:solidFill>
            <a:prstDash val="solid"/>
          </a:ln>
        </p:spPr>
      </p:sp>
      <p:sp>
        <p:nvSpPr>
          <p:cNvPr id="36" name="Shape 34"/>
          <p:cNvSpPr/>
          <p:nvPr/>
        </p:nvSpPr>
        <p:spPr>
          <a:xfrm>
            <a:off x="6083350" y="4200525"/>
            <a:ext cx="2679650" cy="9525"/>
          </a:xfrm>
          <a:prstGeom prst="rect">
            <a:avLst/>
          </a:prstGeom>
          <a:solidFill>
            <a:srgbClr val="D9D9D9"/>
          </a:solidFill>
          <a:ln w="12700">
            <a:solidFill>
              <a:srgbClr val="333333">
                <a:alpha val="0"/>
              </a:srgbClr>
            </a:solidFill>
            <a:prstDash val="solid"/>
          </a:ln>
        </p:spPr>
      </p:sp>
      <p:sp>
        <p:nvSpPr>
          <p:cNvPr id="37" name="Shape 35"/>
          <p:cNvSpPr/>
          <p:nvPr/>
        </p:nvSpPr>
        <p:spPr>
          <a:xfrm>
            <a:off x="6083350" y="1428750"/>
            <a:ext cx="9525" cy="2781300"/>
          </a:xfrm>
          <a:prstGeom prst="rect">
            <a:avLst/>
          </a:prstGeom>
          <a:solidFill>
            <a:srgbClr val="D9D9D9"/>
          </a:solidFill>
          <a:ln w="12700">
            <a:solidFill>
              <a:srgbClr val="333333">
                <a:alpha val="0"/>
              </a:srgbClr>
            </a:solidFill>
            <a:prstDash val="solid"/>
          </a:ln>
        </p:spPr>
      </p:sp>
      <p:sp>
        <p:nvSpPr>
          <p:cNvPr id="38" name="Shape 36"/>
          <p:cNvSpPr/>
          <p:nvPr/>
        </p:nvSpPr>
        <p:spPr>
          <a:xfrm>
            <a:off x="6092875" y="1438275"/>
            <a:ext cx="2660600" cy="95250"/>
          </a:xfrm>
          <a:prstGeom prst="rect">
            <a:avLst/>
          </a:prstGeom>
          <a:solidFill>
            <a:srgbClr val="FF3399"/>
          </a:solidFill>
          <a:ln w="12700">
            <a:solidFill>
              <a:srgbClr val="333333">
                <a:alpha val="0"/>
              </a:srgbClr>
            </a:solidFill>
            <a:prstDash val="solid"/>
          </a:ln>
        </p:spPr>
      </p:sp>
      <p:sp>
        <p:nvSpPr>
          <p:cNvPr id="39" name="Text 37"/>
          <p:cNvSpPr/>
          <p:nvPr/>
        </p:nvSpPr>
        <p:spPr>
          <a:xfrm>
            <a:off x="6340525" y="1743075"/>
            <a:ext cx="438221"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15 MIN</a:t>
            </a:r>
            <a:endParaRPr lang="en-US" sz="900" dirty="0"/>
          </a:p>
        </p:txBody>
      </p:sp>
      <p:sp>
        <p:nvSpPr>
          <p:cNvPr id="40" name="Text 38"/>
          <p:cNvSpPr/>
          <p:nvPr/>
        </p:nvSpPr>
        <p:spPr>
          <a:xfrm>
            <a:off x="6340525" y="1971675"/>
            <a:ext cx="316629" cy="293065"/>
          </a:xfrm>
          <a:prstGeom prst="rect">
            <a:avLst/>
          </a:prstGeom>
          <a:noFill/>
          <a:ln/>
        </p:spPr>
        <p:txBody>
          <a:bodyPr wrap="none" lIns="0" tIns="0" rIns="0" bIns="0" rtlCol="0" anchor="ctr"/>
          <a:lstStyle/>
          <a:p>
            <a:pPr indent="0" marL="0">
              <a:buNone/>
            </a:pPr>
            <a:r>
              <a:rPr lang="en-US" sz="1950" b="1" dirty="0">
                <a:solidFill>
                  <a:srgbClr val="FF3399"/>
                </a:solidFill>
                <a:latin typeface="Arial" pitchFamily="34" charset="0"/>
                <a:ea typeface="Arial" pitchFamily="34" charset="-122"/>
                <a:cs typeface="Arial" pitchFamily="34" charset="-120"/>
              </a:rPr>
              <a:t>03</a:t>
            </a:r>
            <a:endParaRPr lang="en-US" sz="1950" dirty="0"/>
          </a:p>
        </p:txBody>
      </p:sp>
      <p:sp>
        <p:nvSpPr>
          <p:cNvPr id="41" name="Text 39"/>
          <p:cNvSpPr/>
          <p:nvPr/>
        </p:nvSpPr>
        <p:spPr>
          <a:xfrm>
            <a:off x="6340525" y="2324100"/>
            <a:ext cx="132121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Next Steps</a:t>
            </a:r>
            <a:endParaRPr lang="en-US" sz="1950" dirty="0"/>
          </a:p>
        </p:txBody>
      </p:sp>
      <p:sp>
        <p:nvSpPr>
          <p:cNvPr id="42" name="Text 40"/>
          <p:cNvSpPr/>
          <p:nvPr/>
        </p:nvSpPr>
        <p:spPr>
          <a:xfrm>
            <a:off x="6340525" y="2752725"/>
            <a:ext cx="2201091"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concerns and questions, then a</a:t>
            </a:r>
            <a:endParaRPr lang="en-US" sz="1050" dirty="0"/>
          </a:p>
        </p:txBody>
      </p:sp>
      <p:sp>
        <p:nvSpPr>
          <p:cNvPr id="43" name="Text 41"/>
          <p:cNvSpPr/>
          <p:nvPr/>
        </p:nvSpPr>
        <p:spPr>
          <a:xfrm>
            <a:off x="6340525" y="2946053"/>
            <a:ext cx="2153614"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mutual plan from here to a pilot with</a:t>
            </a:r>
            <a:endParaRPr lang="en-US" sz="1050" dirty="0"/>
          </a:p>
        </p:txBody>
      </p:sp>
      <p:sp>
        <p:nvSpPr>
          <p:cNvPr id="44" name="Text 42"/>
          <p:cNvSpPr/>
          <p:nvPr/>
        </p:nvSpPr>
        <p:spPr>
          <a:xfrm>
            <a:off x="6340525" y="3139380"/>
            <a:ext cx="1456950"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clear owners and dates.</a:t>
            </a:r>
            <a:endParaRPr lang="en-US" sz="1050" dirty="0"/>
          </a:p>
        </p:txBody>
      </p:sp>
      <p:sp>
        <p:nvSpPr>
          <p:cNvPr id="45" name="Shape 4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4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405BFF"/>
                </a:solidFill>
                <a:latin typeface="Arial" pitchFamily="34" charset="0"/>
                <a:ea typeface="Arial" pitchFamily="34" charset="-122"/>
                <a:cs typeface="Arial" pitchFamily="34" charset="-120"/>
              </a:rPr>
              <a:t>01</a:t>
            </a:r>
            <a:endParaRPr lang="en-US" sz="4050" dirty="0"/>
          </a:p>
        </p:txBody>
      </p:sp>
      <p:sp>
        <p:nvSpPr>
          <p:cNvPr id="4" name="Text 2"/>
          <p:cNvSpPr/>
          <p:nvPr/>
        </p:nvSpPr>
        <p:spPr>
          <a:xfrm>
            <a:off x="457200" y="1981200"/>
            <a:ext cx="5965847"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Our Understanding</a:t>
            </a:r>
            <a:endParaRPr lang="en-US" sz="5400" dirty="0"/>
          </a:p>
        </p:txBody>
      </p:sp>
      <p:sp>
        <p:nvSpPr>
          <p:cNvPr id="5" name="Text 3"/>
          <p:cNvSpPr/>
          <p:nvPr/>
        </p:nvSpPr>
        <p:spPr>
          <a:xfrm>
            <a:off x="457200" y="2895600"/>
            <a:ext cx="2001214"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The why, before the what.</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228600"/>
            <a:ext cx="2830038" cy="369265"/>
          </a:xfrm>
          <a:prstGeom prst="rect">
            <a:avLst/>
          </a:prstGeom>
          <a:noFill/>
          <a:ln/>
        </p:spPr>
        <p:txBody>
          <a:bodyPr wrap="none" lIns="0" tIns="0" rIns="0" bIns="0" rtlCol="0" anchor="ctr"/>
          <a:lstStyle/>
          <a:p>
            <a:pPr indent="0" marL="0">
              <a:buNone/>
            </a:pPr>
            <a:r>
              <a:rPr lang="en-US" sz="2550" b="1" spc="-75" kern="0" dirty="0">
                <a:solidFill>
                  <a:srgbClr val="1A1A1A"/>
                </a:solidFill>
                <a:latin typeface="Arial" pitchFamily="34" charset="0"/>
                <a:ea typeface="Arial" pitchFamily="34" charset="-122"/>
                <a:cs typeface="Arial" pitchFamily="34" charset="-120"/>
              </a:rPr>
              <a:t>Our Understanding</a:t>
            </a:r>
            <a:endParaRPr lang="en-US" sz="2550" dirty="0"/>
          </a:p>
        </p:txBody>
      </p:sp>
      <p:sp>
        <p:nvSpPr>
          <p:cNvPr id="4" name="Text 2"/>
          <p:cNvSpPr/>
          <p:nvPr/>
        </p:nvSpPr>
        <p:spPr>
          <a:xfrm>
            <a:off x="457200" y="644723"/>
            <a:ext cx="4641723" cy="159715"/>
          </a:xfrm>
          <a:prstGeom prst="rect">
            <a:avLst/>
          </a:prstGeom>
          <a:noFill/>
          <a:ln/>
        </p:spPr>
        <p:txBody>
          <a:bodyPr wrap="none" lIns="0" tIns="0" rIns="0" bIns="0" rtlCol="0" anchor="ctr"/>
          <a:lstStyle/>
          <a:p>
            <a:pPr indent="0" marL="0">
              <a:buNone/>
            </a:pPr>
            <a:r>
              <a:rPr lang="en-US" sz="1050" i="1" dirty="0">
                <a:solidFill>
                  <a:srgbClr val="707070"/>
                </a:solidFill>
                <a:latin typeface="Arial" pitchFamily="34" charset="0"/>
                <a:ea typeface="Arial" pitchFamily="34" charset="-122"/>
                <a:cs typeface="Arial" pitchFamily="34" charset="-120"/>
              </a:rPr>
              <a:t>Where Northwind is today, where it wants to be, and what it takes to get there.</a:t>
            </a:r>
            <a:endParaRPr lang="en-US" sz="1050" dirty="0"/>
          </a:p>
        </p:txBody>
      </p:sp>
      <p:sp>
        <p:nvSpPr>
          <p:cNvPr id="5" name="Shape 3"/>
          <p:cNvSpPr/>
          <p:nvPr/>
        </p:nvSpPr>
        <p:spPr>
          <a:xfrm>
            <a:off x="457200" y="990600"/>
            <a:ext cx="4038600" cy="1905000"/>
          </a:xfrm>
          <a:prstGeom prst="rect">
            <a:avLst/>
          </a:prstGeom>
          <a:solidFill>
            <a:srgbClr val="FFFFFF"/>
          </a:solidFill>
          <a:ln w="12700">
            <a:solidFill>
              <a:srgbClr val="333333">
                <a:alpha val="0"/>
              </a:srgbClr>
            </a:solidFill>
            <a:prstDash val="solid"/>
          </a:ln>
        </p:spPr>
      </p:sp>
      <p:sp>
        <p:nvSpPr>
          <p:cNvPr id="6" name="Shape 4"/>
          <p:cNvSpPr/>
          <p:nvPr/>
        </p:nvSpPr>
        <p:spPr>
          <a:xfrm>
            <a:off x="457200" y="990600"/>
            <a:ext cx="4038600" cy="9525"/>
          </a:xfrm>
          <a:prstGeom prst="rect">
            <a:avLst/>
          </a:prstGeom>
          <a:solidFill>
            <a:srgbClr val="D9D9D9"/>
          </a:solidFill>
          <a:ln w="12700">
            <a:solidFill>
              <a:srgbClr val="333333">
                <a:alpha val="0"/>
              </a:srgbClr>
            </a:solidFill>
            <a:prstDash val="solid"/>
          </a:ln>
        </p:spPr>
      </p:sp>
      <p:sp>
        <p:nvSpPr>
          <p:cNvPr id="7" name="Shape 5"/>
          <p:cNvSpPr/>
          <p:nvPr/>
        </p:nvSpPr>
        <p:spPr>
          <a:xfrm>
            <a:off x="4486275" y="990600"/>
            <a:ext cx="9525" cy="1905000"/>
          </a:xfrm>
          <a:prstGeom prst="rect">
            <a:avLst/>
          </a:prstGeom>
          <a:solidFill>
            <a:srgbClr val="D9D9D9"/>
          </a:solidFill>
          <a:ln w="12700">
            <a:solidFill>
              <a:srgbClr val="333333">
                <a:alpha val="0"/>
              </a:srgbClr>
            </a:solidFill>
            <a:prstDash val="solid"/>
          </a:ln>
        </p:spPr>
      </p:sp>
      <p:sp>
        <p:nvSpPr>
          <p:cNvPr id="8" name="Shape 6"/>
          <p:cNvSpPr/>
          <p:nvPr/>
        </p:nvSpPr>
        <p:spPr>
          <a:xfrm>
            <a:off x="457200" y="2886075"/>
            <a:ext cx="40386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990600"/>
            <a:ext cx="9525" cy="1905000"/>
          </a:xfrm>
          <a:prstGeom prst="rect">
            <a:avLst/>
          </a:prstGeom>
          <a:solidFill>
            <a:srgbClr val="D9D9D9"/>
          </a:solidFill>
          <a:ln w="12700">
            <a:solidFill>
              <a:srgbClr val="333333">
                <a:alpha val="0"/>
              </a:srgbClr>
            </a:solidFill>
            <a:prstDash val="solid"/>
          </a:ln>
        </p:spPr>
      </p:sp>
      <p:sp>
        <p:nvSpPr>
          <p:cNvPr id="10" name="Shape 8"/>
          <p:cNvSpPr/>
          <p:nvPr/>
        </p:nvSpPr>
        <p:spPr>
          <a:xfrm>
            <a:off x="466725" y="1000125"/>
            <a:ext cx="4019550" cy="57150"/>
          </a:xfrm>
          <a:prstGeom prst="rect">
            <a:avLst/>
          </a:prstGeom>
          <a:solidFill>
            <a:srgbClr val="FF3399"/>
          </a:solidFill>
          <a:ln w="12700">
            <a:solidFill>
              <a:srgbClr val="333333">
                <a:alpha val="0"/>
              </a:srgbClr>
            </a:solidFill>
            <a:prstDash val="solid"/>
          </a:ln>
        </p:spPr>
      </p:sp>
      <p:sp>
        <p:nvSpPr>
          <p:cNvPr id="11" name="Text 9"/>
          <p:cNvSpPr/>
          <p:nvPr/>
        </p:nvSpPr>
        <p:spPr>
          <a:xfrm>
            <a:off x="619125" y="1152525"/>
            <a:ext cx="1087856"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CURRENT STATE </a:t>
            </a:r>
            <a:endParaRPr lang="en-US" sz="900" dirty="0"/>
          </a:p>
        </p:txBody>
      </p:sp>
      <p:sp>
        <p:nvSpPr>
          <p:cNvPr id="12" name="Text 10"/>
          <p:cNvSpPr/>
          <p:nvPr/>
        </p:nvSpPr>
        <p:spPr>
          <a:xfrm>
            <a:off x="1665833" y="1152525"/>
            <a:ext cx="1254246" cy="140665"/>
          </a:xfrm>
          <a:prstGeom prst="rect">
            <a:avLst/>
          </a:prstGeom>
          <a:noFill/>
          <a:ln/>
        </p:spPr>
        <p:txBody>
          <a:bodyPr wrap="none" lIns="0" tIns="0" rIns="0" bIns="0" rtlCol="0" anchor="ctr"/>
          <a:lstStyle/>
          <a:p>
            <a:pPr indent="0" marL="0">
              <a:buNone/>
            </a:pPr>
            <a:r>
              <a:rPr lang="en-US" sz="900" b="1" dirty="0">
                <a:solidFill>
                  <a:srgbClr val="8A8A8A"/>
                </a:solidFill>
                <a:latin typeface="Arial" pitchFamily="34" charset="0"/>
                <a:ea typeface="Arial" pitchFamily="34" charset="-122"/>
                <a:cs typeface="Arial" pitchFamily="34" charset="-120"/>
              </a:rPr>
              <a:t>· pain → consequence</a:t>
            </a:r>
            <a:endParaRPr lang="en-US" sz="900" dirty="0"/>
          </a:p>
        </p:txBody>
      </p:sp>
      <p:sp>
        <p:nvSpPr>
          <p:cNvPr id="13" name="Text 11"/>
          <p:cNvSpPr/>
          <p:nvPr/>
        </p:nvSpPr>
        <p:spPr>
          <a:xfrm>
            <a:off x="619125" y="1362075"/>
            <a:ext cx="2302443"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All-or-nothing releases to every customer</a:t>
            </a:r>
            <a:endParaRPr lang="en-US" sz="900" dirty="0"/>
          </a:p>
        </p:txBody>
      </p:sp>
      <p:sp>
        <p:nvSpPr>
          <p:cNvPr id="14" name="Text 12"/>
          <p:cNvSpPr/>
          <p:nvPr/>
        </p:nvSpPr>
        <p:spPr>
          <a:xfrm>
            <a:off x="619125" y="1510605"/>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15" name="Text 13"/>
          <p:cNvSpPr/>
          <p:nvPr/>
        </p:nvSpPr>
        <p:spPr>
          <a:xfrm>
            <a:off x="765274" y="1510605"/>
            <a:ext cx="265903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one defect can disrupt payments for the whole base</a:t>
            </a:r>
            <a:endParaRPr lang="en-US" sz="900" dirty="0"/>
          </a:p>
        </p:txBody>
      </p:sp>
      <p:sp>
        <p:nvSpPr>
          <p:cNvPr id="16" name="Text 14"/>
          <p:cNvSpPr/>
          <p:nvPr/>
        </p:nvSpPr>
        <p:spPr>
          <a:xfrm>
            <a:off x="619125" y="1725811"/>
            <a:ext cx="279759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Rollback needs a redeploy through change control</a:t>
            </a:r>
            <a:endParaRPr lang="en-US" sz="900" dirty="0"/>
          </a:p>
        </p:txBody>
      </p:sp>
      <p:sp>
        <p:nvSpPr>
          <p:cNvPr id="17" name="Text 15"/>
          <p:cNvSpPr/>
          <p:nvPr/>
        </p:nvSpPr>
        <p:spPr>
          <a:xfrm>
            <a:off x="619125" y="1874341"/>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18" name="Text 16"/>
          <p:cNvSpPr/>
          <p:nvPr/>
        </p:nvSpPr>
        <p:spPr>
          <a:xfrm>
            <a:off x="765274" y="1874341"/>
            <a:ext cx="259548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incidents last hours and become reportable events</a:t>
            </a:r>
            <a:endParaRPr lang="en-US" sz="900" dirty="0"/>
          </a:p>
        </p:txBody>
      </p:sp>
      <p:sp>
        <p:nvSpPr>
          <p:cNvPr id="19" name="Text 17"/>
          <p:cNvSpPr/>
          <p:nvPr/>
        </p:nvSpPr>
        <p:spPr>
          <a:xfrm>
            <a:off x="619125" y="2089547"/>
            <a:ext cx="154029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No release-level monitoring</a:t>
            </a:r>
            <a:endParaRPr lang="en-US" sz="900" dirty="0"/>
          </a:p>
        </p:txBody>
      </p:sp>
      <p:sp>
        <p:nvSpPr>
          <p:cNvPr id="20" name="Text 18"/>
          <p:cNvSpPr/>
          <p:nvPr/>
        </p:nvSpPr>
        <p:spPr>
          <a:xfrm>
            <a:off x="619125" y="2238077"/>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21" name="Text 19"/>
          <p:cNvSpPr/>
          <p:nvPr/>
        </p:nvSpPr>
        <p:spPr>
          <a:xfrm>
            <a:off x="765274" y="2238077"/>
            <a:ext cx="2423886"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regressions found through complaints, not data</a:t>
            </a:r>
            <a:endParaRPr lang="en-US" sz="900" dirty="0"/>
          </a:p>
        </p:txBody>
      </p:sp>
      <p:sp>
        <p:nvSpPr>
          <p:cNvPr id="22" name="Text 20"/>
          <p:cNvSpPr/>
          <p:nvPr/>
        </p:nvSpPr>
        <p:spPr>
          <a:xfrm>
            <a:off x="619125" y="2453283"/>
            <a:ext cx="2156740"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Same heavy approval for every change</a:t>
            </a:r>
            <a:endParaRPr lang="en-US" sz="900" dirty="0"/>
          </a:p>
        </p:txBody>
      </p:sp>
      <p:sp>
        <p:nvSpPr>
          <p:cNvPr id="23" name="Text 21"/>
          <p:cNvSpPr/>
          <p:nvPr/>
        </p:nvSpPr>
        <p:spPr>
          <a:xfrm>
            <a:off x="619125" y="2601813"/>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24" name="Text 22"/>
          <p:cNvSpPr/>
          <p:nvPr/>
        </p:nvSpPr>
        <p:spPr>
          <a:xfrm>
            <a:off x="765274" y="2601813"/>
            <a:ext cx="269683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monthly release train, slower than digital challengers</a:t>
            </a:r>
            <a:endParaRPr lang="en-US" sz="900" dirty="0"/>
          </a:p>
        </p:txBody>
      </p:sp>
      <p:sp>
        <p:nvSpPr>
          <p:cNvPr id="25" name="Shape 23"/>
          <p:cNvSpPr/>
          <p:nvPr/>
        </p:nvSpPr>
        <p:spPr>
          <a:xfrm>
            <a:off x="4648200" y="990600"/>
            <a:ext cx="4038600" cy="1905000"/>
          </a:xfrm>
          <a:prstGeom prst="rect">
            <a:avLst/>
          </a:prstGeom>
          <a:solidFill>
            <a:srgbClr val="FFFFFF"/>
          </a:solidFill>
          <a:ln w="12700">
            <a:solidFill>
              <a:srgbClr val="333333">
                <a:alpha val="0"/>
              </a:srgbClr>
            </a:solidFill>
            <a:prstDash val="solid"/>
          </a:ln>
        </p:spPr>
      </p:sp>
      <p:sp>
        <p:nvSpPr>
          <p:cNvPr id="26" name="Shape 24"/>
          <p:cNvSpPr/>
          <p:nvPr/>
        </p:nvSpPr>
        <p:spPr>
          <a:xfrm>
            <a:off x="4648200" y="990600"/>
            <a:ext cx="4038600" cy="9525"/>
          </a:xfrm>
          <a:prstGeom prst="rect">
            <a:avLst/>
          </a:prstGeom>
          <a:solidFill>
            <a:srgbClr val="D9D9D9"/>
          </a:solidFill>
          <a:ln w="12700">
            <a:solidFill>
              <a:srgbClr val="333333">
                <a:alpha val="0"/>
              </a:srgbClr>
            </a:solidFill>
            <a:prstDash val="solid"/>
          </a:ln>
        </p:spPr>
      </p:sp>
      <p:sp>
        <p:nvSpPr>
          <p:cNvPr id="27" name="Shape 25"/>
          <p:cNvSpPr/>
          <p:nvPr/>
        </p:nvSpPr>
        <p:spPr>
          <a:xfrm>
            <a:off x="8677275" y="990600"/>
            <a:ext cx="9525" cy="1905000"/>
          </a:xfrm>
          <a:prstGeom prst="rect">
            <a:avLst/>
          </a:prstGeom>
          <a:solidFill>
            <a:srgbClr val="D9D9D9"/>
          </a:solidFill>
          <a:ln w="12700">
            <a:solidFill>
              <a:srgbClr val="333333">
                <a:alpha val="0"/>
              </a:srgbClr>
            </a:solidFill>
            <a:prstDash val="solid"/>
          </a:ln>
        </p:spPr>
      </p:sp>
      <p:sp>
        <p:nvSpPr>
          <p:cNvPr id="28" name="Shape 26"/>
          <p:cNvSpPr/>
          <p:nvPr/>
        </p:nvSpPr>
        <p:spPr>
          <a:xfrm>
            <a:off x="4648200" y="2886075"/>
            <a:ext cx="4038600" cy="9525"/>
          </a:xfrm>
          <a:prstGeom prst="rect">
            <a:avLst/>
          </a:prstGeom>
          <a:solidFill>
            <a:srgbClr val="D9D9D9"/>
          </a:solidFill>
          <a:ln w="12700">
            <a:solidFill>
              <a:srgbClr val="333333">
                <a:alpha val="0"/>
              </a:srgbClr>
            </a:solidFill>
            <a:prstDash val="solid"/>
          </a:ln>
        </p:spPr>
      </p:sp>
      <p:sp>
        <p:nvSpPr>
          <p:cNvPr id="29" name="Shape 27"/>
          <p:cNvSpPr/>
          <p:nvPr/>
        </p:nvSpPr>
        <p:spPr>
          <a:xfrm>
            <a:off x="4648200" y="990600"/>
            <a:ext cx="9525" cy="1905000"/>
          </a:xfrm>
          <a:prstGeom prst="rect">
            <a:avLst/>
          </a:prstGeom>
          <a:solidFill>
            <a:srgbClr val="D9D9D9"/>
          </a:solidFill>
          <a:ln w="12700">
            <a:solidFill>
              <a:srgbClr val="333333">
                <a:alpha val="0"/>
              </a:srgbClr>
            </a:solidFill>
            <a:prstDash val="solid"/>
          </a:ln>
        </p:spPr>
      </p:sp>
      <p:sp>
        <p:nvSpPr>
          <p:cNvPr id="30" name="Shape 28"/>
          <p:cNvSpPr/>
          <p:nvPr/>
        </p:nvSpPr>
        <p:spPr>
          <a:xfrm>
            <a:off x="4657725" y="1000125"/>
            <a:ext cx="4019550" cy="57150"/>
          </a:xfrm>
          <a:prstGeom prst="rect">
            <a:avLst/>
          </a:prstGeom>
          <a:solidFill>
            <a:srgbClr val="405BFF"/>
          </a:solidFill>
          <a:ln w="12700">
            <a:solidFill>
              <a:srgbClr val="333333">
                <a:alpha val="0"/>
              </a:srgbClr>
            </a:solidFill>
            <a:prstDash val="solid"/>
          </a:ln>
        </p:spPr>
      </p:sp>
      <p:sp>
        <p:nvSpPr>
          <p:cNvPr id="31" name="Text 29"/>
          <p:cNvSpPr/>
          <p:nvPr/>
        </p:nvSpPr>
        <p:spPr>
          <a:xfrm>
            <a:off x="4943475" y="1152525"/>
            <a:ext cx="987844"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FUTURE STATE </a:t>
            </a:r>
            <a:endParaRPr lang="en-US" sz="900" dirty="0"/>
          </a:p>
        </p:txBody>
      </p:sp>
      <p:sp>
        <p:nvSpPr>
          <p:cNvPr id="32" name="Text 30"/>
          <p:cNvSpPr/>
          <p:nvPr/>
        </p:nvSpPr>
        <p:spPr>
          <a:xfrm>
            <a:off x="5890171" y="1152525"/>
            <a:ext cx="1609945" cy="140665"/>
          </a:xfrm>
          <a:prstGeom prst="rect">
            <a:avLst/>
          </a:prstGeom>
          <a:noFill/>
          <a:ln/>
        </p:spPr>
        <p:txBody>
          <a:bodyPr wrap="none" lIns="0" tIns="0" rIns="0" bIns="0" rtlCol="0" anchor="ctr"/>
          <a:lstStyle/>
          <a:p>
            <a:pPr indent="0" marL="0">
              <a:buNone/>
            </a:pPr>
            <a:r>
              <a:rPr lang="en-US" sz="900" b="1" dirty="0">
                <a:solidFill>
                  <a:srgbClr val="8A8A8A"/>
                </a:solidFill>
                <a:latin typeface="Arial" pitchFamily="34" charset="0"/>
                <a:ea typeface="Arial" pitchFamily="34" charset="-122"/>
                <a:cs typeface="Arial" pitchFamily="34" charset="-120"/>
              </a:rPr>
              <a:t>· target → business outcome</a:t>
            </a:r>
            <a:endParaRPr lang="en-US" sz="900" dirty="0"/>
          </a:p>
        </p:txBody>
      </p:sp>
      <p:sp>
        <p:nvSpPr>
          <p:cNvPr id="33" name="Text 31"/>
          <p:cNvSpPr/>
          <p:nvPr/>
        </p:nvSpPr>
        <p:spPr>
          <a:xfrm>
            <a:off x="4943475" y="1362075"/>
            <a:ext cx="2505742"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Progressive release: staff, beta, then % of UK</a:t>
            </a:r>
            <a:endParaRPr lang="en-US" sz="900" dirty="0"/>
          </a:p>
        </p:txBody>
      </p:sp>
      <p:sp>
        <p:nvSpPr>
          <p:cNvPr id="34" name="Text 32"/>
          <p:cNvSpPr/>
          <p:nvPr/>
        </p:nvSpPr>
        <p:spPr>
          <a:xfrm>
            <a:off x="4943475" y="1510605"/>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35" name="Text 33"/>
          <p:cNvSpPr/>
          <p:nvPr/>
        </p:nvSpPr>
        <p:spPr>
          <a:xfrm>
            <a:off x="5089624" y="1510605"/>
            <a:ext cx="2531638"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a defect reaches a few customers, not all of them</a:t>
            </a:r>
            <a:endParaRPr lang="en-US" sz="900" dirty="0"/>
          </a:p>
        </p:txBody>
      </p:sp>
      <p:sp>
        <p:nvSpPr>
          <p:cNvPr id="36" name="Text 34"/>
          <p:cNvSpPr/>
          <p:nvPr/>
        </p:nvSpPr>
        <p:spPr>
          <a:xfrm>
            <a:off x="4943475" y="1725811"/>
            <a:ext cx="1520946"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Rollback by flag, no deploy</a:t>
            </a:r>
            <a:endParaRPr lang="en-US" sz="900" dirty="0"/>
          </a:p>
        </p:txBody>
      </p:sp>
      <p:sp>
        <p:nvSpPr>
          <p:cNvPr id="37" name="Text 35"/>
          <p:cNvSpPr/>
          <p:nvPr/>
        </p:nvSpPr>
        <p:spPr>
          <a:xfrm>
            <a:off x="4943475" y="1874341"/>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38" name="Text 36"/>
          <p:cNvSpPr/>
          <p:nvPr/>
        </p:nvSpPr>
        <p:spPr>
          <a:xfrm>
            <a:off x="5089624" y="1874341"/>
            <a:ext cx="2912936"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shorter incidents and evidence for resilience assessment</a:t>
            </a:r>
            <a:endParaRPr lang="en-US" sz="900" dirty="0"/>
          </a:p>
        </p:txBody>
      </p:sp>
      <p:sp>
        <p:nvSpPr>
          <p:cNvPr id="39" name="Text 37"/>
          <p:cNvSpPr/>
          <p:nvPr/>
        </p:nvSpPr>
        <p:spPr>
          <a:xfrm>
            <a:off x="4943475" y="2089547"/>
            <a:ext cx="216894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Rollouts gated on live payment metrics</a:t>
            </a:r>
            <a:endParaRPr lang="en-US" sz="900" dirty="0"/>
          </a:p>
        </p:txBody>
      </p:sp>
      <p:sp>
        <p:nvSpPr>
          <p:cNvPr id="40" name="Text 38"/>
          <p:cNvSpPr/>
          <p:nvPr/>
        </p:nvSpPr>
        <p:spPr>
          <a:xfrm>
            <a:off x="4943475" y="2238077"/>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41" name="Text 39"/>
          <p:cNvSpPr/>
          <p:nvPr/>
        </p:nvSpPr>
        <p:spPr>
          <a:xfrm>
            <a:off x="5089624" y="2238077"/>
            <a:ext cx="258283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widen exposure on evidence; ship with confidence</a:t>
            </a:r>
            <a:endParaRPr lang="en-US" sz="900" dirty="0"/>
          </a:p>
        </p:txBody>
      </p:sp>
      <p:sp>
        <p:nvSpPr>
          <p:cNvPr id="42" name="Text 40"/>
          <p:cNvSpPr/>
          <p:nvPr/>
        </p:nvSpPr>
        <p:spPr>
          <a:xfrm>
            <a:off x="4943475" y="2453283"/>
            <a:ext cx="2715887"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Deploy separated from release, market by market</a:t>
            </a:r>
            <a:endParaRPr lang="en-US" sz="900" dirty="0"/>
          </a:p>
        </p:txBody>
      </p:sp>
      <p:sp>
        <p:nvSpPr>
          <p:cNvPr id="43" name="Text 41"/>
          <p:cNvSpPr/>
          <p:nvPr/>
        </p:nvSpPr>
        <p:spPr>
          <a:xfrm>
            <a:off x="4943475" y="2601813"/>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44" name="Text 42"/>
          <p:cNvSpPr/>
          <p:nvPr/>
        </p:nvSpPr>
        <p:spPr>
          <a:xfrm>
            <a:off x="5089624" y="2601813"/>
            <a:ext cx="3103882"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weekly cadence; launch as soon as each regulator approves</a:t>
            </a:r>
            <a:endParaRPr lang="en-US" sz="900" dirty="0"/>
          </a:p>
        </p:txBody>
      </p:sp>
      <p:sp>
        <p:nvSpPr>
          <p:cNvPr id="45" name="Shape 43"/>
          <p:cNvSpPr/>
          <p:nvPr/>
        </p:nvSpPr>
        <p:spPr>
          <a:xfrm>
            <a:off x="457200" y="2990850"/>
            <a:ext cx="8229600" cy="1619250"/>
          </a:xfrm>
          <a:prstGeom prst="rect">
            <a:avLst/>
          </a:prstGeom>
          <a:solidFill>
            <a:srgbClr val="1A1A1A"/>
          </a:solidFill>
          <a:ln w="12700">
            <a:solidFill>
              <a:srgbClr val="333333">
                <a:alpha val="0"/>
              </a:srgbClr>
            </a:solidFill>
            <a:prstDash val="solid"/>
          </a:ln>
        </p:spPr>
      </p:sp>
      <p:sp>
        <p:nvSpPr>
          <p:cNvPr id="46" name="Text 44"/>
          <p:cNvSpPr/>
          <p:nvPr/>
        </p:nvSpPr>
        <p:spPr>
          <a:xfrm>
            <a:off x="609600" y="3086100"/>
            <a:ext cx="1598188"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REQUIRED CAPABILITIES </a:t>
            </a:r>
            <a:endParaRPr lang="en-US" sz="900" dirty="0"/>
          </a:p>
        </p:txBody>
      </p:sp>
      <p:sp>
        <p:nvSpPr>
          <p:cNvPr id="47" name="Text 45"/>
          <p:cNvSpPr/>
          <p:nvPr/>
        </p:nvSpPr>
        <p:spPr>
          <a:xfrm>
            <a:off x="2166640" y="3086100"/>
            <a:ext cx="2562743" cy="140665"/>
          </a:xfrm>
          <a:prstGeom prst="rect">
            <a:avLst/>
          </a:prstGeom>
          <a:noFill/>
          <a:ln/>
        </p:spPr>
        <p:txBody>
          <a:bodyPr wrap="none" lIns="0" tIns="0" rIns="0" bIns="0" rtlCol="0" anchor="ctr"/>
          <a:lstStyle/>
          <a:p>
            <a:pPr indent="0" marL="0">
              <a:buNone/>
            </a:pPr>
            <a:r>
              <a:rPr lang="en-US" sz="900" b="1" dirty="0">
                <a:solidFill>
                  <a:srgbClr val="9A9A9A"/>
                </a:solidFill>
                <a:latin typeface="Arial" pitchFamily="34" charset="0"/>
                <a:ea typeface="Arial" pitchFamily="34" charset="-122"/>
                <a:cs typeface="Arial" pitchFamily="34" charset="-120"/>
              </a:rPr>
              <a:t>· capability → metric it moves (vendor-neutral)</a:t>
            </a:r>
            <a:endParaRPr lang="en-US" sz="900" dirty="0"/>
          </a:p>
        </p:txBody>
      </p:sp>
      <p:sp>
        <p:nvSpPr>
          <p:cNvPr id="48" name="Shape 46"/>
          <p:cNvSpPr/>
          <p:nvPr/>
        </p:nvSpPr>
        <p:spPr>
          <a:xfrm>
            <a:off x="609600" y="3501628"/>
            <a:ext cx="7924800" cy="9525"/>
          </a:xfrm>
          <a:prstGeom prst="rect">
            <a:avLst/>
          </a:prstGeom>
          <a:solidFill>
            <a:srgbClr val="333333"/>
          </a:solidFill>
          <a:ln w="12700">
            <a:solidFill>
              <a:srgbClr val="333333">
                <a:alpha val="0"/>
              </a:srgbClr>
            </a:solidFill>
            <a:prstDash val="solid"/>
          </a:ln>
        </p:spPr>
      </p:sp>
      <p:sp>
        <p:nvSpPr>
          <p:cNvPr id="49" name="Text 47"/>
          <p:cNvSpPr/>
          <p:nvPr/>
        </p:nvSpPr>
        <p:spPr>
          <a:xfrm>
            <a:off x="609600" y="3314700"/>
            <a:ext cx="1913257"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 rollouts and granular targeting</a:t>
            </a:r>
            <a:endParaRPr lang="en-US" sz="938" dirty="0"/>
          </a:p>
        </p:txBody>
      </p:sp>
      <p:sp>
        <p:nvSpPr>
          <p:cNvPr id="50" name="Text 48"/>
          <p:cNvSpPr/>
          <p:nvPr/>
        </p:nvSpPr>
        <p:spPr>
          <a:xfrm>
            <a:off x="2514898" y="3314700"/>
            <a:ext cx="1909834"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using segments, country, staff, beta</a:t>
            </a:r>
            <a:endParaRPr lang="en-US" sz="938" dirty="0"/>
          </a:p>
        </p:txBody>
      </p:sp>
      <p:sp>
        <p:nvSpPr>
          <p:cNvPr id="51" name="Text 49"/>
          <p:cNvSpPr/>
          <p:nvPr/>
        </p:nvSpPr>
        <p:spPr>
          <a:xfrm>
            <a:off x="5391150" y="3314700"/>
            <a:ext cx="2595634"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Release frequency · % of customers exposed</a:t>
            </a:r>
            <a:endParaRPr lang="en-US" sz="938" dirty="0"/>
          </a:p>
        </p:txBody>
      </p:sp>
      <p:sp>
        <p:nvSpPr>
          <p:cNvPr id="52" name="Shape 50"/>
          <p:cNvSpPr/>
          <p:nvPr/>
        </p:nvSpPr>
        <p:spPr>
          <a:xfrm>
            <a:off x="609600" y="3736181"/>
            <a:ext cx="7924800" cy="9525"/>
          </a:xfrm>
          <a:prstGeom prst="rect">
            <a:avLst/>
          </a:prstGeom>
          <a:solidFill>
            <a:srgbClr val="333333"/>
          </a:solidFill>
          <a:ln w="12700">
            <a:solidFill>
              <a:srgbClr val="333333">
                <a:alpha val="0"/>
              </a:srgbClr>
            </a:solidFill>
            <a:prstDash val="solid"/>
          </a:ln>
        </p:spPr>
      </p:sp>
      <p:sp>
        <p:nvSpPr>
          <p:cNvPr id="53" name="Text 51"/>
          <p:cNvSpPr/>
          <p:nvPr/>
        </p:nvSpPr>
        <p:spPr>
          <a:xfrm>
            <a:off x="609600" y="3549253"/>
            <a:ext cx="1787795"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Kill switch and instant rollback</a:t>
            </a:r>
            <a:endParaRPr lang="en-US" sz="938" dirty="0"/>
          </a:p>
        </p:txBody>
      </p:sp>
      <p:sp>
        <p:nvSpPr>
          <p:cNvPr id="54" name="Text 52"/>
          <p:cNvSpPr/>
          <p:nvPr/>
        </p:nvSpPr>
        <p:spPr>
          <a:xfrm>
            <a:off x="2389436" y="3549253"/>
            <a:ext cx="2013716"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to change behaviour without a deploy</a:t>
            </a:r>
            <a:endParaRPr lang="en-US" sz="938" dirty="0"/>
          </a:p>
        </p:txBody>
      </p:sp>
      <p:sp>
        <p:nvSpPr>
          <p:cNvPr id="55" name="Text 53"/>
          <p:cNvSpPr/>
          <p:nvPr/>
        </p:nvSpPr>
        <p:spPr>
          <a:xfrm>
            <a:off x="5391150" y="3549253"/>
            <a:ext cx="1371225"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Mean time to recovery</a:t>
            </a:r>
            <a:endParaRPr lang="en-US" sz="938" dirty="0"/>
          </a:p>
        </p:txBody>
      </p:sp>
      <p:sp>
        <p:nvSpPr>
          <p:cNvPr id="56" name="Shape 54"/>
          <p:cNvSpPr/>
          <p:nvPr/>
        </p:nvSpPr>
        <p:spPr>
          <a:xfrm>
            <a:off x="609600" y="3970734"/>
            <a:ext cx="7924800" cy="9525"/>
          </a:xfrm>
          <a:prstGeom prst="rect">
            <a:avLst/>
          </a:prstGeom>
          <a:solidFill>
            <a:srgbClr val="333333"/>
          </a:solidFill>
          <a:ln w="12700">
            <a:solidFill>
              <a:srgbClr val="333333">
                <a:alpha val="0"/>
              </a:srgbClr>
            </a:solidFill>
            <a:prstDash val="solid"/>
          </a:ln>
        </p:spPr>
      </p:sp>
      <p:sp>
        <p:nvSpPr>
          <p:cNvPr id="57" name="Text 55"/>
          <p:cNvSpPr/>
          <p:nvPr/>
        </p:nvSpPr>
        <p:spPr>
          <a:xfrm>
            <a:off x="609600" y="3783806"/>
            <a:ext cx="2125486"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Release guardrails and auto-rollback</a:t>
            </a:r>
            <a:endParaRPr lang="en-US" sz="938" dirty="0"/>
          </a:p>
        </p:txBody>
      </p:sp>
      <p:sp>
        <p:nvSpPr>
          <p:cNvPr id="58" name="Text 56"/>
          <p:cNvSpPr/>
          <p:nvPr/>
        </p:nvSpPr>
        <p:spPr>
          <a:xfrm>
            <a:off x="2727127" y="3783806"/>
            <a:ext cx="2099590"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on failure rate and latency per variation</a:t>
            </a:r>
            <a:endParaRPr lang="en-US" sz="938" dirty="0"/>
          </a:p>
        </p:txBody>
      </p:sp>
      <p:sp>
        <p:nvSpPr>
          <p:cNvPr id="59" name="Text 57"/>
          <p:cNvSpPr/>
          <p:nvPr/>
        </p:nvSpPr>
        <p:spPr>
          <a:xfrm>
            <a:off x="5391150" y="3783806"/>
            <a:ext cx="2668411"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Change failure rate · customers hit per incident</a:t>
            </a:r>
            <a:endParaRPr lang="en-US" sz="938" dirty="0"/>
          </a:p>
        </p:txBody>
      </p:sp>
      <p:sp>
        <p:nvSpPr>
          <p:cNvPr id="60" name="Shape 58"/>
          <p:cNvSpPr/>
          <p:nvPr/>
        </p:nvSpPr>
        <p:spPr>
          <a:xfrm>
            <a:off x="609600" y="4205288"/>
            <a:ext cx="7924800" cy="9525"/>
          </a:xfrm>
          <a:prstGeom prst="rect">
            <a:avLst/>
          </a:prstGeom>
          <a:solidFill>
            <a:srgbClr val="333333"/>
          </a:solidFill>
          <a:ln w="12700">
            <a:solidFill>
              <a:srgbClr val="333333">
                <a:alpha val="0"/>
              </a:srgbClr>
            </a:solidFill>
            <a:prstDash val="solid"/>
          </a:ln>
        </p:spPr>
      </p:sp>
      <p:sp>
        <p:nvSpPr>
          <p:cNvPr id="61" name="Text 59"/>
          <p:cNvSpPr/>
          <p:nvPr/>
        </p:nvSpPr>
        <p:spPr>
          <a:xfrm>
            <a:off x="609600" y="4018359"/>
            <a:ext cx="1787795"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Audit trail, approvals and roles</a:t>
            </a:r>
            <a:endParaRPr lang="en-US" sz="938" dirty="0"/>
          </a:p>
        </p:txBody>
      </p:sp>
      <p:sp>
        <p:nvSpPr>
          <p:cNvPr id="62" name="Text 60"/>
          <p:cNvSpPr/>
          <p:nvPr/>
        </p:nvSpPr>
        <p:spPr>
          <a:xfrm>
            <a:off x="2389436" y="4018359"/>
            <a:ext cx="1934093"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recording who, what, when and why</a:t>
            </a:r>
            <a:endParaRPr lang="en-US" sz="938" dirty="0"/>
          </a:p>
        </p:txBody>
      </p:sp>
      <p:sp>
        <p:nvSpPr>
          <p:cNvPr id="63" name="Text 61"/>
          <p:cNvSpPr/>
          <p:nvPr/>
        </p:nvSpPr>
        <p:spPr>
          <a:xfrm>
            <a:off x="5391150" y="4018359"/>
            <a:ext cx="2428351"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Change lead time · audit preparation effort</a:t>
            </a:r>
            <a:endParaRPr lang="en-US" sz="938" dirty="0"/>
          </a:p>
        </p:txBody>
      </p:sp>
      <p:sp>
        <p:nvSpPr>
          <p:cNvPr id="64" name="Text 62"/>
          <p:cNvSpPr/>
          <p:nvPr/>
        </p:nvSpPr>
        <p:spPr>
          <a:xfrm>
            <a:off x="609600" y="4252913"/>
            <a:ext cx="2072503"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Data-minimised, resilient evaluation</a:t>
            </a:r>
            <a:endParaRPr lang="en-US" sz="938" dirty="0"/>
          </a:p>
        </p:txBody>
      </p:sp>
      <p:sp>
        <p:nvSpPr>
          <p:cNvPr id="65" name="Text 63"/>
          <p:cNvSpPr/>
          <p:nvPr/>
        </p:nvSpPr>
        <p:spPr>
          <a:xfrm>
            <a:off x="2674144" y="4252913"/>
            <a:ext cx="2132481"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with limited context and tested fallbacks</a:t>
            </a:r>
            <a:endParaRPr lang="en-US" sz="938" dirty="0"/>
          </a:p>
        </p:txBody>
      </p:sp>
      <p:sp>
        <p:nvSpPr>
          <p:cNvPr id="66" name="Text 64"/>
          <p:cNvSpPr/>
          <p:nvPr/>
        </p:nvSpPr>
        <p:spPr>
          <a:xfrm>
            <a:off x="5391150" y="4252913"/>
            <a:ext cx="1986778"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Data shared · payment availability</a:t>
            </a:r>
            <a:endParaRPr lang="en-US" sz="938" dirty="0"/>
          </a:p>
        </p:txBody>
      </p:sp>
      <p:sp>
        <p:nvSpPr>
          <p:cNvPr id="67" name="Shape 65"/>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68" name="Image 0" descr="preencoded.png">    </p:cNvPr>
          <p:cNvPicPr>
            <a:picLocks noChangeAspect="1"/>
          </p:cNvPicPr>
          <p:nvPr/>
        </p:nvPicPr>
        <p:blipFill>
          <a:blip r:embed="rId1"/>
          <a:stretch>
            <a:fillRect/>
          </a:stretch>
        </p:blipFill>
        <p:spPr>
          <a:xfrm>
            <a:off x="266700" y="4810125"/>
            <a:ext cx="247650" cy="247650"/>
          </a:xfrm>
          <a:prstGeom prst="rect">
            <a:avLst/>
          </a:prstGeom>
        </p:spPr>
      </p:pic>
      <p:sp>
        <p:nvSpPr>
          <p:cNvPr id="69" name="Shape 66"/>
          <p:cNvSpPr/>
          <p:nvPr/>
        </p:nvSpPr>
        <p:spPr>
          <a:xfrm>
            <a:off x="4381500" y="1809750"/>
            <a:ext cx="381000" cy="381000"/>
          </a:xfrm>
          <a:prstGeom prst="ellipse">
            <a:avLst>
              <a:gd name="adj" fmla="val 125000"/>
            </a:avLst>
          </a:prstGeom>
          <a:solidFill>
            <a:srgbClr val="1A1A1A"/>
          </a:solidFill>
          <a:ln w="12700">
            <a:solidFill>
              <a:srgbClr val="333333">
                <a:alpha val="0"/>
              </a:srgbClr>
            </a:solidFill>
            <a:prstDash val="solid"/>
          </a:ln>
        </p:spPr>
      </p:sp>
      <p:pic>
        <p:nvPicPr>
          <p:cNvPr id="70" name="Image 1" descr="preencoded.png">    </p:cNvPr>
          <p:cNvPicPr>
            <a:picLocks noChangeAspect="1"/>
          </p:cNvPicPr>
          <p:nvPr/>
        </p:nvPicPr>
        <p:blipFill>
          <a:blip r:embed="rId2"/>
          <a:stretch>
            <a:fillRect/>
          </a:stretch>
        </p:blipFill>
        <p:spPr>
          <a:xfrm>
            <a:off x="4467225" y="1895475"/>
            <a:ext cx="209550" cy="2095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4023640"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How we read your brief</a:t>
            </a:r>
            <a:endParaRPr lang="en-US" sz="3000" dirty="0"/>
          </a:p>
        </p:txBody>
      </p:sp>
      <p:sp>
        <p:nvSpPr>
          <p:cNvPr id="4" name="Text 2"/>
          <p:cNvSpPr/>
          <p:nvPr/>
        </p:nvSpPr>
        <p:spPr>
          <a:xfrm>
            <a:off x="457200" y="838200"/>
            <a:ext cx="5691259"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Three words in the brief were deliberately open. This is what we took them to mean.</a:t>
            </a:r>
            <a:endParaRPr lang="en-US" sz="1200" dirty="0"/>
          </a:p>
        </p:txBody>
      </p:sp>
      <p:sp>
        <p:nvSpPr>
          <p:cNvPr id="5" name="Text 3"/>
          <p:cNvSpPr/>
          <p:nvPr/>
        </p:nvSpPr>
        <p:spPr>
          <a:xfrm>
            <a:off x="457200" y="1571625"/>
            <a:ext cx="904649"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"REGULATED"</a:t>
            </a:r>
            <a:endParaRPr lang="en-US" sz="900" dirty="0"/>
          </a:p>
        </p:txBody>
      </p:sp>
      <p:sp>
        <p:nvSpPr>
          <p:cNvPr id="6" name="Text 4"/>
          <p:cNvSpPr/>
          <p:nvPr/>
        </p:nvSpPr>
        <p:spPr>
          <a:xfrm>
            <a:off x="45720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7" name="Text 5"/>
          <p:cNvSpPr/>
          <p:nvPr/>
        </p:nvSpPr>
        <p:spPr>
          <a:xfrm>
            <a:off x="685800" y="1847850"/>
            <a:ext cx="220897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Operational resilience (DORA): no</a:t>
            </a:r>
            <a:endParaRPr lang="en-US" sz="1125" dirty="0"/>
          </a:p>
        </p:txBody>
      </p:sp>
      <p:sp>
        <p:nvSpPr>
          <p:cNvPr id="8" name="Text 6"/>
          <p:cNvSpPr/>
          <p:nvPr/>
        </p:nvSpPr>
        <p:spPr>
          <a:xfrm>
            <a:off x="685800" y="2040731"/>
            <a:ext cx="169314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new single point of failure.</a:t>
            </a:r>
            <a:endParaRPr lang="en-US" sz="1125" dirty="0"/>
          </a:p>
        </p:txBody>
      </p:sp>
      <p:sp>
        <p:nvSpPr>
          <p:cNvPr id="9" name="Text 7"/>
          <p:cNvSpPr/>
          <p:nvPr/>
        </p:nvSpPr>
        <p:spPr>
          <a:xfrm>
            <a:off x="45720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328863"/>
            <a:ext cx="2296936"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 complete audit trail: who changed</a:t>
            </a:r>
            <a:endParaRPr lang="en-US" sz="1125" dirty="0"/>
          </a:p>
        </p:txBody>
      </p:sp>
      <p:sp>
        <p:nvSpPr>
          <p:cNvPr id="11" name="Text 9"/>
          <p:cNvSpPr/>
          <p:nvPr/>
        </p:nvSpPr>
        <p:spPr>
          <a:xfrm>
            <a:off x="685800" y="2521744"/>
            <a:ext cx="136497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what, when and why.</a:t>
            </a:r>
            <a:endParaRPr lang="en-US" sz="1125" dirty="0"/>
          </a:p>
        </p:txBody>
      </p:sp>
      <p:sp>
        <p:nvSpPr>
          <p:cNvPr id="12" name="Text 10"/>
          <p:cNvSpPr/>
          <p:nvPr/>
        </p:nvSpPr>
        <p:spPr>
          <a:xfrm>
            <a:off x="45720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3" name="Text 11"/>
          <p:cNvSpPr/>
          <p:nvPr/>
        </p:nvSpPr>
        <p:spPr>
          <a:xfrm>
            <a:off x="685800" y="2809875"/>
            <a:ext cx="23122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GDPR data minimisation: no names</a:t>
            </a:r>
            <a:endParaRPr lang="en-US" sz="1125" dirty="0"/>
          </a:p>
        </p:txBody>
      </p:sp>
      <p:sp>
        <p:nvSpPr>
          <p:cNvPr id="14" name="Text 12"/>
          <p:cNvSpPr/>
          <p:nvPr/>
        </p:nvSpPr>
        <p:spPr>
          <a:xfrm>
            <a:off x="685800" y="3002756"/>
            <a:ext cx="21217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or emails; review pseudonymous</a:t>
            </a:r>
            <a:endParaRPr lang="en-US" sz="1125" dirty="0"/>
          </a:p>
        </p:txBody>
      </p:sp>
      <p:sp>
        <p:nvSpPr>
          <p:cNvPr id="15" name="Text 13"/>
          <p:cNvSpPr/>
          <p:nvPr/>
        </p:nvSpPr>
        <p:spPr>
          <a:xfrm>
            <a:off x="685800" y="3195638"/>
            <a:ext cx="69242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identifiers.</a:t>
            </a:r>
            <a:endParaRPr lang="en-US" sz="1125" dirty="0"/>
          </a:p>
        </p:txBody>
      </p:sp>
      <p:sp>
        <p:nvSpPr>
          <p:cNvPr id="16" name="Text 14"/>
          <p:cNvSpPr/>
          <p:nvPr/>
        </p:nvSpPr>
        <p:spPr>
          <a:xfrm>
            <a:off x="457200" y="3474244"/>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7" name="Text 15"/>
          <p:cNvSpPr/>
          <p:nvPr/>
        </p:nvSpPr>
        <p:spPr>
          <a:xfrm>
            <a:off x="685800" y="3483769"/>
            <a:ext cx="220123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Release by market, following local</a:t>
            </a:r>
            <a:endParaRPr lang="en-US" sz="1125" dirty="0"/>
          </a:p>
        </p:txBody>
      </p:sp>
      <p:sp>
        <p:nvSpPr>
          <p:cNvPr id="18" name="Text 16"/>
          <p:cNvSpPr/>
          <p:nvPr/>
        </p:nvSpPr>
        <p:spPr>
          <a:xfrm>
            <a:off x="685800" y="3676650"/>
            <a:ext cx="62901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approval.</a:t>
            </a:r>
            <a:endParaRPr lang="en-US" sz="1125" dirty="0"/>
          </a:p>
        </p:txBody>
      </p:sp>
      <p:sp>
        <p:nvSpPr>
          <p:cNvPr id="19" name="Text 17"/>
          <p:cNvSpPr/>
          <p:nvPr/>
        </p:nvSpPr>
        <p:spPr>
          <a:xfrm>
            <a:off x="3308300" y="1571625"/>
            <a:ext cx="570381"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"SAFER"</a:t>
            </a:r>
            <a:endParaRPr lang="en-US" sz="900" dirty="0"/>
          </a:p>
        </p:txBody>
      </p:sp>
      <p:sp>
        <p:nvSpPr>
          <p:cNvPr id="20" name="Text 18"/>
          <p:cNvSpPr/>
          <p:nvPr/>
        </p:nvSpPr>
        <p:spPr>
          <a:xfrm>
            <a:off x="330830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1" name="Text 19"/>
          <p:cNvSpPr/>
          <p:nvPr/>
        </p:nvSpPr>
        <p:spPr>
          <a:xfrm>
            <a:off x="3536900" y="1847850"/>
            <a:ext cx="226211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Small blast radius: staff first, then a</a:t>
            </a:r>
            <a:endParaRPr lang="en-US" sz="1125" dirty="0"/>
          </a:p>
        </p:txBody>
      </p:sp>
      <p:sp>
        <p:nvSpPr>
          <p:cNvPr id="22" name="Text 20"/>
          <p:cNvSpPr/>
          <p:nvPr/>
        </p:nvSpPr>
        <p:spPr>
          <a:xfrm>
            <a:off x="3536900" y="2040731"/>
            <a:ext cx="1001982"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few customers.</a:t>
            </a:r>
            <a:endParaRPr lang="en-US" sz="1125" dirty="0"/>
          </a:p>
        </p:txBody>
      </p:sp>
      <p:sp>
        <p:nvSpPr>
          <p:cNvPr id="23" name="Text 21"/>
          <p:cNvSpPr/>
          <p:nvPr/>
        </p:nvSpPr>
        <p:spPr>
          <a:xfrm>
            <a:off x="330830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4" name="Text 22"/>
          <p:cNvSpPr/>
          <p:nvPr/>
        </p:nvSpPr>
        <p:spPr>
          <a:xfrm>
            <a:off x="3536900" y="2328863"/>
            <a:ext cx="209021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Reversible in seconds, without a</a:t>
            </a:r>
            <a:endParaRPr lang="en-US" sz="1125" dirty="0"/>
          </a:p>
        </p:txBody>
      </p:sp>
      <p:sp>
        <p:nvSpPr>
          <p:cNvPr id="25" name="Text 23"/>
          <p:cNvSpPr/>
          <p:nvPr/>
        </p:nvSpPr>
        <p:spPr>
          <a:xfrm>
            <a:off x="3536900" y="2521744"/>
            <a:ext cx="49135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deploy.</a:t>
            </a:r>
            <a:endParaRPr lang="en-US" sz="1125" dirty="0"/>
          </a:p>
        </p:txBody>
      </p:sp>
      <p:sp>
        <p:nvSpPr>
          <p:cNvPr id="26" name="Text 24"/>
          <p:cNvSpPr/>
          <p:nvPr/>
        </p:nvSpPr>
        <p:spPr>
          <a:xfrm>
            <a:off x="330830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7" name="Text 25"/>
          <p:cNvSpPr/>
          <p:nvPr/>
        </p:nvSpPr>
        <p:spPr>
          <a:xfrm>
            <a:off x="3536900" y="2809875"/>
            <a:ext cx="2153466"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Regressions detected by metrics,</a:t>
            </a:r>
            <a:endParaRPr lang="en-US" sz="1125" dirty="0"/>
          </a:p>
        </p:txBody>
      </p:sp>
      <p:sp>
        <p:nvSpPr>
          <p:cNvPr id="28" name="Text 26"/>
          <p:cNvSpPr/>
          <p:nvPr/>
        </p:nvSpPr>
        <p:spPr>
          <a:xfrm>
            <a:off x="3536900" y="3002756"/>
            <a:ext cx="201088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not complaints, and rolled back</a:t>
            </a:r>
            <a:endParaRPr lang="en-US" sz="1125" dirty="0"/>
          </a:p>
        </p:txBody>
      </p:sp>
      <p:sp>
        <p:nvSpPr>
          <p:cNvPr id="29" name="Text 27"/>
          <p:cNvSpPr/>
          <p:nvPr/>
        </p:nvSpPr>
        <p:spPr>
          <a:xfrm>
            <a:off x="3536900" y="3195638"/>
            <a:ext cx="90405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automatically.</a:t>
            </a:r>
            <a:endParaRPr lang="en-US" sz="1125" dirty="0"/>
          </a:p>
        </p:txBody>
      </p:sp>
      <p:sp>
        <p:nvSpPr>
          <p:cNvPr id="30" name="Text 28"/>
          <p:cNvSpPr/>
          <p:nvPr/>
        </p:nvSpPr>
        <p:spPr>
          <a:xfrm>
            <a:off x="6159550" y="1571625"/>
            <a:ext cx="1267194"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"MORE CONFIDENT"</a:t>
            </a:r>
            <a:endParaRPr lang="en-US" sz="900" dirty="0"/>
          </a:p>
        </p:txBody>
      </p:sp>
      <p:sp>
        <p:nvSpPr>
          <p:cNvPr id="31" name="Text 29"/>
          <p:cNvSpPr/>
          <p:nvPr/>
        </p:nvSpPr>
        <p:spPr>
          <a:xfrm>
            <a:off x="615955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2" name="Text 30"/>
          <p:cNvSpPr/>
          <p:nvPr/>
        </p:nvSpPr>
        <p:spPr>
          <a:xfrm>
            <a:off x="6388150" y="1847850"/>
            <a:ext cx="223308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Every decision to widen a rollout is</a:t>
            </a:r>
            <a:endParaRPr lang="en-US" sz="1125" dirty="0"/>
          </a:p>
        </p:txBody>
      </p:sp>
      <p:sp>
        <p:nvSpPr>
          <p:cNvPr id="33" name="Text 31"/>
          <p:cNvSpPr/>
          <p:nvPr/>
        </p:nvSpPr>
        <p:spPr>
          <a:xfrm>
            <a:off x="6388150" y="2040731"/>
            <a:ext cx="175683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backed by production data.</a:t>
            </a:r>
            <a:endParaRPr lang="en-US" sz="1125" dirty="0"/>
          </a:p>
        </p:txBody>
      </p:sp>
      <p:sp>
        <p:nvSpPr>
          <p:cNvPr id="34" name="Text 32"/>
          <p:cNvSpPr/>
          <p:nvPr/>
        </p:nvSpPr>
        <p:spPr>
          <a:xfrm>
            <a:off x="615955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5" name="Text 33"/>
          <p:cNvSpPr/>
          <p:nvPr/>
        </p:nvSpPr>
        <p:spPr>
          <a:xfrm>
            <a:off x="6388150" y="2328863"/>
            <a:ext cx="2320451"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Decisions are recorded, so they can</a:t>
            </a:r>
            <a:endParaRPr lang="en-US" sz="1125" dirty="0"/>
          </a:p>
        </p:txBody>
      </p:sp>
      <p:sp>
        <p:nvSpPr>
          <p:cNvPr id="36" name="Text 34"/>
          <p:cNvSpPr/>
          <p:nvPr/>
        </p:nvSpPr>
        <p:spPr>
          <a:xfrm>
            <a:off x="6388150" y="2521744"/>
            <a:ext cx="203499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be explained to an auditor later.</a:t>
            </a:r>
            <a:endParaRPr lang="en-US" sz="1125" dirty="0"/>
          </a:p>
        </p:txBody>
      </p:sp>
      <p:sp>
        <p:nvSpPr>
          <p:cNvPr id="37" name="Text 35"/>
          <p:cNvSpPr/>
          <p:nvPr/>
        </p:nvSpPr>
        <p:spPr>
          <a:xfrm>
            <a:off x="615955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8" name="Text 36"/>
          <p:cNvSpPr/>
          <p:nvPr/>
        </p:nvSpPr>
        <p:spPr>
          <a:xfrm>
            <a:off x="6388150" y="2809875"/>
            <a:ext cx="18995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The same data later supports</a:t>
            </a:r>
            <a:endParaRPr lang="en-US" sz="1125" dirty="0"/>
          </a:p>
        </p:txBody>
      </p:sp>
      <p:sp>
        <p:nvSpPr>
          <p:cNvPr id="39" name="Text 37"/>
          <p:cNvSpPr/>
          <p:nvPr/>
        </p:nvSpPr>
        <p:spPr>
          <a:xfrm>
            <a:off x="6388150" y="3002756"/>
            <a:ext cx="189971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experiments on what to build.</a:t>
            </a:r>
            <a:endParaRPr lang="en-US" sz="1125" dirty="0"/>
          </a:p>
        </p:txBody>
      </p:sp>
      <p:pic>
        <p:nvPicPr>
          <p:cNvPr id="40"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6577530"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The initiative and how we'll measure it</a:t>
            </a:r>
            <a:endParaRPr lang="en-US" sz="3000" dirty="0"/>
          </a:p>
        </p:txBody>
      </p:sp>
      <p:sp>
        <p:nvSpPr>
          <p:cNvPr id="4" name="Text 2"/>
          <p:cNvSpPr/>
          <p:nvPr/>
        </p:nvSpPr>
        <p:spPr>
          <a:xfrm>
            <a:off x="457200" y="838200"/>
            <a:ext cx="6747194"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Payments modernisation: ship customer-protection features faster, with fewer and shorter incidents.</a:t>
            </a:r>
            <a:endParaRPr lang="en-US" sz="1200" dirty="0"/>
          </a:p>
        </p:txBody>
      </p:sp>
      <p:sp>
        <p:nvSpPr>
          <p:cNvPr id="5" name="Shape 3"/>
          <p:cNvSpPr/>
          <p:nvPr/>
        </p:nvSpPr>
        <p:spPr>
          <a:xfrm>
            <a:off x="457200" y="1647825"/>
            <a:ext cx="2468761" cy="19050"/>
          </a:xfrm>
          <a:prstGeom prst="rect">
            <a:avLst/>
          </a:prstGeom>
          <a:solidFill>
            <a:srgbClr val="1A1A1A"/>
          </a:solidFill>
          <a:ln w="12700">
            <a:solidFill>
              <a:srgbClr val="333333">
                <a:alpha val="0"/>
              </a:srgbClr>
            </a:solidFill>
            <a:prstDash val="solid"/>
          </a:ln>
        </p:spPr>
      </p:sp>
      <p:sp>
        <p:nvSpPr>
          <p:cNvPr id="6" name="Text 4"/>
          <p:cNvSpPr/>
          <p:nvPr/>
        </p:nvSpPr>
        <p:spPr>
          <a:xfrm>
            <a:off x="533400" y="1485900"/>
            <a:ext cx="1234154"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SUCCESS CRITERION</a:t>
            </a:r>
            <a:endParaRPr lang="en-US" sz="825" dirty="0"/>
          </a:p>
        </p:txBody>
      </p:sp>
      <p:sp>
        <p:nvSpPr>
          <p:cNvPr id="7" name="Shape 5"/>
          <p:cNvSpPr/>
          <p:nvPr/>
        </p:nvSpPr>
        <p:spPr>
          <a:xfrm>
            <a:off x="2925961" y="1647825"/>
            <a:ext cx="2468761" cy="19050"/>
          </a:xfrm>
          <a:prstGeom prst="rect">
            <a:avLst/>
          </a:prstGeom>
          <a:solidFill>
            <a:srgbClr val="1A1A1A"/>
          </a:solidFill>
          <a:ln w="12700">
            <a:solidFill>
              <a:srgbClr val="333333">
                <a:alpha val="0"/>
              </a:srgbClr>
            </a:solidFill>
            <a:prstDash val="solid"/>
          </a:ln>
        </p:spPr>
      </p:sp>
      <p:sp>
        <p:nvSpPr>
          <p:cNvPr id="8" name="Text 6"/>
          <p:cNvSpPr/>
          <p:nvPr/>
        </p:nvSpPr>
        <p:spPr>
          <a:xfrm>
            <a:off x="3002161" y="1485900"/>
            <a:ext cx="1088749"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TODAY (ASSUMED)</a:t>
            </a:r>
            <a:endParaRPr lang="en-US" sz="825" dirty="0"/>
          </a:p>
        </p:txBody>
      </p:sp>
      <p:sp>
        <p:nvSpPr>
          <p:cNvPr id="9" name="Shape 7"/>
          <p:cNvSpPr/>
          <p:nvPr/>
        </p:nvSpPr>
        <p:spPr>
          <a:xfrm>
            <a:off x="5394722" y="1647825"/>
            <a:ext cx="3292078" cy="19050"/>
          </a:xfrm>
          <a:prstGeom prst="rect">
            <a:avLst/>
          </a:prstGeom>
          <a:solidFill>
            <a:srgbClr val="1A1A1A"/>
          </a:solidFill>
          <a:ln w="12700">
            <a:solidFill>
              <a:srgbClr val="333333">
                <a:alpha val="0"/>
              </a:srgbClr>
            </a:solidFill>
            <a:prstDash val="solid"/>
          </a:ln>
        </p:spPr>
      </p:sp>
      <p:sp>
        <p:nvSpPr>
          <p:cNvPr id="10" name="Text 8"/>
          <p:cNvSpPr/>
          <p:nvPr/>
        </p:nvSpPr>
        <p:spPr>
          <a:xfrm>
            <a:off x="5470922" y="1485900"/>
            <a:ext cx="1773656"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TARGET WITH LAUNCHDARKLY</a:t>
            </a:r>
            <a:endParaRPr lang="en-US" sz="825" dirty="0"/>
          </a:p>
        </p:txBody>
      </p:sp>
      <p:sp>
        <p:nvSpPr>
          <p:cNvPr id="11" name="Shape 9"/>
          <p:cNvSpPr/>
          <p:nvPr/>
        </p:nvSpPr>
        <p:spPr>
          <a:xfrm>
            <a:off x="457200" y="1991171"/>
            <a:ext cx="2468761" cy="9525"/>
          </a:xfrm>
          <a:prstGeom prst="rect">
            <a:avLst/>
          </a:prstGeom>
          <a:solidFill>
            <a:srgbClr val="DCDCDC"/>
          </a:solidFill>
          <a:ln w="12700">
            <a:solidFill>
              <a:srgbClr val="333333">
                <a:alpha val="0"/>
              </a:srgbClr>
            </a:solidFill>
            <a:prstDash val="solid"/>
          </a:ln>
        </p:spPr>
      </p:sp>
      <p:sp>
        <p:nvSpPr>
          <p:cNvPr id="12" name="Text 10"/>
          <p:cNvSpPr/>
          <p:nvPr/>
        </p:nvSpPr>
        <p:spPr>
          <a:xfrm>
            <a:off x="533400" y="1762125"/>
            <a:ext cx="1911322"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Time to roll back a bad release</a:t>
            </a:r>
            <a:endParaRPr lang="en-US" sz="1013" dirty="0"/>
          </a:p>
        </p:txBody>
      </p:sp>
      <p:sp>
        <p:nvSpPr>
          <p:cNvPr id="13" name="Shape 11"/>
          <p:cNvSpPr/>
          <p:nvPr/>
        </p:nvSpPr>
        <p:spPr>
          <a:xfrm>
            <a:off x="2925961" y="1991171"/>
            <a:ext cx="2468761" cy="9525"/>
          </a:xfrm>
          <a:prstGeom prst="rect">
            <a:avLst/>
          </a:prstGeom>
          <a:solidFill>
            <a:srgbClr val="DCDCDC"/>
          </a:solidFill>
          <a:ln w="12700">
            <a:solidFill>
              <a:srgbClr val="333333">
                <a:alpha val="0"/>
              </a:srgbClr>
            </a:solidFill>
            <a:prstDash val="solid"/>
          </a:ln>
        </p:spPr>
      </p:sp>
      <p:sp>
        <p:nvSpPr>
          <p:cNvPr id="14" name="Text 12"/>
          <p:cNvSpPr/>
          <p:nvPr/>
        </p:nvSpPr>
        <p:spPr>
          <a:xfrm>
            <a:off x="3002161" y="1762125"/>
            <a:ext cx="230006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Hours: redeploy through change control</a:t>
            </a:r>
            <a:endParaRPr lang="en-US" sz="1013" dirty="0"/>
          </a:p>
        </p:txBody>
      </p:sp>
      <p:sp>
        <p:nvSpPr>
          <p:cNvPr id="15" name="Shape 13"/>
          <p:cNvSpPr/>
          <p:nvPr/>
        </p:nvSpPr>
        <p:spPr>
          <a:xfrm>
            <a:off x="5394722" y="1991171"/>
            <a:ext cx="3292078" cy="9525"/>
          </a:xfrm>
          <a:prstGeom prst="rect">
            <a:avLst/>
          </a:prstGeom>
          <a:solidFill>
            <a:srgbClr val="DCDCDC"/>
          </a:solidFill>
          <a:ln w="12700">
            <a:solidFill>
              <a:srgbClr val="333333">
                <a:alpha val="0"/>
              </a:srgbClr>
            </a:solidFill>
            <a:prstDash val="solid"/>
          </a:ln>
        </p:spPr>
      </p:sp>
      <p:sp>
        <p:nvSpPr>
          <p:cNvPr id="16" name="Text 14"/>
          <p:cNvSpPr/>
          <p:nvPr/>
        </p:nvSpPr>
        <p:spPr>
          <a:xfrm>
            <a:off x="5470922" y="1762125"/>
            <a:ext cx="977128"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Under 1 minute</a:t>
            </a:r>
            <a:endParaRPr lang="en-US" sz="1013" dirty="0"/>
          </a:p>
        </p:txBody>
      </p:sp>
      <p:sp>
        <p:nvSpPr>
          <p:cNvPr id="17" name="Text 15"/>
          <p:cNvSpPr/>
          <p:nvPr/>
        </p:nvSpPr>
        <p:spPr>
          <a:xfrm>
            <a:off x="6406902" y="1762125"/>
            <a:ext cx="670393"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no deploy</a:t>
            </a:r>
            <a:endParaRPr lang="en-US" sz="1013" dirty="0"/>
          </a:p>
        </p:txBody>
      </p:sp>
      <p:sp>
        <p:nvSpPr>
          <p:cNvPr id="18" name="Shape 16"/>
          <p:cNvSpPr/>
          <p:nvPr/>
        </p:nvSpPr>
        <p:spPr>
          <a:xfrm>
            <a:off x="457200" y="2487364"/>
            <a:ext cx="2468761" cy="9525"/>
          </a:xfrm>
          <a:prstGeom prst="rect">
            <a:avLst/>
          </a:prstGeom>
          <a:solidFill>
            <a:srgbClr val="DCDCDC"/>
          </a:solidFill>
          <a:ln w="12700">
            <a:solidFill>
              <a:srgbClr val="333333">
                <a:alpha val="0"/>
              </a:srgbClr>
            </a:solidFill>
            <a:prstDash val="solid"/>
          </a:ln>
        </p:spPr>
      </p:sp>
      <p:sp>
        <p:nvSpPr>
          <p:cNvPr id="19" name="Text 17"/>
          <p:cNvSpPr/>
          <p:nvPr/>
        </p:nvSpPr>
        <p:spPr>
          <a:xfrm>
            <a:off x="533400" y="2091184"/>
            <a:ext cx="1420189"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Initial rollout exposure</a:t>
            </a:r>
            <a:endParaRPr lang="en-US" sz="1013" dirty="0"/>
          </a:p>
        </p:txBody>
      </p:sp>
      <p:sp>
        <p:nvSpPr>
          <p:cNvPr id="20" name="Shape 18"/>
          <p:cNvSpPr/>
          <p:nvPr/>
        </p:nvSpPr>
        <p:spPr>
          <a:xfrm>
            <a:off x="2925961" y="2487364"/>
            <a:ext cx="2468761" cy="9525"/>
          </a:xfrm>
          <a:prstGeom prst="rect">
            <a:avLst/>
          </a:prstGeom>
          <a:solidFill>
            <a:srgbClr val="DCDCDC"/>
          </a:solidFill>
          <a:ln w="12700">
            <a:solidFill>
              <a:srgbClr val="333333">
                <a:alpha val="0"/>
              </a:srgbClr>
            </a:solidFill>
            <a:prstDash val="solid"/>
          </a:ln>
        </p:spPr>
      </p:sp>
      <p:sp>
        <p:nvSpPr>
          <p:cNvPr id="21" name="Text 19"/>
          <p:cNvSpPr/>
          <p:nvPr/>
        </p:nvSpPr>
        <p:spPr>
          <a:xfrm>
            <a:off x="3002161" y="2091184"/>
            <a:ext cx="1270468"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All customers at once</a:t>
            </a:r>
            <a:endParaRPr lang="en-US" sz="1013" dirty="0"/>
          </a:p>
        </p:txBody>
      </p:sp>
      <p:sp>
        <p:nvSpPr>
          <p:cNvPr id="22" name="Shape 20"/>
          <p:cNvSpPr/>
          <p:nvPr/>
        </p:nvSpPr>
        <p:spPr>
          <a:xfrm>
            <a:off x="5394722" y="2487364"/>
            <a:ext cx="3292078" cy="9525"/>
          </a:xfrm>
          <a:prstGeom prst="rect">
            <a:avLst/>
          </a:prstGeom>
          <a:solidFill>
            <a:srgbClr val="DCDCDC"/>
          </a:solidFill>
          <a:ln w="12700">
            <a:solidFill>
              <a:srgbClr val="333333">
                <a:alpha val="0"/>
              </a:srgbClr>
            </a:solidFill>
            <a:prstDash val="solid"/>
          </a:ln>
        </p:spPr>
      </p:sp>
      <p:sp>
        <p:nvSpPr>
          <p:cNvPr id="23" name="Text 21"/>
          <p:cNvSpPr/>
          <p:nvPr/>
        </p:nvSpPr>
        <p:spPr>
          <a:xfrm>
            <a:off x="5470922" y="2091184"/>
            <a:ext cx="641521"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Below 5%</a:t>
            </a:r>
            <a:endParaRPr lang="en-US" sz="1013" dirty="0"/>
          </a:p>
        </p:txBody>
      </p:sp>
      <p:sp>
        <p:nvSpPr>
          <p:cNvPr id="24" name="Text 22"/>
          <p:cNvSpPr/>
          <p:nvPr/>
        </p:nvSpPr>
        <p:spPr>
          <a:xfrm>
            <a:off x="6071295" y="2091184"/>
            <a:ext cx="2464219"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of eligible users initially; validate detection</a:t>
            </a:r>
            <a:endParaRPr lang="en-US" sz="1013" dirty="0"/>
          </a:p>
        </p:txBody>
      </p:sp>
      <p:sp>
        <p:nvSpPr>
          <p:cNvPr id="25" name="Text 23"/>
          <p:cNvSpPr/>
          <p:nvPr/>
        </p:nvSpPr>
        <p:spPr>
          <a:xfrm>
            <a:off x="5470922" y="2258318"/>
            <a:ext cx="284184"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time</a:t>
            </a:r>
            <a:endParaRPr lang="en-US" sz="1013" dirty="0"/>
          </a:p>
        </p:txBody>
      </p:sp>
      <p:sp>
        <p:nvSpPr>
          <p:cNvPr id="26" name="Shape 24"/>
          <p:cNvSpPr/>
          <p:nvPr/>
        </p:nvSpPr>
        <p:spPr>
          <a:xfrm>
            <a:off x="457200" y="2816423"/>
            <a:ext cx="2468761" cy="9525"/>
          </a:xfrm>
          <a:prstGeom prst="rect">
            <a:avLst/>
          </a:prstGeom>
          <a:solidFill>
            <a:srgbClr val="DCDCDC"/>
          </a:solidFill>
          <a:ln w="12700">
            <a:solidFill>
              <a:srgbClr val="333333">
                <a:alpha val="0"/>
              </a:srgbClr>
            </a:solidFill>
            <a:prstDash val="solid"/>
          </a:ln>
        </p:spPr>
      </p:sp>
      <p:sp>
        <p:nvSpPr>
          <p:cNvPr id="27" name="Text 25"/>
          <p:cNvSpPr/>
          <p:nvPr/>
        </p:nvSpPr>
        <p:spPr>
          <a:xfrm>
            <a:off x="533400" y="2587377"/>
            <a:ext cx="2249757"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Release cadence, payments journey</a:t>
            </a:r>
            <a:endParaRPr lang="en-US" sz="1013" dirty="0"/>
          </a:p>
        </p:txBody>
      </p:sp>
      <p:sp>
        <p:nvSpPr>
          <p:cNvPr id="28" name="Shape 26"/>
          <p:cNvSpPr/>
          <p:nvPr/>
        </p:nvSpPr>
        <p:spPr>
          <a:xfrm>
            <a:off x="2925961" y="2816423"/>
            <a:ext cx="2468761" cy="9525"/>
          </a:xfrm>
          <a:prstGeom prst="rect">
            <a:avLst/>
          </a:prstGeom>
          <a:solidFill>
            <a:srgbClr val="DCDCDC"/>
          </a:solidFill>
          <a:ln w="12700">
            <a:solidFill>
              <a:srgbClr val="333333">
                <a:alpha val="0"/>
              </a:srgbClr>
            </a:solidFill>
            <a:prstDash val="solid"/>
          </a:ln>
        </p:spPr>
      </p:sp>
      <p:sp>
        <p:nvSpPr>
          <p:cNvPr id="29" name="Text 27"/>
          <p:cNvSpPr/>
          <p:nvPr/>
        </p:nvSpPr>
        <p:spPr>
          <a:xfrm>
            <a:off x="3002161" y="2587377"/>
            <a:ext cx="1234750"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Monthly release train</a:t>
            </a:r>
            <a:endParaRPr lang="en-US" sz="1013" dirty="0"/>
          </a:p>
        </p:txBody>
      </p:sp>
      <p:sp>
        <p:nvSpPr>
          <p:cNvPr id="30" name="Shape 28"/>
          <p:cNvSpPr/>
          <p:nvPr/>
        </p:nvSpPr>
        <p:spPr>
          <a:xfrm>
            <a:off x="5394722" y="2816423"/>
            <a:ext cx="3292078" cy="9525"/>
          </a:xfrm>
          <a:prstGeom prst="rect">
            <a:avLst/>
          </a:prstGeom>
          <a:solidFill>
            <a:srgbClr val="DCDCDC"/>
          </a:solidFill>
          <a:ln w="12700">
            <a:solidFill>
              <a:srgbClr val="333333">
                <a:alpha val="0"/>
              </a:srgbClr>
            </a:solidFill>
            <a:prstDash val="solid"/>
          </a:ln>
        </p:spPr>
      </p:sp>
      <p:sp>
        <p:nvSpPr>
          <p:cNvPr id="31" name="Text 29"/>
          <p:cNvSpPr/>
          <p:nvPr/>
        </p:nvSpPr>
        <p:spPr>
          <a:xfrm>
            <a:off x="5470922" y="2587377"/>
            <a:ext cx="481977"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Weekly</a:t>
            </a:r>
            <a:endParaRPr lang="en-US" sz="1013" dirty="0"/>
          </a:p>
        </p:txBody>
      </p:sp>
      <p:sp>
        <p:nvSpPr>
          <p:cNvPr id="32" name="Text 30"/>
          <p:cNvSpPr/>
          <p:nvPr/>
        </p:nvSpPr>
        <p:spPr>
          <a:xfrm>
            <a:off x="5911751" y="2587377"/>
            <a:ext cx="2114026"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with deploy separated from release</a:t>
            </a:r>
            <a:endParaRPr lang="en-US" sz="1013" dirty="0"/>
          </a:p>
        </p:txBody>
      </p:sp>
      <p:sp>
        <p:nvSpPr>
          <p:cNvPr id="33" name="Shape 31"/>
          <p:cNvSpPr/>
          <p:nvPr/>
        </p:nvSpPr>
        <p:spPr>
          <a:xfrm>
            <a:off x="457200" y="3145482"/>
            <a:ext cx="2468761" cy="9525"/>
          </a:xfrm>
          <a:prstGeom prst="rect">
            <a:avLst/>
          </a:prstGeom>
          <a:solidFill>
            <a:srgbClr val="DCDCDC"/>
          </a:solidFill>
          <a:ln w="12700">
            <a:solidFill>
              <a:srgbClr val="333333">
                <a:alpha val="0"/>
              </a:srgbClr>
            </a:solidFill>
            <a:prstDash val="solid"/>
          </a:ln>
        </p:spPr>
      </p:sp>
      <p:sp>
        <p:nvSpPr>
          <p:cNvPr id="34" name="Text 32"/>
          <p:cNvSpPr/>
          <p:nvPr/>
        </p:nvSpPr>
        <p:spPr>
          <a:xfrm>
            <a:off x="533400" y="2916436"/>
            <a:ext cx="1677513"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Audit evidence per change</a:t>
            </a:r>
            <a:endParaRPr lang="en-US" sz="1013" dirty="0"/>
          </a:p>
        </p:txBody>
      </p:sp>
      <p:sp>
        <p:nvSpPr>
          <p:cNvPr id="35" name="Shape 33"/>
          <p:cNvSpPr/>
          <p:nvPr/>
        </p:nvSpPr>
        <p:spPr>
          <a:xfrm>
            <a:off x="2925961" y="3145482"/>
            <a:ext cx="2468761" cy="9525"/>
          </a:xfrm>
          <a:prstGeom prst="rect">
            <a:avLst/>
          </a:prstGeom>
          <a:solidFill>
            <a:srgbClr val="DCDCDC"/>
          </a:solidFill>
          <a:ln w="12700">
            <a:solidFill>
              <a:srgbClr val="333333">
                <a:alpha val="0"/>
              </a:srgbClr>
            </a:solidFill>
            <a:prstDash val="solid"/>
          </a:ln>
        </p:spPr>
      </p:sp>
      <p:sp>
        <p:nvSpPr>
          <p:cNvPr id="36" name="Text 34"/>
          <p:cNvSpPr/>
          <p:nvPr/>
        </p:nvSpPr>
        <p:spPr>
          <a:xfrm>
            <a:off x="3002161" y="2916436"/>
            <a:ext cx="1842415"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Manual tickets and screenshots</a:t>
            </a:r>
            <a:endParaRPr lang="en-US" sz="1013" dirty="0"/>
          </a:p>
        </p:txBody>
      </p:sp>
      <p:sp>
        <p:nvSpPr>
          <p:cNvPr id="37" name="Shape 35"/>
          <p:cNvSpPr/>
          <p:nvPr/>
        </p:nvSpPr>
        <p:spPr>
          <a:xfrm>
            <a:off x="5394722" y="3145482"/>
            <a:ext cx="3292078" cy="9525"/>
          </a:xfrm>
          <a:prstGeom prst="rect">
            <a:avLst/>
          </a:prstGeom>
          <a:solidFill>
            <a:srgbClr val="DCDCDC"/>
          </a:solidFill>
          <a:ln w="12700">
            <a:solidFill>
              <a:srgbClr val="333333">
                <a:alpha val="0"/>
              </a:srgbClr>
            </a:solidFill>
            <a:prstDash val="solid"/>
          </a:ln>
        </p:spPr>
      </p:sp>
      <p:sp>
        <p:nvSpPr>
          <p:cNvPr id="38" name="Text 36"/>
          <p:cNvSpPr/>
          <p:nvPr/>
        </p:nvSpPr>
        <p:spPr>
          <a:xfrm>
            <a:off x="5470922" y="2916436"/>
            <a:ext cx="669947"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Automatic</a:t>
            </a:r>
            <a:endParaRPr lang="en-US" sz="1013" dirty="0"/>
          </a:p>
        </p:txBody>
      </p:sp>
      <p:sp>
        <p:nvSpPr>
          <p:cNvPr id="39" name="Text 37"/>
          <p:cNvSpPr/>
          <p:nvPr/>
        </p:nvSpPr>
        <p:spPr>
          <a:xfrm>
            <a:off x="6099721" y="2916436"/>
            <a:ext cx="158509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who, what, when and why</a:t>
            </a:r>
            <a:endParaRPr lang="en-US" sz="1013" dirty="0"/>
          </a:p>
        </p:txBody>
      </p:sp>
      <p:sp>
        <p:nvSpPr>
          <p:cNvPr id="40" name="Shape 38"/>
          <p:cNvSpPr/>
          <p:nvPr/>
        </p:nvSpPr>
        <p:spPr>
          <a:xfrm>
            <a:off x="457200" y="3641675"/>
            <a:ext cx="2468761" cy="9525"/>
          </a:xfrm>
          <a:prstGeom prst="rect">
            <a:avLst/>
          </a:prstGeom>
          <a:solidFill>
            <a:srgbClr val="DCDCDC"/>
          </a:solidFill>
          <a:ln w="12700">
            <a:solidFill>
              <a:srgbClr val="333333">
                <a:alpha val="0"/>
              </a:srgbClr>
            </a:solidFill>
            <a:prstDash val="solid"/>
          </a:ln>
        </p:spPr>
      </p:sp>
      <p:sp>
        <p:nvSpPr>
          <p:cNvPr id="41" name="Text 39"/>
          <p:cNvSpPr/>
          <p:nvPr/>
        </p:nvSpPr>
        <p:spPr>
          <a:xfrm>
            <a:off x="533400" y="3245495"/>
            <a:ext cx="1763238"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Data shared with the vendor</a:t>
            </a:r>
            <a:endParaRPr lang="en-US" sz="1013" dirty="0"/>
          </a:p>
        </p:txBody>
      </p:sp>
      <p:sp>
        <p:nvSpPr>
          <p:cNvPr id="42" name="Shape 40"/>
          <p:cNvSpPr/>
          <p:nvPr/>
        </p:nvSpPr>
        <p:spPr>
          <a:xfrm>
            <a:off x="2925961" y="3641675"/>
            <a:ext cx="2468761" cy="9525"/>
          </a:xfrm>
          <a:prstGeom prst="rect">
            <a:avLst/>
          </a:prstGeom>
          <a:solidFill>
            <a:srgbClr val="DCDCDC"/>
          </a:solidFill>
          <a:ln w="12700">
            <a:solidFill>
              <a:srgbClr val="333333">
                <a:alpha val="0"/>
              </a:srgbClr>
            </a:solidFill>
            <a:prstDash val="solid"/>
          </a:ln>
        </p:spPr>
      </p:sp>
      <p:sp>
        <p:nvSpPr>
          <p:cNvPr id="43" name="Text 41"/>
          <p:cNvSpPr/>
          <p:nvPr/>
        </p:nvSpPr>
        <p:spPr>
          <a:xfrm>
            <a:off x="3002161" y="3245495"/>
            <a:ext cx="165623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To confirm in security review</a:t>
            </a:r>
            <a:endParaRPr lang="en-US" sz="1013" dirty="0"/>
          </a:p>
        </p:txBody>
      </p:sp>
      <p:sp>
        <p:nvSpPr>
          <p:cNvPr id="44" name="Shape 42"/>
          <p:cNvSpPr/>
          <p:nvPr/>
        </p:nvSpPr>
        <p:spPr>
          <a:xfrm>
            <a:off x="5394722" y="3641675"/>
            <a:ext cx="3292078" cy="9525"/>
          </a:xfrm>
          <a:prstGeom prst="rect">
            <a:avLst/>
          </a:prstGeom>
          <a:solidFill>
            <a:srgbClr val="DCDCDC"/>
          </a:solidFill>
          <a:ln w="12700">
            <a:solidFill>
              <a:srgbClr val="333333">
                <a:alpha val="0"/>
              </a:srgbClr>
            </a:solidFill>
            <a:prstDash val="solid"/>
          </a:ln>
        </p:spPr>
      </p:sp>
      <p:sp>
        <p:nvSpPr>
          <p:cNvPr id="45" name="Text 43"/>
          <p:cNvSpPr/>
          <p:nvPr/>
        </p:nvSpPr>
        <p:spPr>
          <a:xfrm>
            <a:off x="5470922" y="3245495"/>
            <a:ext cx="1256181"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No names or emails</a:t>
            </a:r>
            <a:endParaRPr lang="en-US" sz="1013" dirty="0"/>
          </a:p>
        </p:txBody>
      </p:sp>
      <p:sp>
        <p:nvSpPr>
          <p:cNvPr id="46" name="Text 44"/>
          <p:cNvSpPr/>
          <p:nvPr/>
        </p:nvSpPr>
        <p:spPr>
          <a:xfrm>
            <a:off x="6685955" y="3245495"/>
            <a:ext cx="1528090"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assess opaque keys and</a:t>
            </a:r>
            <a:endParaRPr lang="en-US" sz="1013" dirty="0"/>
          </a:p>
        </p:txBody>
      </p:sp>
      <p:sp>
        <p:nvSpPr>
          <p:cNvPr id="47" name="Text 45"/>
          <p:cNvSpPr/>
          <p:nvPr/>
        </p:nvSpPr>
        <p:spPr>
          <a:xfrm>
            <a:off x="5470922" y="3412629"/>
            <a:ext cx="570083"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attributes</a:t>
            </a:r>
            <a:endParaRPr lang="en-US" sz="1013" dirty="0"/>
          </a:p>
        </p:txBody>
      </p:sp>
      <p:sp>
        <p:nvSpPr>
          <p:cNvPr id="48" name="Text 46"/>
          <p:cNvSpPr/>
          <p:nvPr/>
        </p:nvSpPr>
        <p:spPr>
          <a:xfrm>
            <a:off x="457200" y="4457700"/>
            <a:ext cx="4294507" cy="140665"/>
          </a:xfrm>
          <a:prstGeom prst="rect">
            <a:avLst/>
          </a:prstGeom>
          <a:noFill/>
          <a:ln/>
        </p:spPr>
        <p:txBody>
          <a:bodyPr wrap="none" lIns="0" tIns="0" rIns="0" bIns="0" rtlCol="0" anchor="ctr"/>
          <a:lstStyle/>
          <a:p>
            <a:pPr indent="0" marL="0">
              <a:buNone/>
            </a:pPr>
            <a:r>
              <a:rPr lang="en-US" sz="900" i="1" dirty="0">
                <a:solidFill>
                  <a:srgbClr val="8A8A8A"/>
                </a:solidFill>
                <a:latin typeface="Arial" pitchFamily="34" charset="0"/>
                <a:ea typeface="Arial" pitchFamily="34" charset="-122"/>
                <a:cs typeface="Arial" pitchFamily="34" charset="-120"/>
              </a:rPr>
              <a:t>"Today" values are our assumptions. Agreeing the real baseline is the first next step.</a:t>
            </a:r>
            <a:endParaRPr lang="en-US" sz="900" dirty="0"/>
          </a:p>
        </p:txBody>
      </p:sp>
      <p:sp>
        <p:nvSpPr>
          <p:cNvPr id="49" name="Shape 47"/>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50"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7642098"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we assumed, and what we need to ask</a:t>
            </a:r>
            <a:endParaRPr lang="en-US" sz="3000" dirty="0"/>
          </a:p>
        </p:txBody>
      </p:sp>
      <p:sp>
        <p:nvSpPr>
          <p:cNvPr id="4" name="Text 2"/>
          <p:cNvSpPr/>
          <p:nvPr/>
        </p:nvSpPr>
        <p:spPr>
          <a:xfrm>
            <a:off x="457200" y="838200"/>
            <a:ext cx="555329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The brief was incomplete on purpose. These are the gaps we filled, stated openly.</a:t>
            </a:r>
            <a:endParaRPr lang="en-US" sz="1200" dirty="0"/>
          </a:p>
        </p:txBody>
      </p:sp>
      <p:sp>
        <p:nvSpPr>
          <p:cNvPr id="5" name="Text 3"/>
          <p:cNvSpPr/>
          <p:nvPr/>
        </p:nvSpPr>
        <p:spPr>
          <a:xfrm>
            <a:off x="457200" y="1524000"/>
            <a:ext cx="1554135"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ASSUMPTIONS WE MADE</a:t>
            </a:r>
            <a:endParaRPr lang="en-US" sz="900" dirty="0"/>
          </a:p>
        </p:txBody>
      </p:sp>
      <p:sp>
        <p:nvSpPr>
          <p:cNvPr id="6" name="Text 4"/>
          <p:cNvSpPr/>
          <p:nvPr/>
        </p:nvSpPr>
        <p:spPr>
          <a:xfrm>
            <a:off x="457200" y="1790700"/>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7" name="Text 5"/>
          <p:cNvSpPr/>
          <p:nvPr/>
        </p:nvSpPr>
        <p:spPr>
          <a:xfrm>
            <a:off x="685800" y="1800225"/>
            <a:ext cx="3590848"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web payment journey comes first. Mobile follows on</a:t>
            </a:r>
            <a:endParaRPr lang="en-US" sz="1125" dirty="0"/>
          </a:p>
        </p:txBody>
      </p:sp>
      <p:sp>
        <p:nvSpPr>
          <p:cNvPr id="8" name="Text 6"/>
          <p:cNvSpPr/>
          <p:nvPr/>
        </p:nvSpPr>
        <p:spPr>
          <a:xfrm>
            <a:off x="685800" y="1993106"/>
            <a:ext cx="101001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same flags.</a:t>
            </a:r>
            <a:endParaRPr lang="en-US" sz="1125" dirty="0"/>
          </a:p>
        </p:txBody>
      </p:sp>
      <p:sp>
        <p:nvSpPr>
          <p:cNvPr id="9" name="Text 7"/>
          <p:cNvSpPr/>
          <p:nvPr/>
        </p:nvSpPr>
        <p:spPr>
          <a:xfrm>
            <a:off x="457200" y="2271713"/>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281238"/>
            <a:ext cx="3471190"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UK is the first market. Other markets wait for local</a:t>
            </a:r>
            <a:endParaRPr lang="en-US" sz="1125" dirty="0"/>
          </a:p>
        </p:txBody>
      </p:sp>
      <p:sp>
        <p:nvSpPr>
          <p:cNvPr id="11" name="Text 9"/>
          <p:cNvSpPr/>
          <p:nvPr/>
        </p:nvSpPr>
        <p:spPr>
          <a:xfrm>
            <a:off x="685800" y="2474119"/>
            <a:ext cx="62901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approval.</a:t>
            </a:r>
            <a:endParaRPr lang="en-US" sz="1125" dirty="0"/>
          </a:p>
        </p:txBody>
      </p:sp>
      <p:sp>
        <p:nvSpPr>
          <p:cNvPr id="12" name="Text 10"/>
          <p:cNvSpPr/>
          <p:nvPr/>
        </p:nvSpPr>
        <p:spPr>
          <a:xfrm>
            <a:off x="457200" y="2752725"/>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3" name="Text 11"/>
          <p:cNvSpPr/>
          <p:nvPr/>
        </p:nvSpPr>
        <p:spPr>
          <a:xfrm>
            <a:off x="685800" y="2762250"/>
            <a:ext cx="3559296"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Customer identity comes from an authenticated session</a:t>
            </a:r>
            <a:endParaRPr lang="en-US" sz="1125" dirty="0"/>
          </a:p>
        </p:txBody>
      </p:sp>
      <p:sp>
        <p:nvSpPr>
          <p:cNvPr id="14" name="Text 12"/>
          <p:cNvSpPr/>
          <p:nvPr/>
        </p:nvSpPr>
        <p:spPr>
          <a:xfrm>
            <a:off x="685800" y="2955131"/>
            <a:ext cx="1137267"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on your backend.</a:t>
            </a:r>
            <a:endParaRPr lang="en-US" sz="1125" dirty="0"/>
          </a:p>
        </p:txBody>
      </p:sp>
      <p:sp>
        <p:nvSpPr>
          <p:cNvPr id="15" name="Text 13"/>
          <p:cNvSpPr/>
          <p:nvPr/>
        </p:nvSpPr>
        <p:spPr>
          <a:xfrm>
            <a:off x="457200" y="3233738"/>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6" name="Text 14"/>
          <p:cNvSpPr/>
          <p:nvPr/>
        </p:nvSpPr>
        <p:spPr>
          <a:xfrm>
            <a:off x="685800" y="3243263"/>
            <a:ext cx="3495895"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Your existing monitoring tools stay. LaunchDarkly adds</a:t>
            </a:r>
            <a:endParaRPr lang="en-US" sz="1125" dirty="0"/>
          </a:p>
        </p:txBody>
      </p:sp>
      <p:sp>
        <p:nvSpPr>
          <p:cNvPr id="17" name="Text 15"/>
          <p:cNvSpPr/>
          <p:nvPr/>
        </p:nvSpPr>
        <p:spPr>
          <a:xfrm>
            <a:off x="685800" y="3436144"/>
            <a:ext cx="1375392"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release-level signals.</a:t>
            </a:r>
            <a:endParaRPr lang="en-US" sz="1125" dirty="0"/>
          </a:p>
        </p:txBody>
      </p:sp>
      <p:sp>
        <p:nvSpPr>
          <p:cNvPr id="18" name="Text 16"/>
          <p:cNvSpPr/>
          <p:nvPr/>
        </p:nvSpPr>
        <p:spPr>
          <a:xfrm>
            <a:off x="4762500" y="1524000"/>
            <a:ext cx="1345775"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QUESTIONS FOR YOU</a:t>
            </a:r>
            <a:endParaRPr lang="en-US" sz="900" dirty="0"/>
          </a:p>
        </p:txBody>
      </p:sp>
      <p:sp>
        <p:nvSpPr>
          <p:cNvPr id="19" name="Text 17"/>
          <p:cNvSpPr/>
          <p:nvPr/>
        </p:nvSpPr>
        <p:spPr>
          <a:xfrm>
            <a:off x="4762500" y="1790700"/>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0" name="Text 18"/>
          <p:cNvSpPr/>
          <p:nvPr/>
        </p:nvSpPr>
        <p:spPr>
          <a:xfrm>
            <a:off x="4991100" y="1800225"/>
            <a:ext cx="3495746"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Which change controls must a flag change pass (CAB,</a:t>
            </a:r>
            <a:endParaRPr lang="en-US" sz="1125" dirty="0"/>
          </a:p>
        </p:txBody>
      </p:sp>
      <p:sp>
        <p:nvSpPr>
          <p:cNvPr id="21" name="Text 19"/>
          <p:cNvSpPr/>
          <p:nvPr/>
        </p:nvSpPr>
        <p:spPr>
          <a:xfrm>
            <a:off x="4991100" y="1993106"/>
            <a:ext cx="1351580"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four-eyes approval)?</a:t>
            </a:r>
            <a:endParaRPr lang="en-US" sz="1125" dirty="0"/>
          </a:p>
        </p:txBody>
      </p:sp>
      <p:sp>
        <p:nvSpPr>
          <p:cNvPr id="22" name="Text 20"/>
          <p:cNvSpPr/>
          <p:nvPr/>
        </p:nvSpPr>
        <p:spPr>
          <a:xfrm>
            <a:off x="4762500" y="2271713"/>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3" name="Text 21"/>
          <p:cNvSpPr/>
          <p:nvPr/>
        </p:nvSpPr>
        <p:spPr>
          <a:xfrm>
            <a:off x="4991100" y="2281238"/>
            <a:ext cx="3027533"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Where may flag and event data be stored (data</a:t>
            </a:r>
            <a:endParaRPr lang="en-US" sz="1125" dirty="0"/>
          </a:p>
        </p:txBody>
      </p:sp>
      <p:sp>
        <p:nvSpPr>
          <p:cNvPr id="24" name="Text 22"/>
          <p:cNvSpPr/>
          <p:nvPr/>
        </p:nvSpPr>
        <p:spPr>
          <a:xfrm>
            <a:off x="4991100" y="2474119"/>
            <a:ext cx="779782"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residency)?</a:t>
            </a:r>
            <a:endParaRPr lang="en-US" sz="1125" dirty="0"/>
          </a:p>
        </p:txBody>
      </p:sp>
      <p:sp>
        <p:nvSpPr>
          <p:cNvPr id="25" name="Text 23"/>
          <p:cNvSpPr/>
          <p:nvPr/>
        </p:nvSpPr>
        <p:spPr>
          <a:xfrm>
            <a:off x="4762500" y="2752725"/>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6" name="Text 24"/>
          <p:cNvSpPr/>
          <p:nvPr/>
        </p:nvSpPr>
        <p:spPr>
          <a:xfrm>
            <a:off x="4991100" y="2762250"/>
            <a:ext cx="365290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Which metrics define a "healthy" payment journey today?</a:t>
            </a:r>
            <a:endParaRPr lang="en-US" sz="1125" dirty="0"/>
          </a:p>
        </p:txBody>
      </p:sp>
      <p:sp>
        <p:nvSpPr>
          <p:cNvPr id="27" name="Text 25"/>
          <p:cNvSpPr/>
          <p:nvPr/>
        </p:nvSpPr>
        <p:spPr>
          <a:xfrm>
            <a:off x="4762500" y="3040856"/>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8" name="Text 26"/>
          <p:cNvSpPr/>
          <p:nvPr/>
        </p:nvSpPr>
        <p:spPr>
          <a:xfrm>
            <a:off x="4991100" y="3050381"/>
            <a:ext cx="2947464"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Who is allowed to press the kill switch at 2am:</a:t>
            </a:r>
            <a:endParaRPr lang="en-US" sz="1125" dirty="0"/>
          </a:p>
        </p:txBody>
      </p:sp>
      <p:sp>
        <p:nvSpPr>
          <p:cNvPr id="29" name="Text 27"/>
          <p:cNvSpPr/>
          <p:nvPr/>
        </p:nvSpPr>
        <p:spPr>
          <a:xfrm>
            <a:off x="4991100" y="3243263"/>
            <a:ext cx="2622721"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engineering, operations or the business?</a:t>
            </a:r>
            <a:endParaRPr lang="en-US" sz="1125" dirty="0"/>
          </a:p>
        </p:txBody>
      </p:sp>
      <p:sp>
        <p:nvSpPr>
          <p:cNvPr id="30" name="Shape 28"/>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31"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A34FDE"/>
                </a:solidFill>
                <a:latin typeface="Arial" pitchFamily="34" charset="0"/>
                <a:ea typeface="Arial" pitchFamily="34" charset="-122"/>
                <a:cs typeface="Arial" pitchFamily="34" charset="-120"/>
              </a:rPr>
              <a:t>02</a:t>
            </a:r>
            <a:endParaRPr lang="en-US" sz="4050" dirty="0"/>
          </a:p>
        </p:txBody>
      </p:sp>
      <p:sp>
        <p:nvSpPr>
          <p:cNvPr id="4" name="Text 2"/>
          <p:cNvSpPr/>
          <p:nvPr/>
        </p:nvSpPr>
        <p:spPr>
          <a:xfrm>
            <a:off x="457200" y="1981200"/>
            <a:ext cx="1870394"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Demo</a:t>
            </a:r>
            <a:endParaRPr lang="en-US" sz="5400" dirty="0"/>
          </a:p>
        </p:txBody>
      </p:sp>
      <p:sp>
        <p:nvSpPr>
          <p:cNvPr id="5" name="Text 3"/>
          <p:cNvSpPr/>
          <p:nvPr/>
        </p:nvSpPr>
        <p:spPr>
          <a:xfrm>
            <a:off x="457200" y="2895600"/>
            <a:ext cx="6051869"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Release and Observe, applied to the riskiest journey you have: sending money.</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4327547"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you're about to see</a:t>
            </a:r>
            <a:endParaRPr lang="en-US" sz="3000" dirty="0"/>
          </a:p>
        </p:txBody>
      </p:sp>
      <p:sp>
        <p:nvSpPr>
          <p:cNvPr id="4" name="Text 2"/>
          <p:cNvSpPr/>
          <p:nvPr/>
        </p:nvSpPr>
        <p:spPr>
          <a:xfrm>
            <a:off x="457200" y="838200"/>
            <a:ext cx="7916388"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Five moments in the Northwind payments app and LaunchDarkly. Each one answers a pain from Our Understanding.</a:t>
            </a:r>
            <a:endParaRPr lang="en-US" sz="1200" dirty="0"/>
          </a:p>
        </p:txBody>
      </p:sp>
      <p:sp>
        <p:nvSpPr>
          <p:cNvPr id="5" name="Shape 3"/>
          <p:cNvSpPr/>
          <p:nvPr/>
        </p:nvSpPr>
        <p:spPr>
          <a:xfrm>
            <a:off x="457200" y="1476375"/>
            <a:ext cx="329059" cy="19050"/>
          </a:xfrm>
          <a:prstGeom prst="rect">
            <a:avLst/>
          </a:prstGeom>
          <a:solidFill>
            <a:srgbClr val="1A1A1A"/>
          </a:solidFill>
          <a:ln w="12700">
            <a:solidFill>
              <a:srgbClr val="333333">
                <a:alpha val="0"/>
              </a:srgbClr>
            </a:solidFill>
            <a:prstDash val="solid"/>
          </a:ln>
        </p:spPr>
      </p:sp>
      <p:sp>
        <p:nvSpPr>
          <p:cNvPr id="6" name="Text 4"/>
          <p:cNvSpPr/>
          <p:nvPr/>
        </p:nvSpPr>
        <p:spPr>
          <a:xfrm>
            <a:off x="533400" y="1314450"/>
            <a:ext cx="104251"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a:t>
            </a:r>
            <a:endParaRPr lang="en-US" sz="825" dirty="0"/>
          </a:p>
        </p:txBody>
      </p:sp>
      <p:sp>
        <p:nvSpPr>
          <p:cNvPr id="7" name="Shape 5"/>
          <p:cNvSpPr/>
          <p:nvPr/>
        </p:nvSpPr>
        <p:spPr>
          <a:xfrm>
            <a:off x="786259" y="1476375"/>
            <a:ext cx="2057400" cy="19050"/>
          </a:xfrm>
          <a:prstGeom prst="rect">
            <a:avLst/>
          </a:prstGeom>
          <a:solidFill>
            <a:srgbClr val="1A1A1A"/>
          </a:solidFill>
          <a:ln w="12700">
            <a:solidFill>
              <a:srgbClr val="333333">
                <a:alpha val="0"/>
              </a:srgbClr>
            </a:solidFill>
            <a:prstDash val="solid"/>
          </a:ln>
        </p:spPr>
      </p:sp>
      <p:sp>
        <p:nvSpPr>
          <p:cNvPr id="8" name="Text 6"/>
          <p:cNvSpPr/>
          <p:nvPr/>
        </p:nvSpPr>
        <p:spPr>
          <a:xfrm>
            <a:off x="862459" y="1314450"/>
            <a:ext cx="807762"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YOU TOLD US</a:t>
            </a:r>
            <a:endParaRPr lang="en-US" sz="825" dirty="0"/>
          </a:p>
        </p:txBody>
      </p:sp>
      <p:sp>
        <p:nvSpPr>
          <p:cNvPr id="9" name="Shape 7"/>
          <p:cNvSpPr/>
          <p:nvPr/>
        </p:nvSpPr>
        <p:spPr>
          <a:xfrm>
            <a:off x="2843659" y="1476375"/>
            <a:ext cx="3291780" cy="19050"/>
          </a:xfrm>
          <a:prstGeom prst="rect">
            <a:avLst/>
          </a:prstGeom>
          <a:solidFill>
            <a:srgbClr val="1A1A1A"/>
          </a:solidFill>
          <a:ln w="12700">
            <a:solidFill>
              <a:srgbClr val="333333">
                <a:alpha val="0"/>
              </a:srgbClr>
            </a:solidFill>
            <a:prstDash val="solid"/>
          </a:ln>
        </p:spPr>
      </p:sp>
      <p:sp>
        <p:nvSpPr>
          <p:cNvPr id="10" name="Text 8"/>
          <p:cNvSpPr/>
          <p:nvPr/>
        </p:nvSpPr>
        <p:spPr>
          <a:xfrm>
            <a:off x="2919859" y="1314450"/>
            <a:ext cx="1036957"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WE'LL SHOW YOU</a:t>
            </a:r>
            <a:endParaRPr lang="en-US" sz="825" dirty="0"/>
          </a:p>
        </p:txBody>
      </p:sp>
      <p:sp>
        <p:nvSpPr>
          <p:cNvPr id="11" name="Shape 9"/>
          <p:cNvSpPr/>
          <p:nvPr/>
        </p:nvSpPr>
        <p:spPr>
          <a:xfrm>
            <a:off x="6135439" y="1476375"/>
            <a:ext cx="2551361" cy="19050"/>
          </a:xfrm>
          <a:prstGeom prst="rect">
            <a:avLst/>
          </a:prstGeom>
          <a:solidFill>
            <a:srgbClr val="1A1A1A"/>
          </a:solidFill>
          <a:ln w="12700">
            <a:solidFill>
              <a:srgbClr val="333333">
                <a:alpha val="0"/>
              </a:srgbClr>
            </a:solidFill>
            <a:prstDash val="solid"/>
          </a:ln>
        </p:spPr>
      </p:sp>
      <p:sp>
        <p:nvSpPr>
          <p:cNvPr id="12" name="Text 10"/>
          <p:cNvSpPr/>
          <p:nvPr/>
        </p:nvSpPr>
        <p:spPr>
          <a:xfrm>
            <a:off x="6211639" y="1314450"/>
            <a:ext cx="1887956"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CAPABILITY → METRIC IT MOVES</a:t>
            </a:r>
            <a:endParaRPr lang="en-US" sz="825" dirty="0"/>
          </a:p>
        </p:txBody>
      </p:sp>
      <p:sp>
        <p:nvSpPr>
          <p:cNvPr id="13" name="Shape 11"/>
          <p:cNvSpPr/>
          <p:nvPr/>
        </p:nvSpPr>
        <p:spPr>
          <a:xfrm>
            <a:off x="457200" y="1962150"/>
            <a:ext cx="329059" cy="9525"/>
          </a:xfrm>
          <a:prstGeom prst="rect">
            <a:avLst/>
          </a:prstGeom>
          <a:solidFill>
            <a:srgbClr val="DCDCDC"/>
          </a:solidFill>
          <a:ln w="12700">
            <a:solidFill>
              <a:srgbClr val="333333">
                <a:alpha val="0"/>
              </a:srgbClr>
            </a:solidFill>
            <a:prstDash val="solid"/>
          </a:ln>
        </p:spPr>
      </p:sp>
      <p:sp>
        <p:nvSpPr>
          <p:cNvPr id="14" name="Text 12"/>
          <p:cNvSpPr/>
          <p:nvPr/>
        </p:nvSpPr>
        <p:spPr>
          <a:xfrm>
            <a:off x="533400" y="1590675"/>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1</a:t>
            </a:r>
            <a:endParaRPr lang="en-US" sz="938" dirty="0"/>
          </a:p>
        </p:txBody>
      </p:sp>
      <p:sp>
        <p:nvSpPr>
          <p:cNvPr id="15" name="Shape 13"/>
          <p:cNvSpPr/>
          <p:nvPr/>
        </p:nvSpPr>
        <p:spPr>
          <a:xfrm>
            <a:off x="786259" y="1962150"/>
            <a:ext cx="2057400" cy="9525"/>
          </a:xfrm>
          <a:prstGeom prst="rect">
            <a:avLst/>
          </a:prstGeom>
          <a:solidFill>
            <a:srgbClr val="DCDCDC"/>
          </a:solidFill>
          <a:ln w="12700">
            <a:solidFill>
              <a:srgbClr val="333333">
                <a:alpha val="0"/>
              </a:srgbClr>
            </a:solidFill>
            <a:prstDash val="solid"/>
          </a:ln>
        </p:spPr>
      </p:sp>
      <p:sp>
        <p:nvSpPr>
          <p:cNvPr id="16" name="Text 14"/>
          <p:cNvSpPr/>
          <p:nvPr/>
        </p:nvSpPr>
        <p:spPr>
          <a:xfrm>
            <a:off x="862459" y="1590675"/>
            <a:ext cx="151707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Every release goes to every</a:t>
            </a:r>
            <a:endParaRPr lang="en-US" sz="938" dirty="0"/>
          </a:p>
        </p:txBody>
      </p:sp>
      <p:sp>
        <p:nvSpPr>
          <p:cNvPr id="17" name="Text 15"/>
          <p:cNvSpPr/>
          <p:nvPr/>
        </p:nvSpPr>
        <p:spPr>
          <a:xfrm>
            <a:off x="862459" y="1745456"/>
            <a:ext cx="95450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customer at once</a:t>
            </a:r>
            <a:endParaRPr lang="en-US" sz="938" dirty="0"/>
          </a:p>
        </p:txBody>
      </p:sp>
      <p:sp>
        <p:nvSpPr>
          <p:cNvPr id="18" name="Shape 16"/>
          <p:cNvSpPr/>
          <p:nvPr/>
        </p:nvSpPr>
        <p:spPr>
          <a:xfrm>
            <a:off x="2843659" y="1962150"/>
            <a:ext cx="3291780" cy="9525"/>
          </a:xfrm>
          <a:prstGeom prst="rect">
            <a:avLst/>
          </a:prstGeom>
          <a:solidFill>
            <a:srgbClr val="DCDCDC"/>
          </a:solidFill>
          <a:ln w="12700">
            <a:solidFill>
              <a:srgbClr val="333333">
                <a:alpha val="0"/>
              </a:srgbClr>
            </a:solidFill>
            <a:prstDash val="solid"/>
          </a:ln>
        </p:spPr>
      </p:sp>
      <p:sp>
        <p:nvSpPr>
          <p:cNvPr id="19" name="Text 17"/>
          <p:cNvSpPr/>
          <p:nvPr/>
        </p:nvSpPr>
        <p:spPr>
          <a:xfrm>
            <a:off x="2919859" y="1590675"/>
            <a:ext cx="282988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Staff and UK beta get the new journey. Germany and</a:t>
            </a:r>
            <a:endParaRPr lang="en-US" sz="938" dirty="0"/>
          </a:p>
        </p:txBody>
      </p:sp>
      <p:sp>
        <p:nvSpPr>
          <p:cNvPr id="20" name="Text 18"/>
          <p:cNvSpPr/>
          <p:nvPr/>
        </p:nvSpPr>
        <p:spPr>
          <a:xfrm>
            <a:off x="2919859" y="1745456"/>
            <a:ext cx="249413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France stay on v1. The matched rule is visible.</a:t>
            </a:r>
            <a:endParaRPr lang="en-US" sz="938" dirty="0"/>
          </a:p>
        </p:txBody>
      </p:sp>
      <p:sp>
        <p:nvSpPr>
          <p:cNvPr id="21" name="Shape 19"/>
          <p:cNvSpPr/>
          <p:nvPr/>
        </p:nvSpPr>
        <p:spPr>
          <a:xfrm>
            <a:off x="6135439" y="1962150"/>
            <a:ext cx="2551361" cy="9525"/>
          </a:xfrm>
          <a:prstGeom prst="rect">
            <a:avLst/>
          </a:prstGeom>
          <a:solidFill>
            <a:srgbClr val="DCDCDC"/>
          </a:solidFill>
          <a:ln w="12700">
            <a:solidFill>
              <a:srgbClr val="333333">
                <a:alpha val="0"/>
              </a:srgbClr>
            </a:solidFill>
            <a:prstDash val="solid"/>
          </a:ln>
        </p:spPr>
      </p:sp>
      <p:sp>
        <p:nvSpPr>
          <p:cNvPr id="22" name="Text 20"/>
          <p:cNvSpPr/>
          <p:nvPr/>
        </p:nvSpPr>
        <p:spPr>
          <a:xfrm>
            <a:off x="6211639" y="1590675"/>
            <a:ext cx="1403818"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 rollouts and targeting</a:t>
            </a:r>
            <a:endParaRPr lang="en-US" sz="938" dirty="0"/>
          </a:p>
        </p:txBody>
      </p:sp>
      <p:sp>
        <p:nvSpPr>
          <p:cNvPr id="23" name="Text 21"/>
          <p:cNvSpPr/>
          <p:nvPr/>
        </p:nvSpPr>
        <p:spPr>
          <a:xfrm>
            <a:off x="7574310" y="1590675"/>
            <a:ext cx="1046928"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 of customers</a:t>
            </a:r>
            <a:endParaRPr lang="en-US" sz="938" dirty="0"/>
          </a:p>
        </p:txBody>
      </p:sp>
      <p:sp>
        <p:nvSpPr>
          <p:cNvPr id="24" name="Text 22"/>
          <p:cNvSpPr/>
          <p:nvPr/>
        </p:nvSpPr>
        <p:spPr>
          <a:xfrm>
            <a:off x="6211639" y="1745456"/>
            <a:ext cx="49135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exposed</a:t>
            </a:r>
            <a:endParaRPr lang="en-US" sz="938" dirty="0"/>
          </a:p>
        </p:txBody>
      </p:sp>
      <p:sp>
        <p:nvSpPr>
          <p:cNvPr id="25" name="Shape 23"/>
          <p:cNvSpPr/>
          <p:nvPr/>
        </p:nvSpPr>
        <p:spPr>
          <a:xfrm>
            <a:off x="457200" y="2433638"/>
            <a:ext cx="329059" cy="9525"/>
          </a:xfrm>
          <a:prstGeom prst="rect">
            <a:avLst/>
          </a:prstGeom>
          <a:solidFill>
            <a:srgbClr val="DCDCDC"/>
          </a:solidFill>
          <a:ln w="12700">
            <a:solidFill>
              <a:srgbClr val="333333">
                <a:alpha val="0"/>
              </a:srgbClr>
            </a:solidFill>
            <a:prstDash val="solid"/>
          </a:ln>
        </p:spPr>
      </p:sp>
      <p:sp>
        <p:nvSpPr>
          <p:cNvPr id="26" name="Text 24"/>
          <p:cNvSpPr/>
          <p:nvPr/>
        </p:nvSpPr>
        <p:spPr>
          <a:xfrm>
            <a:off x="533400" y="2062163"/>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2</a:t>
            </a:r>
            <a:endParaRPr lang="en-US" sz="938" dirty="0"/>
          </a:p>
        </p:txBody>
      </p:sp>
      <p:sp>
        <p:nvSpPr>
          <p:cNvPr id="27" name="Shape 25"/>
          <p:cNvSpPr/>
          <p:nvPr/>
        </p:nvSpPr>
        <p:spPr>
          <a:xfrm>
            <a:off x="786259" y="2433638"/>
            <a:ext cx="2057400" cy="9525"/>
          </a:xfrm>
          <a:prstGeom prst="rect">
            <a:avLst/>
          </a:prstGeom>
          <a:solidFill>
            <a:srgbClr val="DCDCDC"/>
          </a:solidFill>
          <a:ln w="12700">
            <a:solidFill>
              <a:srgbClr val="333333">
                <a:alpha val="0"/>
              </a:srgbClr>
            </a:solidFill>
            <a:prstDash val="solid"/>
          </a:ln>
        </p:spPr>
      </p:sp>
      <p:sp>
        <p:nvSpPr>
          <p:cNvPr id="28" name="Text 26"/>
          <p:cNvSpPr/>
          <p:nvPr/>
        </p:nvSpPr>
        <p:spPr>
          <a:xfrm>
            <a:off x="862459" y="2062163"/>
            <a:ext cx="167602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Regressions are found through</a:t>
            </a:r>
            <a:endParaRPr lang="en-US" sz="938" dirty="0"/>
          </a:p>
        </p:txBody>
      </p:sp>
      <p:sp>
        <p:nvSpPr>
          <p:cNvPr id="29" name="Text 27"/>
          <p:cNvSpPr/>
          <p:nvPr/>
        </p:nvSpPr>
        <p:spPr>
          <a:xfrm>
            <a:off x="862459" y="2216944"/>
            <a:ext cx="61026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complaints</a:t>
            </a:r>
            <a:endParaRPr lang="en-US" sz="938" dirty="0"/>
          </a:p>
        </p:txBody>
      </p:sp>
      <p:sp>
        <p:nvSpPr>
          <p:cNvPr id="30" name="Shape 28"/>
          <p:cNvSpPr/>
          <p:nvPr/>
        </p:nvSpPr>
        <p:spPr>
          <a:xfrm>
            <a:off x="2843659" y="2433638"/>
            <a:ext cx="3291780" cy="9525"/>
          </a:xfrm>
          <a:prstGeom prst="rect">
            <a:avLst/>
          </a:prstGeom>
          <a:solidFill>
            <a:srgbClr val="DCDCDC"/>
          </a:solidFill>
          <a:ln w="12700">
            <a:solidFill>
              <a:srgbClr val="333333">
                <a:alpha val="0"/>
              </a:srgbClr>
            </a:solidFill>
            <a:prstDash val="solid"/>
          </a:ln>
        </p:spPr>
      </p:sp>
      <p:sp>
        <p:nvSpPr>
          <p:cNvPr id="31" name="Text 29"/>
          <p:cNvSpPr/>
          <p:nvPr/>
        </p:nvSpPr>
        <p:spPr>
          <a:xfrm>
            <a:off x="2919859" y="2062163"/>
            <a:ext cx="3098822"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Injected regression, release metrics and guarded rollback.</a:t>
            </a:r>
            <a:endParaRPr lang="en-US" sz="938" dirty="0"/>
          </a:p>
        </p:txBody>
      </p:sp>
      <p:sp>
        <p:nvSpPr>
          <p:cNvPr id="32" name="Text 30"/>
          <p:cNvSpPr/>
          <p:nvPr/>
        </p:nvSpPr>
        <p:spPr>
          <a:xfrm>
            <a:off x="2919859" y="2216944"/>
            <a:ext cx="261557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Use a rehearsed result if analysis is still pending.</a:t>
            </a:r>
            <a:endParaRPr lang="en-US" sz="938" dirty="0"/>
          </a:p>
        </p:txBody>
      </p:sp>
      <p:sp>
        <p:nvSpPr>
          <p:cNvPr id="33" name="Shape 31"/>
          <p:cNvSpPr/>
          <p:nvPr/>
        </p:nvSpPr>
        <p:spPr>
          <a:xfrm>
            <a:off x="6135439" y="2433638"/>
            <a:ext cx="2551361" cy="9525"/>
          </a:xfrm>
          <a:prstGeom prst="rect">
            <a:avLst/>
          </a:prstGeom>
          <a:solidFill>
            <a:srgbClr val="DCDCDC"/>
          </a:solidFill>
          <a:ln w="12700">
            <a:solidFill>
              <a:srgbClr val="333333">
                <a:alpha val="0"/>
              </a:srgbClr>
            </a:solidFill>
            <a:prstDash val="solid"/>
          </a:ln>
        </p:spPr>
      </p:sp>
      <p:sp>
        <p:nvSpPr>
          <p:cNvPr id="34" name="Text 32"/>
          <p:cNvSpPr/>
          <p:nvPr/>
        </p:nvSpPr>
        <p:spPr>
          <a:xfrm>
            <a:off x="6211639" y="2062163"/>
            <a:ext cx="1662184"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Guardrails and auto-rollback</a:t>
            </a:r>
            <a:endParaRPr lang="en-US" sz="938" dirty="0"/>
          </a:p>
        </p:txBody>
      </p:sp>
      <p:sp>
        <p:nvSpPr>
          <p:cNvPr id="35" name="Text 33"/>
          <p:cNvSpPr/>
          <p:nvPr/>
        </p:nvSpPr>
        <p:spPr>
          <a:xfrm>
            <a:off x="7832675" y="2062163"/>
            <a:ext cx="716084"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customer</a:t>
            </a:r>
            <a:endParaRPr lang="en-US" sz="938" dirty="0"/>
          </a:p>
        </p:txBody>
      </p:sp>
      <p:sp>
        <p:nvSpPr>
          <p:cNvPr id="36" name="Text 34"/>
          <p:cNvSpPr/>
          <p:nvPr/>
        </p:nvSpPr>
        <p:spPr>
          <a:xfrm>
            <a:off x="6211639" y="2216944"/>
            <a:ext cx="39193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impact</a:t>
            </a:r>
            <a:endParaRPr lang="en-US" sz="938" dirty="0"/>
          </a:p>
        </p:txBody>
      </p:sp>
      <p:sp>
        <p:nvSpPr>
          <p:cNvPr id="37" name="Shape 35"/>
          <p:cNvSpPr/>
          <p:nvPr/>
        </p:nvSpPr>
        <p:spPr>
          <a:xfrm>
            <a:off x="457200" y="2905125"/>
            <a:ext cx="329059" cy="9525"/>
          </a:xfrm>
          <a:prstGeom prst="rect">
            <a:avLst/>
          </a:prstGeom>
          <a:solidFill>
            <a:srgbClr val="DCDCDC"/>
          </a:solidFill>
          <a:ln w="12700">
            <a:solidFill>
              <a:srgbClr val="333333">
                <a:alpha val="0"/>
              </a:srgbClr>
            </a:solidFill>
            <a:prstDash val="solid"/>
          </a:ln>
        </p:spPr>
      </p:sp>
      <p:sp>
        <p:nvSpPr>
          <p:cNvPr id="38" name="Text 36"/>
          <p:cNvSpPr/>
          <p:nvPr/>
        </p:nvSpPr>
        <p:spPr>
          <a:xfrm>
            <a:off x="533400" y="2533650"/>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3</a:t>
            </a:r>
            <a:endParaRPr lang="en-US" sz="938" dirty="0"/>
          </a:p>
        </p:txBody>
      </p:sp>
      <p:sp>
        <p:nvSpPr>
          <p:cNvPr id="39" name="Shape 37"/>
          <p:cNvSpPr/>
          <p:nvPr/>
        </p:nvSpPr>
        <p:spPr>
          <a:xfrm>
            <a:off x="786259" y="2905125"/>
            <a:ext cx="2057400" cy="9525"/>
          </a:xfrm>
          <a:prstGeom prst="rect">
            <a:avLst/>
          </a:prstGeom>
          <a:solidFill>
            <a:srgbClr val="DCDCDC"/>
          </a:solidFill>
          <a:ln w="12700">
            <a:solidFill>
              <a:srgbClr val="333333">
                <a:alpha val="0"/>
              </a:srgbClr>
            </a:solidFill>
            <a:prstDash val="solid"/>
          </a:ln>
        </p:spPr>
      </p:sp>
      <p:sp>
        <p:nvSpPr>
          <p:cNvPr id="40" name="Text 38"/>
          <p:cNvSpPr/>
          <p:nvPr/>
        </p:nvSpPr>
        <p:spPr>
          <a:xfrm>
            <a:off x="862459" y="2533650"/>
            <a:ext cx="188125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Rollback needs a redeploy through</a:t>
            </a:r>
            <a:endParaRPr lang="en-US" sz="938" dirty="0"/>
          </a:p>
        </p:txBody>
      </p:sp>
      <p:sp>
        <p:nvSpPr>
          <p:cNvPr id="41" name="Text 39"/>
          <p:cNvSpPr/>
          <p:nvPr/>
        </p:nvSpPr>
        <p:spPr>
          <a:xfrm>
            <a:off x="862459" y="2688431"/>
            <a:ext cx="82234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change control</a:t>
            </a:r>
            <a:endParaRPr lang="en-US" sz="938" dirty="0"/>
          </a:p>
        </p:txBody>
      </p:sp>
      <p:sp>
        <p:nvSpPr>
          <p:cNvPr id="42" name="Shape 40"/>
          <p:cNvSpPr/>
          <p:nvPr/>
        </p:nvSpPr>
        <p:spPr>
          <a:xfrm>
            <a:off x="2843659" y="2905125"/>
            <a:ext cx="3291780" cy="9525"/>
          </a:xfrm>
          <a:prstGeom prst="rect">
            <a:avLst/>
          </a:prstGeom>
          <a:solidFill>
            <a:srgbClr val="DCDCDC"/>
          </a:solidFill>
          <a:ln w="12700">
            <a:solidFill>
              <a:srgbClr val="333333">
                <a:alpha val="0"/>
              </a:srgbClr>
            </a:solidFill>
            <a:prstDash val="solid"/>
          </a:ln>
        </p:spPr>
      </p:sp>
      <p:sp>
        <p:nvSpPr>
          <p:cNvPr id="43" name="Text 41"/>
          <p:cNvSpPr/>
          <p:nvPr/>
        </p:nvSpPr>
        <p:spPr>
          <a:xfrm>
            <a:off x="2919859" y="2533650"/>
            <a:ext cx="3037058"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Pause the simulated payment journey, then restore it. No</a:t>
            </a:r>
            <a:endParaRPr lang="en-US" sz="938" dirty="0"/>
          </a:p>
        </p:txBody>
      </p:sp>
      <p:sp>
        <p:nvSpPr>
          <p:cNvPr id="44" name="Text 42"/>
          <p:cNvSpPr/>
          <p:nvPr/>
        </p:nvSpPr>
        <p:spPr>
          <a:xfrm>
            <a:off x="2919859" y="2688431"/>
            <a:ext cx="192516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deploy. Measure the response time.</a:t>
            </a:r>
            <a:endParaRPr lang="en-US" sz="938" dirty="0"/>
          </a:p>
        </p:txBody>
      </p:sp>
      <p:sp>
        <p:nvSpPr>
          <p:cNvPr id="45" name="Shape 43"/>
          <p:cNvSpPr/>
          <p:nvPr/>
        </p:nvSpPr>
        <p:spPr>
          <a:xfrm>
            <a:off x="6135439" y="2905125"/>
            <a:ext cx="2551361" cy="9525"/>
          </a:xfrm>
          <a:prstGeom prst="rect">
            <a:avLst/>
          </a:prstGeom>
          <a:solidFill>
            <a:srgbClr val="DCDCDC"/>
          </a:solidFill>
          <a:ln w="12700">
            <a:solidFill>
              <a:srgbClr val="333333">
                <a:alpha val="0"/>
              </a:srgbClr>
            </a:solidFill>
            <a:prstDash val="solid"/>
          </a:ln>
        </p:spPr>
      </p:sp>
      <p:sp>
        <p:nvSpPr>
          <p:cNvPr id="46" name="Text 44"/>
          <p:cNvSpPr/>
          <p:nvPr/>
        </p:nvSpPr>
        <p:spPr>
          <a:xfrm>
            <a:off x="6211639" y="2533650"/>
            <a:ext cx="630061"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Kill switch</a:t>
            </a:r>
            <a:endParaRPr lang="en-US" sz="938" dirty="0"/>
          </a:p>
        </p:txBody>
      </p:sp>
      <p:sp>
        <p:nvSpPr>
          <p:cNvPr id="47" name="Text 45"/>
          <p:cNvSpPr/>
          <p:nvPr/>
        </p:nvSpPr>
        <p:spPr>
          <a:xfrm>
            <a:off x="6800552" y="2533650"/>
            <a:ext cx="140426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mean time to recovery</a:t>
            </a:r>
            <a:endParaRPr lang="en-US" sz="938" dirty="0"/>
          </a:p>
        </p:txBody>
      </p:sp>
      <p:sp>
        <p:nvSpPr>
          <p:cNvPr id="48" name="Shape 46"/>
          <p:cNvSpPr/>
          <p:nvPr/>
        </p:nvSpPr>
        <p:spPr>
          <a:xfrm>
            <a:off x="457200" y="3376613"/>
            <a:ext cx="329059" cy="9525"/>
          </a:xfrm>
          <a:prstGeom prst="rect">
            <a:avLst/>
          </a:prstGeom>
          <a:solidFill>
            <a:srgbClr val="DCDCDC"/>
          </a:solidFill>
          <a:ln w="12700">
            <a:solidFill>
              <a:srgbClr val="333333">
                <a:alpha val="0"/>
              </a:srgbClr>
            </a:solidFill>
            <a:prstDash val="solid"/>
          </a:ln>
        </p:spPr>
      </p:sp>
      <p:sp>
        <p:nvSpPr>
          <p:cNvPr id="49" name="Text 47"/>
          <p:cNvSpPr/>
          <p:nvPr/>
        </p:nvSpPr>
        <p:spPr>
          <a:xfrm>
            <a:off x="533400" y="3005138"/>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4</a:t>
            </a:r>
            <a:endParaRPr lang="en-US" sz="938" dirty="0"/>
          </a:p>
        </p:txBody>
      </p:sp>
      <p:sp>
        <p:nvSpPr>
          <p:cNvPr id="50" name="Shape 48"/>
          <p:cNvSpPr/>
          <p:nvPr/>
        </p:nvSpPr>
        <p:spPr>
          <a:xfrm>
            <a:off x="786259" y="3376613"/>
            <a:ext cx="2057400" cy="9525"/>
          </a:xfrm>
          <a:prstGeom prst="rect">
            <a:avLst/>
          </a:prstGeom>
          <a:solidFill>
            <a:srgbClr val="DCDCDC"/>
          </a:solidFill>
          <a:ln w="12700">
            <a:solidFill>
              <a:srgbClr val="333333">
                <a:alpha val="0"/>
              </a:srgbClr>
            </a:solidFill>
            <a:prstDash val="solid"/>
          </a:ln>
        </p:spPr>
      </p:sp>
      <p:sp>
        <p:nvSpPr>
          <p:cNvPr id="51" name="Text 49"/>
          <p:cNvSpPr/>
          <p:nvPr/>
        </p:nvSpPr>
        <p:spPr>
          <a:xfrm>
            <a:off x="862459" y="3005138"/>
            <a:ext cx="192739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Every change pays the same heavy</a:t>
            </a:r>
            <a:endParaRPr lang="en-US" sz="938" dirty="0"/>
          </a:p>
        </p:txBody>
      </p:sp>
      <p:sp>
        <p:nvSpPr>
          <p:cNvPr id="52" name="Text 50"/>
          <p:cNvSpPr/>
          <p:nvPr/>
        </p:nvSpPr>
        <p:spPr>
          <a:xfrm>
            <a:off x="862459" y="3159919"/>
            <a:ext cx="749421"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approval cost</a:t>
            </a:r>
            <a:endParaRPr lang="en-US" sz="938" dirty="0"/>
          </a:p>
        </p:txBody>
      </p:sp>
      <p:sp>
        <p:nvSpPr>
          <p:cNvPr id="53" name="Shape 51"/>
          <p:cNvSpPr/>
          <p:nvPr/>
        </p:nvSpPr>
        <p:spPr>
          <a:xfrm>
            <a:off x="2843659" y="3376613"/>
            <a:ext cx="3291780" cy="9525"/>
          </a:xfrm>
          <a:prstGeom prst="rect">
            <a:avLst/>
          </a:prstGeom>
          <a:solidFill>
            <a:srgbClr val="DCDCDC"/>
          </a:solidFill>
          <a:ln w="12700">
            <a:solidFill>
              <a:srgbClr val="333333">
                <a:alpha val="0"/>
              </a:srgbClr>
            </a:solidFill>
            <a:prstDash val="solid"/>
          </a:ln>
        </p:spPr>
      </p:sp>
      <p:sp>
        <p:nvSpPr>
          <p:cNvPr id="54" name="Text 52"/>
          <p:cNvSpPr/>
          <p:nvPr/>
        </p:nvSpPr>
        <p:spPr>
          <a:xfrm>
            <a:off x="2919859" y="3005138"/>
            <a:ext cx="3065782"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Change history with actor and reason; discuss production</a:t>
            </a:r>
            <a:endParaRPr lang="en-US" sz="938" dirty="0"/>
          </a:p>
        </p:txBody>
      </p:sp>
      <p:sp>
        <p:nvSpPr>
          <p:cNvPr id="55" name="Text 53"/>
          <p:cNvSpPr/>
          <p:nvPr/>
        </p:nvSpPr>
        <p:spPr>
          <a:xfrm>
            <a:off x="2919859" y="3159919"/>
            <a:ext cx="1973681"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approvals and roles as pilot controls.</a:t>
            </a:r>
            <a:endParaRPr lang="en-US" sz="938" dirty="0"/>
          </a:p>
        </p:txBody>
      </p:sp>
      <p:sp>
        <p:nvSpPr>
          <p:cNvPr id="56" name="Shape 54"/>
          <p:cNvSpPr/>
          <p:nvPr/>
        </p:nvSpPr>
        <p:spPr>
          <a:xfrm>
            <a:off x="6135439" y="3376613"/>
            <a:ext cx="2551361" cy="9525"/>
          </a:xfrm>
          <a:prstGeom prst="rect">
            <a:avLst/>
          </a:prstGeom>
          <a:solidFill>
            <a:srgbClr val="DCDCDC"/>
          </a:solidFill>
          <a:ln w="12700">
            <a:solidFill>
              <a:srgbClr val="333333">
                <a:alpha val="0"/>
              </a:srgbClr>
            </a:solidFill>
            <a:prstDash val="solid"/>
          </a:ln>
        </p:spPr>
      </p:sp>
      <p:sp>
        <p:nvSpPr>
          <p:cNvPr id="57" name="Text 55"/>
          <p:cNvSpPr/>
          <p:nvPr/>
        </p:nvSpPr>
        <p:spPr>
          <a:xfrm>
            <a:off x="6211639" y="3005138"/>
            <a:ext cx="1437156"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Audit trail and approvals</a:t>
            </a:r>
            <a:endParaRPr lang="en-US" sz="938" dirty="0"/>
          </a:p>
        </p:txBody>
      </p:sp>
      <p:sp>
        <p:nvSpPr>
          <p:cNvPr id="58" name="Text 56"/>
          <p:cNvSpPr/>
          <p:nvPr/>
        </p:nvSpPr>
        <p:spPr>
          <a:xfrm>
            <a:off x="7607647" y="3005138"/>
            <a:ext cx="78692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audit effort</a:t>
            </a:r>
            <a:endParaRPr lang="en-US" sz="938" dirty="0"/>
          </a:p>
        </p:txBody>
      </p:sp>
      <p:sp>
        <p:nvSpPr>
          <p:cNvPr id="59" name="Shape 57"/>
          <p:cNvSpPr/>
          <p:nvPr/>
        </p:nvSpPr>
        <p:spPr>
          <a:xfrm>
            <a:off x="457200" y="3848100"/>
            <a:ext cx="329059" cy="9525"/>
          </a:xfrm>
          <a:prstGeom prst="rect">
            <a:avLst/>
          </a:prstGeom>
          <a:solidFill>
            <a:srgbClr val="DCDCDC"/>
          </a:solidFill>
          <a:ln w="12700">
            <a:solidFill>
              <a:srgbClr val="333333">
                <a:alpha val="0"/>
              </a:srgbClr>
            </a:solidFill>
            <a:prstDash val="solid"/>
          </a:ln>
        </p:spPr>
      </p:sp>
      <p:sp>
        <p:nvSpPr>
          <p:cNvPr id="60" name="Text 58"/>
          <p:cNvSpPr/>
          <p:nvPr/>
        </p:nvSpPr>
        <p:spPr>
          <a:xfrm>
            <a:off x="533400" y="3476625"/>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5</a:t>
            </a:r>
            <a:endParaRPr lang="en-US" sz="938" dirty="0"/>
          </a:p>
        </p:txBody>
      </p:sp>
      <p:sp>
        <p:nvSpPr>
          <p:cNvPr id="61" name="Shape 59"/>
          <p:cNvSpPr/>
          <p:nvPr/>
        </p:nvSpPr>
        <p:spPr>
          <a:xfrm>
            <a:off x="786259" y="3848100"/>
            <a:ext cx="2057400" cy="9525"/>
          </a:xfrm>
          <a:prstGeom prst="rect">
            <a:avLst/>
          </a:prstGeom>
          <a:solidFill>
            <a:srgbClr val="DCDCDC"/>
          </a:solidFill>
          <a:ln w="12700">
            <a:solidFill>
              <a:srgbClr val="333333">
                <a:alpha val="0"/>
              </a:srgbClr>
            </a:solidFill>
            <a:prstDash val="solid"/>
          </a:ln>
        </p:spPr>
      </p:sp>
      <p:sp>
        <p:nvSpPr>
          <p:cNvPr id="62" name="Text 60"/>
          <p:cNvSpPr/>
          <p:nvPr/>
        </p:nvSpPr>
        <p:spPr>
          <a:xfrm>
            <a:off x="862459" y="3476625"/>
            <a:ext cx="190105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 new vendor in the payments path</a:t>
            </a:r>
            <a:endParaRPr lang="en-US" sz="938" dirty="0"/>
          </a:p>
        </p:txBody>
      </p:sp>
      <p:sp>
        <p:nvSpPr>
          <p:cNvPr id="63" name="Text 61"/>
          <p:cNvSpPr/>
          <p:nvPr/>
        </p:nvSpPr>
        <p:spPr>
          <a:xfrm>
            <a:off x="862459" y="3631406"/>
            <a:ext cx="444770"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is a risk</a:t>
            </a:r>
            <a:endParaRPr lang="en-US" sz="938" dirty="0"/>
          </a:p>
        </p:txBody>
      </p:sp>
      <p:sp>
        <p:nvSpPr>
          <p:cNvPr id="64" name="Shape 62"/>
          <p:cNvSpPr/>
          <p:nvPr/>
        </p:nvSpPr>
        <p:spPr>
          <a:xfrm>
            <a:off x="2843659" y="3848100"/>
            <a:ext cx="3291780" cy="9525"/>
          </a:xfrm>
          <a:prstGeom prst="rect">
            <a:avLst/>
          </a:prstGeom>
          <a:solidFill>
            <a:srgbClr val="DCDCDC"/>
          </a:solidFill>
          <a:ln w="12700">
            <a:solidFill>
              <a:srgbClr val="333333">
                <a:alpha val="0"/>
              </a:srgbClr>
            </a:solidFill>
            <a:prstDash val="solid"/>
          </a:ln>
        </p:spPr>
      </p:sp>
      <p:sp>
        <p:nvSpPr>
          <p:cNvPr id="65" name="Text 63"/>
          <p:cNvSpPr/>
          <p:nvPr/>
        </p:nvSpPr>
        <p:spPr>
          <a:xfrm>
            <a:off x="2919859" y="3476625"/>
            <a:ext cx="309227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Minimal context, outage behaviour and cold-start defaults.</a:t>
            </a:r>
            <a:endParaRPr lang="en-US" sz="938" dirty="0"/>
          </a:p>
        </p:txBody>
      </p:sp>
      <p:sp>
        <p:nvSpPr>
          <p:cNvPr id="66" name="Text 64"/>
          <p:cNvSpPr/>
          <p:nvPr/>
        </p:nvSpPr>
        <p:spPr>
          <a:xfrm>
            <a:off x="2919859" y="3631406"/>
            <a:ext cx="229574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Backend authorization remains mandatory.</a:t>
            </a:r>
            <a:endParaRPr lang="en-US" sz="938" dirty="0"/>
          </a:p>
        </p:txBody>
      </p:sp>
      <p:sp>
        <p:nvSpPr>
          <p:cNvPr id="67" name="Shape 65"/>
          <p:cNvSpPr/>
          <p:nvPr/>
        </p:nvSpPr>
        <p:spPr>
          <a:xfrm>
            <a:off x="6135439" y="3848100"/>
            <a:ext cx="2551361" cy="9525"/>
          </a:xfrm>
          <a:prstGeom prst="rect">
            <a:avLst/>
          </a:prstGeom>
          <a:solidFill>
            <a:srgbClr val="DCDCDC"/>
          </a:solidFill>
          <a:ln w="12700">
            <a:solidFill>
              <a:srgbClr val="333333">
                <a:alpha val="0"/>
              </a:srgbClr>
            </a:solidFill>
            <a:prstDash val="solid"/>
          </a:ln>
        </p:spPr>
      </p:sp>
      <p:sp>
        <p:nvSpPr>
          <p:cNvPr id="68" name="Text 66"/>
          <p:cNvSpPr/>
          <p:nvPr/>
        </p:nvSpPr>
        <p:spPr>
          <a:xfrm>
            <a:off x="6211639" y="3476625"/>
            <a:ext cx="2072503"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Data-minimised, resilient evaluation</a:t>
            </a:r>
            <a:endParaRPr lang="en-US" sz="938" dirty="0"/>
          </a:p>
        </p:txBody>
      </p:sp>
      <p:sp>
        <p:nvSpPr>
          <p:cNvPr id="69" name="Text 67"/>
          <p:cNvSpPr/>
          <p:nvPr/>
        </p:nvSpPr>
        <p:spPr>
          <a:xfrm>
            <a:off x="8242995" y="3476625"/>
            <a:ext cx="19339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a:t>
            </a:r>
            <a:endParaRPr lang="en-US" sz="938" dirty="0"/>
          </a:p>
        </p:txBody>
      </p:sp>
      <p:sp>
        <p:nvSpPr>
          <p:cNvPr id="70" name="Text 68"/>
          <p:cNvSpPr/>
          <p:nvPr/>
        </p:nvSpPr>
        <p:spPr>
          <a:xfrm>
            <a:off x="6211639" y="3631406"/>
            <a:ext cx="59047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availability</a:t>
            </a:r>
            <a:endParaRPr lang="en-US" sz="938" dirty="0"/>
          </a:p>
        </p:txBody>
      </p:sp>
      <p:sp>
        <p:nvSpPr>
          <p:cNvPr id="71" name="Shape 69"/>
          <p:cNvSpPr/>
          <p:nvPr/>
        </p:nvSpPr>
        <p:spPr>
          <a:xfrm>
            <a:off x="457200" y="4257675"/>
            <a:ext cx="8229600" cy="333375"/>
          </a:xfrm>
          <a:prstGeom prst="rect">
            <a:avLst/>
          </a:prstGeom>
          <a:solidFill>
            <a:srgbClr val="1A1A1A"/>
          </a:solidFill>
          <a:ln w="12700">
            <a:solidFill>
              <a:srgbClr val="333333">
                <a:alpha val="0"/>
              </a:srgbClr>
            </a:solidFill>
            <a:prstDash val="solid"/>
          </a:ln>
        </p:spPr>
      </p:sp>
      <p:sp>
        <p:nvSpPr>
          <p:cNvPr id="72" name="Text 70"/>
          <p:cNvSpPr/>
          <p:nvPr/>
        </p:nvSpPr>
        <p:spPr>
          <a:xfrm>
            <a:off x="628650" y="4352925"/>
            <a:ext cx="755672" cy="150190"/>
          </a:xfrm>
          <a:prstGeom prst="rect">
            <a:avLst/>
          </a:prstGeom>
          <a:noFill/>
          <a:ln/>
        </p:spPr>
        <p:txBody>
          <a:bodyPr wrap="none" lIns="0" tIns="0" rIns="0" bIns="0" rtlCol="0" anchor="ctr"/>
          <a:lstStyle/>
          <a:p>
            <a:pPr indent="0" marL="0">
              <a:buNone/>
            </a:pPr>
            <a:r>
              <a:rPr lang="en-US" sz="1013" b="1" dirty="0">
                <a:solidFill>
                  <a:srgbClr val="D8F55A"/>
                </a:solidFill>
                <a:latin typeface="Arial" pitchFamily="34" charset="0"/>
                <a:ea typeface="Arial" pitchFamily="34" charset="-122"/>
                <a:cs typeface="Arial" pitchFamily="34" charset="-120"/>
              </a:rPr>
              <a:t>Afterwards:</a:t>
            </a:r>
            <a:endParaRPr lang="en-US" sz="1013" dirty="0"/>
          </a:p>
        </p:txBody>
      </p:sp>
      <p:sp>
        <p:nvSpPr>
          <p:cNvPr id="73" name="Text 71"/>
          <p:cNvSpPr/>
          <p:nvPr/>
        </p:nvSpPr>
        <p:spPr>
          <a:xfrm>
            <a:off x="1343174" y="4352925"/>
            <a:ext cx="4372939" cy="150190"/>
          </a:xfrm>
          <a:prstGeom prst="rect">
            <a:avLst/>
          </a:prstGeom>
          <a:noFill/>
          <a:ln/>
        </p:spPr>
        <p:txBody>
          <a:bodyPr wrap="none" lIns="0" tIns="0" rIns="0" bIns="0" rtlCol="0" anchor="ctr"/>
          <a:lstStyle/>
          <a:p>
            <a:pPr indent="0" marL="0">
              <a:buNone/>
            </a:pPr>
            <a:r>
              <a:rPr lang="en-US" sz="1013" dirty="0">
                <a:solidFill>
                  <a:srgbClr val="FFFFFF"/>
                </a:solidFill>
                <a:latin typeface="Arial" pitchFamily="34" charset="0"/>
                <a:ea typeface="Arial" pitchFamily="34" charset="-122"/>
                <a:cs typeface="Arial" pitchFamily="34" charset="-120"/>
              </a:rPr>
              <a:t> a checklist of what you saw, and where other banks have already done this.</a:t>
            </a:r>
            <a:endParaRPr lang="en-US" sz="1013" dirty="0"/>
          </a:p>
        </p:txBody>
      </p:sp>
      <p:sp>
        <p:nvSpPr>
          <p:cNvPr id="74" name="Shape 72"/>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75"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2372541"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we built</a:t>
            </a:r>
            <a:endParaRPr lang="en-US" sz="3000" dirty="0"/>
          </a:p>
        </p:txBody>
      </p:sp>
      <p:sp>
        <p:nvSpPr>
          <p:cNvPr id="4" name="Text 2"/>
          <p:cNvSpPr/>
          <p:nvPr/>
        </p:nvSpPr>
        <p:spPr>
          <a:xfrm>
            <a:off x="457200" y="838200"/>
            <a:ext cx="8097066"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Northwind Bank is rolling out Payee verification v2: Confirmation of Payee plus scam warnings on high-value payments.</a:t>
            </a:r>
            <a:endParaRPr lang="en-US" sz="1200" dirty="0"/>
          </a:p>
        </p:txBody>
      </p:sp>
      <p:sp>
        <p:nvSpPr>
          <p:cNvPr id="5" name="Shape 3"/>
          <p:cNvSpPr/>
          <p:nvPr/>
        </p:nvSpPr>
        <p:spPr>
          <a:xfrm>
            <a:off x="457200" y="1600200"/>
            <a:ext cx="2400300" cy="1981200"/>
          </a:xfrm>
          <a:prstGeom prst="rect">
            <a:avLst/>
          </a:prstGeom>
          <a:solidFill>
            <a:srgbClr val="FFFFFF"/>
          </a:solidFill>
          <a:ln w="12700">
            <a:solidFill>
              <a:srgbClr val="333333">
                <a:alpha val="0"/>
              </a:srgbClr>
            </a:solidFill>
            <a:prstDash val="solid"/>
          </a:ln>
        </p:spPr>
      </p:sp>
      <p:sp>
        <p:nvSpPr>
          <p:cNvPr id="6" name="Shape 4"/>
          <p:cNvSpPr/>
          <p:nvPr/>
        </p:nvSpPr>
        <p:spPr>
          <a:xfrm>
            <a:off x="457200" y="1600200"/>
            <a:ext cx="2400300" cy="9525"/>
          </a:xfrm>
          <a:prstGeom prst="rect">
            <a:avLst/>
          </a:prstGeom>
          <a:solidFill>
            <a:srgbClr val="D9D9D9"/>
          </a:solidFill>
          <a:ln w="12700">
            <a:solidFill>
              <a:srgbClr val="333333">
                <a:alpha val="0"/>
              </a:srgbClr>
            </a:solidFill>
            <a:prstDash val="solid"/>
          </a:ln>
        </p:spPr>
      </p:sp>
      <p:sp>
        <p:nvSpPr>
          <p:cNvPr id="7" name="Shape 5"/>
          <p:cNvSpPr/>
          <p:nvPr/>
        </p:nvSpPr>
        <p:spPr>
          <a:xfrm>
            <a:off x="2847975" y="1600200"/>
            <a:ext cx="9525" cy="1981200"/>
          </a:xfrm>
          <a:prstGeom prst="rect">
            <a:avLst/>
          </a:prstGeom>
          <a:solidFill>
            <a:srgbClr val="D9D9D9"/>
          </a:solidFill>
          <a:ln w="12700">
            <a:solidFill>
              <a:srgbClr val="333333">
                <a:alpha val="0"/>
              </a:srgbClr>
            </a:solidFill>
            <a:prstDash val="solid"/>
          </a:ln>
        </p:spPr>
      </p:sp>
      <p:sp>
        <p:nvSpPr>
          <p:cNvPr id="8" name="Shape 6"/>
          <p:cNvSpPr/>
          <p:nvPr/>
        </p:nvSpPr>
        <p:spPr>
          <a:xfrm>
            <a:off x="457200" y="3571875"/>
            <a:ext cx="24003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1600200"/>
            <a:ext cx="9525" cy="1981200"/>
          </a:xfrm>
          <a:prstGeom prst="rect">
            <a:avLst/>
          </a:prstGeom>
          <a:solidFill>
            <a:srgbClr val="D9D9D9"/>
          </a:solidFill>
          <a:ln w="12700">
            <a:solidFill>
              <a:srgbClr val="333333">
                <a:alpha val="0"/>
              </a:srgbClr>
            </a:solidFill>
            <a:prstDash val="solid"/>
          </a:ln>
        </p:spPr>
      </p:sp>
      <p:sp>
        <p:nvSpPr>
          <p:cNvPr id="10" name="Text 8"/>
          <p:cNvSpPr/>
          <p:nvPr/>
        </p:nvSpPr>
        <p:spPr>
          <a:xfrm>
            <a:off x="638175" y="1781175"/>
            <a:ext cx="1394144"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NORTHWIND WEB APP</a:t>
            </a:r>
            <a:endParaRPr lang="en-US" sz="900" dirty="0"/>
          </a:p>
        </p:txBody>
      </p:sp>
      <p:sp>
        <p:nvSpPr>
          <p:cNvPr id="11" name="Text 9"/>
          <p:cNvSpPr/>
          <p:nvPr/>
        </p:nvSpPr>
        <p:spPr>
          <a:xfrm>
            <a:off x="638175" y="2028825"/>
            <a:ext cx="1921294"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React payment journey. Current</a:t>
            </a:r>
            <a:endParaRPr lang="en-US" sz="1050" dirty="0"/>
          </a:p>
        </p:txBody>
      </p:sp>
      <p:sp>
        <p:nvSpPr>
          <p:cNvPr id="12" name="Text 10"/>
          <p:cNvSpPr/>
          <p:nvPr/>
        </p:nvSpPr>
        <p:spPr>
          <a:xfrm>
            <a:off x="638175" y="2222153"/>
            <a:ext cx="199079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(v1) and new (v2) both deployed;</a:t>
            </a:r>
            <a:endParaRPr lang="en-US" sz="1050" dirty="0"/>
          </a:p>
        </p:txBody>
      </p:sp>
      <p:sp>
        <p:nvSpPr>
          <p:cNvPr id="13" name="Text 11"/>
          <p:cNvSpPr/>
          <p:nvPr/>
        </p:nvSpPr>
        <p:spPr>
          <a:xfrm>
            <a:off x="638175" y="2415480"/>
            <a:ext cx="199079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flag decides who sees which.</a:t>
            </a:r>
            <a:endParaRPr lang="en-US" sz="1050" dirty="0"/>
          </a:p>
        </p:txBody>
      </p:sp>
      <p:sp>
        <p:nvSpPr>
          <p:cNvPr id="14" name="Text 12"/>
          <p:cNvSpPr/>
          <p:nvPr/>
        </p:nvSpPr>
        <p:spPr>
          <a:xfrm>
            <a:off x="2990850" y="2452688"/>
            <a:ext cx="288798"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a:t>
            </a:r>
            <a:endParaRPr lang="en-US" sz="1950" dirty="0"/>
          </a:p>
        </p:txBody>
      </p:sp>
      <p:sp>
        <p:nvSpPr>
          <p:cNvPr id="15" name="Shape 13"/>
          <p:cNvSpPr/>
          <p:nvPr/>
        </p:nvSpPr>
        <p:spPr>
          <a:xfrm>
            <a:off x="3371850" y="1600200"/>
            <a:ext cx="2400300" cy="1981200"/>
          </a:xfrm>
          <a:prstGeom prst="rect">
            <a:avLst/>
          </a:prstGeom>
          <a:solidFill>
            <a:srgbClr val="FFFFFF"/>
          </a:solidFill>
          <a:ln w="12700">
            <a:solidFill>
              <a:srgbClr val="333333">
                <a:alpha val="0"/>
              </a:srgbClr>
            </a:solidFill>
            <a:prstDash val="solid"/>
          </a:ln>
        </p:spPr>
      </p:sp>
      <p:sp>
        <p:nvSpPr>
          <p:cNvPr id="16" name="Shape 14"/>
          <p:cNvSpPr/>
          <p:nvPr/>
        </p:nvSpPr>
        <p:spPr>
          <a:xfrm>
            <a:off x="3371850" y="1600200"/>
            <a:ext cx="2400300" cy="9525"/>
          </a:xfrm>
          <a:prstGeom prst="rect">
            <a:avLst/>
          </a:prstGeom>
          <a:solidFill>
            <a:srgbClr val="D9D9D9"/>
          </a:solidFill>
          <a:ln w="12700">
            <a:solidFill>
              <a:srgbClr val="333333">
                <a:alpha val="0"/>
              </a:srgbClr>
            </a:solidFill>
            <a:prstDash val="solid"/>
          </a:ln>
        </p:spPr>
      </p:sp>
      <p:sp>
        <p:nvSpPr>
          <p:cNvPr id="17" name="Shape 15"/>
          <p:cNvSpPr/>
          <p:nvPr/>
        </p:nvSpPr>
        <p:spPr>
          <a:xfrm>
            <a:off x="5762625" y="1600200"/>
            <a:ext cx="9525" cy="1981200"/>
          </a:xfrm>
          <a:prstGeom prst="rect">
            <a:avLst/>
          </a:prstGeom>
          <a:solidFill>
            <a:srgbClr val="D9D9D9"/>
          </a:solidFill>
          <a:ln w="12700">
            <a:solidFill>
              <a:srgbClr val="333333">
                <a:alpha val="0"/>
              </a:srgbClr>
            </a:solidFill>
            <a:prstDash val="solid"/>
          </a:ln>
        </p:spPr>
      </p:sp>
      <p:sp>
        <p:nvSpPr>
          <p:cNvPr id="18" name="Shape 16"/>
          <p:cNvSpPr/>
          <p:nvPr/>
        </p:nvSpPr>
        <p:spPr>
          <a:xfrm>
            <a:off x="3371850" y="3571875"/>
            <a:ext cx="2400300" cy="9525"/>
          </a:xfrm>
          <a:prstGeom prst="rect">
            <a:avLst/>
          </a:prstGeom>
          <a:solidFill>
            <a:srgbClr val="D9D9D9"/>
          </a:solidFill>
          <a:ln w="12700">
            <a:solidFill>
              <a:srgbClr val="333333">
                <a:alpha val="0"/>
              </a:srgbClr>
            </a:solidFill>
            <a:prstDash val="solid"/>
          </a:ln>
        </p:spPr>
      </p:sp>
      <p:sp>
        <p:nvSpPr>
          <p:cNvPr id="19" name="Shape 17"/>
          <p:cNvSpPr/>
          <p:nvPr/>
        </p:nvSpPr>
        <p:spPr>
          <a:xfrm>
            <a:off x="3371850" y="1600200"/>
            <a:ext cx="9525" cy="1981200"/>
          </a:xfrm>
          <a:prstGeom prst="rect">
            <a:avLst/>
          </a:prstGeom>
          <a:solidFill>
            <a:srgbClr val="D9D9D9"/>
          </a:solidFill>
          <a:ln w="12700">
            <a:solidFill>
              <a:srgbClr val="333333">
                <a:alpha val="0"/>
              </a:srgbClr>
            </a:solidFill>
            <a:prstDash val="solid"/>
          </a:ln>
        </p:spPr>
      </p:sp>
      <p:sp>
        <p:nvSpPr>
          <p:cNvPr id="20" name="Text 18"/>
          <p:cNvSpPr/>
          <p:nvPr/>
        </p:nvSpPr>
        <p:spPr>
          <a:xfrm>
            <a:off x="3552825" y="1781175"/>
            <a:ext cx="1790771"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LAUNCHDARKLY REACT SDK</a:t>
            </a:r>
            <a:endParaRPr lang="en-US" sz="900" dirty="0"/>
          </a:p>
        </p:txBody>
      </p:sp>
      <p:sp>
        <p:nvSpPr>
          <p:cNvPr id="21" name="Text 19"/>
          <p:cNvSpPr/>
          <p:nvPr/>
        </p:nvSpPr>
        <p:spPr>
          <a:xfrm>
            <a:off x="3552825" y="2028825"/>
            <a:ext cx="1950762"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Client-side ID only. No names or</a:t>
            </a:r>
            <a:endParaRPr lang="en-US" sz="1050" dirty="0"/>
          </a:p>
        </p:txBody>
      </p:sp>
      <p:sp>
        <p:nvSpPr>
          <p:cNvPr id="22" name="Text 20"/>
          <p:cNvSpPr/>
          <p:nvPr/>
        </p:nvSpPr>
        <p:spPr>
          <a:xfrm>
            <a:off x="3552825" y="2222153"/>
            <a:ext cx="1909090"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emails in the context. Streamed</a:t>
            </a:r>
            <a:endParaRPr lang="en-US" sz="1050" dirty="0"/>
          </a:p>
        </p:txBody>
      </p:sp>
      <p:sp>
        <p:nvSpPr>
          <p:cNvPr id="23" name="Text 21"/>
          <p:cNvSpPr/>
          <p:nvPr/>
        </p:nvSpPr>
        <p:spPr>
          <a:xfrm>
            <a:off x="3552825" y="2415480"/>
            <a:ext cx="1820388"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value updates; existing values</a:t>
            </a:r>
            <a:endParaRPr lang="en-US" sz="1050" dirty="0"/>
          </a:p>
        </p:txBody>
      </p:sp>
      <p:sp>
        <p:nvSpPr>
          <p:cNvPr id="24" name="Text 22"/>
          <p:cNvSpPr/>
          <p:nvPr/>
        </p:nvSpPr>
        <p:spPr>
          <a:xfrm>
            <a:off x="3552825" y="2608808"/>
            <a:ext cx="1679448"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and cold-start defaults have</a:t>
            </a:r>
            <a:endParaRPr lang="en-US" sz="1050" dirty="0"/>
          </a:p>
        </p:txBody>
      </p:sp>
      <p:sp>
        <p:nvSpPr>
          <p:cNvPr id="25" name="Text 23"/>
          <p:cNvSpPr/>
          <p:nvPr/>
        </p:nvSpPr>
        <p:spPr>
          <a:xfrm>
            <a:off x="3552825" y="2802136"/>
            <a:ext cx="1617982"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different outage behaviour.</a:t>
            </a:r>
            <a:endParaRPr lang="en-US" sz="1050" dirty="0"/>
          </a:p>
        </p:txBody>
      </p:sp>
      <p:sp>
        <p:nvSpPr>
          <p:cNvPr id="26" name="Text 24"/>
          <p:cNvSpPr/>
          <p:nvPr/>
        </p:nvSpPr>
        <p:spPr>
          <a:xfrm>
            <a:off x="5905500" y="2452688"/>
            <a:ext cx="288798"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a:t>
            </a:r>
            <a:endParaRPr lang="en-US" sz="1950" dirty="0"/>
          </a:p>
        </p:txBody>
      </p:sp>
      <p:sp>
        <p:nvSpPr>
          <p:cNvPr id="27" name="Shape 25"/>
          <p:cNvSpPr/>
          <p:nvPr/>
        </p:nvSpPr>
        <p:spPr>
          <a:xfrm>
            <a:off x="6286500" y="1600200"/>
            <a:ext cx="2400300" cy="1981200"/>
          </a:xfrm>
          <a:prstGeom prst="rect">
            <a:avLst/>
          </a:prstGeom>
          <a:solidFill>
            <a:srgbClr val="FFFFFF"/>
          </a:solidFill>
          <a:ln w="12700">
            <a:solidFill>
              <a:srgbClr val="333333">
                <a:alpha val="0"/>
              </a:srgbClr>
            </a:solidFill>
            <a:prstDash val="solid"/>
          </a:ln>
        </p:spPr>
      </p:sp>
      <p:sp>
        <p:nvSpPr>
          <p:cNvPr id="28" name="Shape 26"/>
          <p:cNvSpPr/>
          <p:nvPr/>
        </p:nvSpPr>
        <p:spPr>
          <a:xfrm>
            <a:off x="6286500" y="1600200"/>
            <a:ext cx="2400300" cy="9525"/>
          </a:xfrm>
          <a:prstGeom prst="rect">
            <a:avLst/>
          </a:prstGeom>
          <a:solidFill>
            <a:srgbClr val="D9D9D9"/>
          </a:solidFill>
          <a:ln w="12700">
            <a:solidFill>
              <a:srgbClr val="333333">
                <a:alpha val="0"/>
              </a:srgbClr>
            </a:solidFill>
            <a:prstDash val="solid"/>
          </a:ln>
        </p:spPr>
      </p:sp>
      <p:sp>
        <p:nvSpPr>
          <p:cNvPr id="29" name="Shape 27"/>
          <p:cNvSpPr/>
          <p:nvPr/>
        </p:nvSpPr>
        <p:spPr>
          <a:xfrm>
            <a:off x="8677275" y="1600200"/>
            <a:ext cx="9525" cy="1981200"/>
          </a:xfrm>
          <a:prstGeom prst="rect">
            <a:avLst/>
          </a:prstGeom>
          <a:solidFill>
            <a:srgbClr val="D9D9D9"/>
          </a:solidFill>
          <a:ln w="12700">
            <a:solidFill>
              <a:srgbClr val="333333">
                <a:alpha val="0"/>
              </a:srgbClr>
            </a:solidFill>
            <a:prstDash val="solid"/>
          </a:ln>
        </p:spPr>
      </p:sp>
      <p:sp>
        <p:nvSpPr>
          <p:cNvPr id="30" name="Shape 28"/>
          <p:cNvSpPr/>
          <p:nvPr/>
        </p:nvSpPr>
        <p:spPr>
          <a:xfrm>
            <a:off x="6286500" y="3571875"/>
            <a:ext cx="2400300" cy="9525"/>
          </a:xfrm>
          <a:prstGeom prst="rect">
            <a:avLst/>
          </a:prstGeom>
          <a:solidFill>
            <a:srgbClr val="D9D9D9"/>
          </a:solidFill>
          <a:ln w="12700">
            <a:solidFill>
              <a:srgbClr val="333333">
                <a:alpha val="0"/>
              </a:srgbClr>
            </a:solidFill>
            <a:prstDash val="solid"/>
          </a:ln>
        </p:spPr>
      </p:sp>
      <p:sp>
        <p:nvSpPr>
          <p:cNvPr id="31" name="Shape 29"/>
          <p:cNvSpPr/>
          <p:nvPr/>
        </p:nvSpPr>
        <p:spPr>
          <a:xfrm>
            <a:off x="6286500" y="1600200"/>
            <a:ext cx="9525" cy="1981200"/>
          </a:xfrm>
          <a:prstGeom prst="rect">
            <a:avLst/>
          </a:prstGeom>
          <a:solidFill>
            <a:srgbClr val="D9D9D9"/>
          </a:solidFill>
          <a:ln w="12700">
            <a:solidFill>
              <a:srgbClr val="333333">
                <a:alpha val="0"/>
              </a:srgbClr>
            </a:solidFill>
            <a:prstDash val="solid"/>
          </a:ln>
        </p:spPr>
      </p:sp>
      <p:sp>
        <p:nvSpPr>
          <p:cNvPr id="32" name="Text 30"/>
          <p:cNvSpPr/>
          <p:nvPr/>
        </p:nvSpPr>
        <p:spPr>
          <a:xfrm>
            <a:off x="6467475" y="1781175"/>
            <a:ext cx="1046631"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LAUNCHDARKLY</a:t>
            </a:r>
            <a:endParaRPr lang="en-US" sz="900" dirty="0"/>
          </a:p>
        </p:txBody>
      </p:sp>
      <p:sp>
        <p:nvSpPr>
          <p:cNvPr id="33" name="Text 31"/>
          <p:cNvSpPr/>
          <p:nvPr/>
        </p:nvSpPr>
        <p:spPr>
          <a:xfrm>
            <a:off x="6467475" y="2028825"/>
            <a:ext cx="1975914"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Two flags, a beta segment, three</a:t>
            </a:r>
            <a:endParaRPr lang="en-US" sz="1050" dirty="0"/>
          </a:p>
        </p:txBody>
      </p:sp>
      <p:sp>
        <p:nvSpPr>
          <p:cNvPr id="34" name="Text 32"/>
          <p:cNvSpPr/>
          <p:nvPr/>
        </p:nvSpPr>
        <p:spPr>
          <a:xfrm>
            <a:off x="6467475" y="2222153"/>
            <a:ext cx="175341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payment metrics and change</a:t>
            </a:r>
            <a:endParaRPr lang="en-US" sz="1050" dirty="0"/>
          </a:p>
        </p:txBody>
      </p:sp>
      <p:sp>
        <p:nvSpPr>
          <p:cNvPr id="35" name="Text 33"/>
          <p:cNvSpPr/>
          <p:nvPr/>
        </p:nvSpPr>
        <p:spPr>
          <a:xfrm>
            <a:off x="6467475" y="2415480"/>
            <a:ext cx="1817709"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history. Guarded rollout needs</a:t>
            </a:r>
            <a:endParaRPr lang="en-US" sz="1050" dirty="0"/>
          </a:p>
        </p:txBody>
      </p:sp>
      <p:sp>
        <p:nvSpPr>
          <p:cNvPr id="36" name="Text 34"/>
          <p:cNvSpPr/>
          <p:nvPr/>
        </p:nvSpPr>
        <p:spPr>
          <a:xfrm>
            <a:off x="6467475" y="2608808"/>
            <a:ext cx="1931563"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setup and rehearsal. Production</a:t>
            </a:r>
            <a:endParaRPr lang="en-US" sz="1050" dirty="0"/>
          </a:p>
        </p:txBody>
      </p:sp>
      <p:sp>
        <p:nvSpPr>
          <p:cNvPr id="37" name="Text 35"/>
          <p:cNvSpPr/>
          <p:nvPr/>
        </p:nvSpPr>
        <p:spPr>
          <a:xfrm>
            <a:off x="6467475" y="2802136"/>
            <a:ext cx="2050030"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governance is a pilot requirement.</a:t>
            </a:r>
            <a:endParaRPr lang="en-US" sz="1050" dirty="0"/>
          </a:p>
        </p:txBody>
      </p:sp>
      <p:sp>
        <p:nvSpPr>
          <p:cNvPr id="38" name="Shape 36"/>
          <p:cNvSpPr/>
          <p:nvPr/>
        </p:nvSpPr>
        <p:spPr>
          <a:xfrm>
            <a:off x="457200" y="3505200"/>
            <a:ext cx="2654201" cy="514350"/>
          </a:xfrm>
          <a:prstGeom prst="rect">
            <a:avLst/>
          </a:prstGeom>
          <a:solidFill>
            <a:srgbClr val="1A1A1A"/>
          </a:solidFill>
          <a:ln w="12700">
            <a:solidFill>
              <a:srgbClr val="333333">
                <a:alpha val="0"/>
              </a:srgbClr>
            </a:solidFill>
            <a:prstDash val="solid"/>
          </a:ln>
        </p:spPr>
      </p:sp>
      <p:sp>
        <p:nvSpPr>
          <p:cNvPr id="39" name="Text 37"/>
          <p:cNvSpPr/>
          <p:nvPr/>
        </p:nvSpPr>
        <p:spPr>
          <a:xfrm>
            <a:off x="609600" y="3619500"/>
            <a:ext cx="1741212"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release-payee-verification-v2</a:t>
            </a:r>
            <a:endParaRPr lang="en-US" sz="975" dirty="0"/>
          </a:p>
        </p:txBody>
      </p:sp>
      <p:sp>
        <p:nvSpPr>
          <p:cNvPr id="40" name="Text 38"/>
          <p:cNvSpPr/>
          <p:nvPr/>
        </p:nvSpPr>
        <p:spPr>
          <a:xfrm>
            <a:off x="609600" y="3762375"/>
            <a:ext cx="13006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Temporary release flag</a:t>
            </a:r>
            <a:endParaRPr lang="en-US" sz="975" dirty="0"/>
          </a:p>
        </p:txBody>
      </p:sp>
      <p:sp>
        <p:nvSpPr>
          <p:cNvPr id="41" name="Shape 39"/>
          <p:cNvSpPr/>
          <p:nvPr/>
        </p:nvSpPr>
        <p:spPr>
          <a:xfrm>
            <a:off x="3244751" y="3505200"/>
            <a:ext cx="2654350" cy="514350"/>
          </a:xfrm>
          <a:prstGeom prst="rect">
            <a:avLst/>
          </a:prstGeom>
          <a:solidFill>
            <a:srgbClr val="1A1A1A"/>
          </a:solidFill>
          <a:ln w="12700">
            <a:solidFill>
              <a:srgbClr val="333333">
                <a:alpha val="0"/>
              </a:srgbClr>
            </a:solidFill>
            <a:prstDash val="solid"/>
          </a:ln>
        </p:spPr>
      </p:sp>
      <p:sp>
        <p:nvSpPr>
          <p:cNvPr id="42" name="Text 40"/>
          <p:cNvSpPr/>
          <p:nvPr/>
        </p:nvSpPr>
        <p:spPr>
          <a:xfrm>
            <a:off x="3397151" y="3619500"/>
            <a:ext cx="2001810"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ops-outbound-payments-enabled</a:t>
            </a:r>
            <a:endParaRPr lang="en-US" sz="975" dirty="0"/>
          </a:p>
        </p:txBody>
      </p:sp>
      <p:sp>
        <p:nvSpPr>
          <p:cNvPr id="43" name="Text 41"/>
          <p:cNvSpPr/>
          <p:nvPr/>
        </p:nvSpPr>
        <p:spPr>
          <a:xfrm>
            <a:off x="3397151" y="3762375"/>
            <a:ext cx="120424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Permanent kill switch</a:t>
            </a:r>
            <a:endParaRPr lang="en-US" sz="975" dirty="0"/>
          </a:p>
        </p:txBody>
      </p:sp>
      <p:sp>
        <p:nvSpPr>
          <p:cNvPr id="44" name="Shape 42"/>
          <p:cNvSpPr/>
          <p:nvPr/>
        </p:nvSpPr>
        <p:spPr>
          <a:xfrm>
            <a:off x="6032450" y="3505200"/>
            <a:ext cx="2654350" cy="514350"/>
          </a:xfrm>
          <a:prstGeom prst="rect">
            <a:avLst/>
          </a:prstGeom>
          <a:solidFill>
            <a:srgbClr val="1A1A1A"/>
          </a:solidFill>
          <a:ln w="12700">
            <a:solidFill>
              <a:srgbClr val="333333">
                <a:alpha val="0"/>
              </a:srgbClr>
            </a:solidFill>
            <a:prstDash val="solid"/>
          </a:ln>
        </p:spPr>
      </p:sp>
      <p:sp>
        <p:nvSpPr>
          <p:cNvPr id="45" name="Text 43"/>
          <p:cNvSpPr/>
          <p:nvPr/>
        </p:nvSpPr>
        <p:spPr>
          <a:xfrm>
            <a:off x="6184850" y="3619500"/>
            <a:ext cx="2153466"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payment-failed · latency · submitted</a:t>
            </a:r>
            <a:endParaRPr lang="en-US" sz="975" dirty="0"/>
          </a:p>
        </p:txBody>
      </p:sp>
      <p:sp>
        <p:nvSpPr>
          <p:cNvPr id="46" name="Text 44"/>
          <p:cNvSpPr/>
          <p:nvPr/>
        </p:nvSpPr>
        <p:spPr>
          <a:xfrm>
            <a:off x="6184850" y="3762375"/>
            <a:ext cx="983825"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Guardrail metrics</a:t>
            </a:r>
            <a:endParaRPr lang="en-US" sz="975" dirty="0"/>
          </a:p>
        </p:txBody>
      </p:sp>
      <p:sp>
        <p:nvSpPr>
          <p:cNvPr id="47" name="Shape 45"/>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48"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3202853"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you just saw</a:t>
            </a:r>
            <a:endParaRPr lang="en-US" sz="3000" dirty="0"/>
          </a:p>
        </p:txBody>
      </p:sp>
      <p:sp>
        <p:nvSpPr>
          <p:cNvPr id="4" name="Text 2"/>
          <p:cNvSpPr/>
          <p:nvPr/>
        </p:nvSpPr>
        <p:spPr>
          <a:xfrm>
            <a:off x="457200" y="838200"/>
            <a:ext cx="632675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Check off only what was demonstrated. Pilot targets are proposals, not results or guarantees.</a:t>
            </a:r>
            <a:endParaRPr lang="en-US" sz="1200" dirty="0"/>
          </a:p>
        </p:txBody>
      </p:sp>
      <p:sp>
        <p:nvSpPr>
          <p:cNvPr id="5" name="Shape 3"/>
          <p:cNvSpPr/>
          <p:nvPr/>
        </p:nvSpPr>
        <p:spPr>
          <a:xfrm>
            <a:off x="457200" y="1390650"/>
            <a:ext cx="8229600" cy="19050"/>
          </a:xfrm>
          <a:prstGeom prst="rect">
            <a:avLst/>
          </a:prstGeom>
          <a:solidFill>
            <a:srgbClr val="1A1A1A"/>
          </a:solidFill>
          <a:ln w="12700">
            <a:solidFill>
              <a:srgbClr val="333333">
                <a:alpha val="0"/>
              </a:srgbClr>
            </a:solidFill>
            <a:prstDash val="solid"/>
          </a:ln>
        </p:spPr>
      </p:sp>
      <p:sp>
        <p:nvSpPr>
          <p:cNvPr id="6" name="Text 4"/>
          <p:cNvSpPr/>
          <p:nvPr/>
        </p:nvSpPr>
        <p:spPr>
          <a:xfrm>
            <a:off x="838200" y="1219200"/>
            <a:ext cx="2325809"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REQUIRED CAPABILITY · WHAT YOU SAW</a:t>
            </a:r>
            <a:endParaRPr lang="en-US" sz="825" dirty="0"/>
          </a:p>
        </p:txBody>
      </p:sp>
      <p:sp>
        <p:nvSpPr>
          <p:cNvPr id="7" name="Text 5"/>
          <p:cNvSpPr/>
          <p:nvPr/>
        </p:nvSpPr>
        <p:spPr>
          <a:xfrm>
            <a:off x="6115050" y="1219200"/>
            <a:ext cx="1277612"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TARGET IT SUPPORTS</a:t>
            </a:r>
            <a:endParaRPr lang="en-US" sz="825" dirty="0"/>
          </a:p>
        </p:txBody>
      </p:sp>
      <p:sp>
        <p:nvSpPr>
          <p:cNvPr id="8" name="Shape 6"/>
          <p:cNvSpPr/>
          <p:nvPr/>
        </p:nvSpPr>
        <p:spPr>
          <a:xfrm>
            <a:off x="457200" y="1883866"/>
            <a:ext cx="8229600" cy="9525"/>
          </a:xfrm>
          <a:prstGeom prst="rect">
            <a:avLst/>
          </a:prstGeom>
          <a:solidFill>
            <a:srgbClr val="DCDCDC"/>
          </a:solidFill>
          <a:ln w="12700">
            <a:solidFill>
              <a:srgbClr val="333333">
                <a:alpha val="0"/>
              </a:srgbClr>
            </a:solidFill>
            <a:prstDash val="solid"/>
          </a:ln>
        </p:spPr>
      </p:sp>
      <p:sp>
        <p:nvSpPr>
          <p:cNvPr id="9" name="Shape 7"/>
          <p:cNvSpPr/>
          <p:nvPr/>
        </p:nvSpPr>
        <p:spPr>
          <a:xfrm>
            <a:off x="466725" y="1522958"/>
            <a:ext cx="209550" cy="209550"/>
          </a:xfrm>
          <a:prstGeom prst="roundRect">
            <a:avLst>
              <a:gd name="adj" fmla="val 18182"/>
            </a:avLst>
          </a:prstGeom>
          <a:solidFill>
            <a:srgbClr val="FFFFFF">
              <a:alpha val="0"/>
            </a:srgbClr>
          </a:solidFill>
          <a:ln w="19050">
            <a:solidFill>
              <a:srgbClr val="0F8A5F"/>
            </a:solidFill>
            <a:prstDash val="solid"/>
          </a:ln>
        </p:spPr>
      </p:sp>
      <p:sp>
        <p:nvSpPr>
          <p:cNvPr id="10" name="Text 8"/>
          <p:cNvSpPr/>
          <p:nvPr/>
        </p:nvSpPr>
        <p:spPr>
          <a:xfrm>
            <a:off x="838200" y="1485900"/>
            <a:ext cx="198826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 rollouts and granular targeting</a:t>
            </a:r>
            <a:endParaRPr lang="en-US" sz="975" dirty="0"/>
          </a:p>
        </p:txBody>
      </p:sp>
      <p:sp>
        <p:nvSpPr>
          <p:cNvPr id="11" name="Text 9"/>
          <p:cNvSpPr/>
          <p:nvPr/>
        </p:nvSpPr>
        <p:spPr>
          <a:xfrm>
            <a:off x="838200" y="1656308"/>
            <a:ext cx="365439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Staff, then UK beta, then UK. Germany and France held until approved.</a:t>
            </a:r>
            <a:endParaRPr lang="en-US" sz="900" dirty="0"/>
          </a:p>
        </p:txBody>
      </p:sp>
      <p:sp>
        <p:nvSpPr>
          <p:cNvPr id="12" name="Text 10"/>
          <p:cNvSpPr/>
          <p:nvPr/>
        </p:nvSpPr>
        <p:spPr>
          <a:xfrm>
            <a:off x="6115050" y="1580108"/>
            <a:ext cx="2429691"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Initial exposure below 5% of eligible users</a:t>
            </a:r>
            <a:endParaRPr lang="en-US" sz="938" dirty="0"/>
          </a:p>
        </p:txBody>
      </p:sp>
      <p:sp>
        <p:nvSpPr>
          <p:cNvPr id="13" name="Shape 11"/>
          <p:cNvSpPr/>
          <p:nvPr/>
        </p:nvSpPr>
        <p:spPr>
          <a:xfrm>
            <a:off x="457200" y="2367558"/>
            <a:ext cx="8229600" cy="9525"/>
          </a:xfrm>
          <a:prstGeom prst="rect">
            <a:avLst/>
          </a:prstGeom>
          <a:solidFill>
            <a:srgbClr val="DCDCDC"/>
          </a:solidFill>
          <a:ln w="12700">
            <a:solidFill>
              <a:srgbClr val="333333">
                <a:alpha val="0"/>
              </a:srgbClr>
            </a:solidFill>
            <a:prstDash val="solid"/>
          </a:ln>
        </p:spPr>
      </p:sp>
      <p:sp>
        <p:nvSpPr>
          <p:cNvPr id="14" name="Shape 12"/>
          <p:cNvSpPr/>
          <p:nvPr/>
        </p:nvSpPr>
        <p:spPr>
          <a:xfrm>
            <a:off x="466725" y="2006650"/>
            <a:ext cx="209550" cy="209550"/>
          </a:xfrm>
          <a:prstGeom prst="roundRect">
            <a:avLst>
              <a:gd name="adj" fmla="val 18182"/>
            </a:avLst>
          </a:prstGeom>
          <a:solidFill>
            <a:srgbClr val="FFFFFF">
              <a:alpha val="0"/>
            </a:srgbClr>
          </a:solidFill>
          <a:ln w="19050">
            <a:solidFill>
              <a:srgbClr val="0F8A5F"/>
            </a:solidFill>
            <a:prstDash val="solid"/>
          </a:ln>
        </p:spPr>
      </p:sp>
      <p:sp>
        <p:nvSpPr>
          <p:cNvPr id="15" name="Text 13"/>
          <p:cNvSpPr/>
          <p:nvPr/>
        </p:nvSpPr>
        <p:spPr>
          <a:xfrm>
            <a:off x="838200" y="1969591"/>
            <a:ext cx="2208830"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Release guardrails and auto-rollback</a:t>
            </a:r>
            <a:endParaRPr lang="en-US" sz="975" dirty="0"/>
          </a:p>
        </p:txBody>
      </p:sp>
      <p:sp>
        <p:nvSpPr>
          <p:cNvPr id="16" name="Text 14"/>
          <p:cNvSpPr/>
          <p:nvPr/>
        </p:nvSpPr>
        <p:spPr>
          <a:xfrm>
            <a:off x="838200" y="2140000"/>
            <a:ext cx="403718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Injected regression and metrics; confirm a completed rollback or mark pending.</a:t>
            </a:r>
            <a:endParaRPr lang="en-US" sz="900" dirty="0"/>
          </a:p>
        </p:txBody>
      </p:sp>
      <p:sp>
        <p:nvSpPr>
          <p:cNvPr id="17" name="Text 15"/>
          <p:cNvSpPr/>
          <p:nvPr/>
        </p:nvSpPr>
        <p:spPr>
          <a:xfrm>
            <a:off x="6115050" y="2063800"/>
            <a:ext cx="2158675"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Less customer impact per regression</a:t>
            </a:r>
            <a:endParaRPr lang="en-US" sz="938" dirty="0"/>
          </a:p>
        </p:txBody>
      </p:sp>
      <p:sp>
        <p:nvSpPr>
          <p:cNvPr id="18" name="Shape 16"/>
          <p:cNvSpPr/>
          <p:nvPr/>
        </p:nvSpPr>
        <p:spPr>
          <a:xfrm>
            <a:off x="457200" y="2851249"/>
            <a:ext cx="8229600" cy="9525"/>
          </a:xfrm>
          <a:prstGeom prst="rect">
            <a:avLst/>
          </a:prstGeom>
          <a:solidFill>
            <a:srgbClr val="DCDCDC"/>
          </a:solidFill>
          <a:ln w="12700">
            <a:solidFill>
              <a:srgbClr val="333333">
                <a:alpha val="0"/>
              </a:srgbClr>
            </a:solidFill>
            <a:prstDash val="solid"/>
          </a:ln>
        </p:spPr>
      </p:sp>
      <p:sp>
        <p:nvSpPr>
          <p:cNvPr id="19" name="Shape 17"/>
          <p:cNvSpPr/>
          <p:nvPr/>
        </p:nvSpPr>
        <p:spPr>
          <a:xfrm>
            <a:off x="466725" y="2490341"/>
            <a:ext cx="209550" cy="209550"/>
          </a:xfrm>
          <a:prstGeom prst="roundRect">
            <a:avLst>
              <a:gd name="adj" fmla="val 18182"/>
            </a:avLst>
          </a:prstGeom>
          <a:solidFill>
            <a:srgbClr val="FFFFFF">
              <a:alpha val="0"/>
            </a:srgbClr>
          </a:solidFill>
          <a:ln w="19050">
            <a:solidFill>
              <a:srgbClr val="0F8A5F"/>
            </a:solidFill>
            <a:prstDash val="solid"/>
          </a:ln>
        </p:spPr>
      </p:sp>
      <p:sp>
        <p:nvSpPr>
          <p:cNvPr id="20" name="Text 18"/>
          <p:cNvSpPr/>
          <p:nvPr/>
        </p:nvSpPr>
        <p:spPr>
          <a:xfrm>
            <a:off x="838200" y="2453283"/>
            <a:ext cx="2428649"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Kill switch and rollback without a deploy</a:t>
            </a:r>
            <a:endParaRPr lang="en-US" sz="975" dirty="0"/>
          </a:p>
        </p:txBody>
      </p:sp>
      <p:sp>
        <p:nvSpPr>
          <p:cNvPr id="21" name="Text 19"/>
          <p:cNvSpPr/>
          <p:nvPr/>
        </p:nvSpPr>
        <p:spPr>
          <a:xfrm>
            <a:off x="838200" y="2623691"/>
            <a:ext cx="366913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Payment UI paused and restored; release flag returns the journey to v1.</a:t>
            </a:r>
            <a:endParaRPr lang="en-US" sz="900" dirty="0"/>
          </a:p>
        </p:txBody>
      </p:sp>
      <p:sp>
        <p:nvSpPr>
          <p:cNvPr id="22" name="Text 20"/>
          <p:cNvSpPr/>
          <p:nvPr/>
        </p:nvSpPr>
        <p:spPr>
          <a:xfrm>
            <a:off x="6115050" y="2547491"/>
            <a:ext cx="156276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Rollback in under 1 minute</a:t>
            </a:r>
            <a:endParaRPr lang="en-US" sz="938" dirty="0"/>
          </a:p>
        </p:txBody>
      </p:sp>
      <p:sp>
        <p:nvSpPr>
          <p:cNvPr id="23" name="Shape 21"/>
          <p:cNvSpPr/>
          <p:nvPr/>
        </p:nvSpPr>
        <p:spPr>
          <a:xfrm>
            <a:off x="457200" y="3334941"/>
            <a:ext cx="8229600" cy="9525"/>
          </a:xfrm>
          <a:prstGeom prst="rect">
            <a:avLst/>
          </a:prstGeom>
          <a:solidFill>
            <a:srgbClr val="DCDCDC"/>
          </a:solidFill>
          <a:ln w="12700">
            <a:solidFill>
              <a:srgbClr val="333333">
                <a:alpha val="0"/>
              </a:srgbClr>
            </a:solidFill>
            <a:prstDash val="solid"/>
          </a:ln>
        </p:spPr>
      </p:sp>
      <p:sp>
        <p:nvSpPr>
          <p:cNvPr id="24" name="Shape 22"/>
          <p:cNvSpPr/>
          <p:nvPr/>
        </p:nvSpPr>
        <p:spPr>
          <a:xfrm>
            <a:off x="466725" y="2974032"/>
            <a:ext cx="209550" cy="209550"/>
          </a:xfrm>
          <a:prstGeom prst="roundRect">
            <a:avLst>
              <a:gd name="adj" fmla="val 18182"/>
            </a:avLst>
          </a:prstGeom>
          <a:solidFill>
            <a:srgbClr val="FFFFFF">
              <a:alpha val="0"/>
            </a:srgbClr>
          </a:solidFill>
          <a:ln w="19050">
            <a:solidFill>
              <a:srgbClr val="0F8A5F"/>
            </a:solidFill>
            <a:prstDash val="solid"/>
          </a:ln>
        </p:spPr>
      </p:sp>
      <p:sp>
        <p:nvSpPr>
          <p:cNvPr id="25" name="Text 23"/>
          <p:cNvSpPr/>
          <p:nvPr/>
        </p:nvSpPr>
        <p:spPr>
          <a:xfrm>
            <a:off x="838200" y="2936974"/>
            <a:ext cx="1857744"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Audit trail, approvals and roles</a:t>
            </a:r>
            <a:endParaRPr lang="en-US" sz="975" dirty="0"/>
          </a:p>
        </p:txBody>
      </p:sp>
      <p:sp>
        <p:nvSpPr>
          <p:cNvPr id="26" name="Text 24"/>
          <p:cNvSpPr/>
          <p:nvPr/>
        </p:nvSpPr>
        <p:spPr>
          <a:xfrm>
            <a:off x="838200" y="3107382"/>
            <a:ext cx="3827782"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History shown; approvals, permissions and retention to validate in the pilot.</a:t>
            </a:r>
            <a:endParaRPr lang="en-US" sz="900" dirty="0"/>
          </a:p>
        </p:txBody>
      </p:sp>
      <p:sp>
        <p:nvSpPr>
          <p:cNvPr id="27" name="Text 25"/>
          <p:cNvSpPr/>
          <p:nvPr/>
        </p:nvSpPr>
        <p:spPr>
          <a:xfrm>
            <a:off x="6115050" y="3031182"/>
            <a:ext cx="2257645"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Audit evidence produced automatically</a:t>
            </a:r>
            <a:endParaRPr lang="en-US" sz="938" dirty="0"/>
          </a:p>
        </p:txBody>
      </p:sp>
      <p:sp>
        <p:nvSpPr>
          <p:cNvPr id="28" name="Shape 26"/>
          <p:cNvSpPr/>
          <p:nvPr/>
        </p:nvSpPr>
        <p:spPr>
          <a:xfrm>
            <a:off x="466725" y="3457724"/>
            <a:ext cx="209550" cy="209550"/>
          </a:xfrm>
          <a:prstGeom prst="roundRect">
            <a:avLst>
              <a:gd name="adj" fmla="val 18182"/>
            </a:avLst>
          </a:prstGeom>
          <a:solidFill>
            <a:srgbClr val="FFFFFF">
              <a:alpha val="0"/>
            </a:srgbClr>
          </a:solidFill>
          <a:ln w="19050">
            <a:solidFill>
              <a:srgbClr val="0F8A5F"/>
            </a:solidFill>
            <a:prstDash val="solid"/>
          </a:ln>
        </p:spPr>
      </p:sp>
      <p:sp>
        <p:nvSpPr>
          <p:cNvPr id="29" name="Text 27"/>
          <p:cNvSpPr/>
          <p:nvPr/>
        </p:nvSpPr>
        <p:spPr>
          <a:xfrm>
            <a:off x="838200" y="3420666"/>
            <a:ext cx="2153763"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Data-minimised, resilient evaluation</a:t>
            </a:r>
            <a:endParaRPr lang="en-US" sz="975" dirty="0"/>
          </a:p>
        </p:txBody>
      </p:sp>
      <p:sp>
        <p:nvSpPr>
          <p:cNvPr id="30" name="Text 28"/>
          <p:cNvSpPr/>
          <p:nvPr/>
        </p:nvSpPr>
        <p:spPr>
          <a:xfrm>
            <a:off x="838200" y="3591074"/>
            <a:ext cx="4145828"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Opaque key plus three attributes; outage tests only checked when demonstrated.</a:t>
            </a:r>
            <a:endParaRPr lang="en-US" sz="900" dirty="0"/>
          </a:p>
        </p:txBody>
      </p:sp>
      <p:sp>
        <p:nvSpPr>
          <p:cNvPr id="31" name="Text 29"/>
          <p:cNvSpPr/>
          <p:nvPr/>
        </p:nvSpPr>
        <p:spPr>
          <a:xfrm>
            <a:off x="6115050" y="3514874"/>
            <a:ext cx="2231452"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No names or emails; availability tested</a:t>
            </a:r>
            <a:endParaRPr lang="en-US" sz="938" dirty="0"/>
          </a:p>
        </p:txBody>
      </p:sp>
      <p:sp>
        <p:nvSpPr>
          <p:cNvPr id="32" name="Shape 30"/>
          <p:cNvSpPr/>
          <p:nvPr/>
        </p:nvSpPr>
        <p:spPr>
          <a:xfrm>
            <a:off x="457200" y="4257675"/>
            <a:ext cx="8229600" cy="333375"/>
          </a:xfrm>
          <a:prstGeom prst="rect">
            <a:avLst/>
          </a:prstGeom>
          <a:solidFill>
            <a:srgbClr val="1A1A1A"/>
          </a:solidFill>
          <a:ln w="12700">
            <a:solidFill>
              <a:srgbClr val="333333">
                <a:alpha val="0"/>
              </a:srgbClr>
            </a:solidFill>
            <a:prstDash val="solid"/>
          </a:ln>
        </p:spPr>
      </p:sp>
      <p:sp>
        <p:nvSpPr>
          <p:cNvPr id="33" name="Text 31"/>
          <p:cNvSpPr/>
          <p:nvPr/>
        </p:nvSpPr>
        <p:spPr>
          <a:xfrm>
            <a:off x="628650" y="4352925"/>
            <a:ext cx="698522" cy="150190"/>
          </a:xfrm>
          <a:prstGeom prst="rect">
            <a:avLst/>
          </a:prstGeom>
          <a:noFill/>
          <a:ln/>
        </p:spPr>
        <p:txBody>
          <a:bodyPr wrap="none" lIns="0" tIns="0" rIns="0" bIns="0" rtlCol="0" anchor="ctr"/>
          <a:lstStyle/>
          <a:p>
            <a:pPr indent="0" marL="0">
              <a:buNone/>
            </a:pPr>
            <a:r>
              <a:rPr lang="en-US" sz="1013" b="1" dirty="0">
                <a:solidFill>
                  <a:srgbClr val="D8F55A"/>
                </a:solidFill>
                <a:latin typeface="Arial" pitchFamily="34" charset="0"/>
                <a:ea typeface="Arial" pitchFamily="34" charset="-122"/>
                <a:cs typeface="Arial" pitchFamily="34" charset="-120"/>
              </a:rPr>
              <a:t>The result:</a:t>
            </a:r>
            <a:endParaRPr lang="en-US" sz="1013" dirty="0"/>
          </a:p>
        </p:txBody>
      </p:sp>
      <p:sp>
        <p:nvSpPr>
          <p:cNvPr id="34" name="Text 32"/>
          <p:cNvSpPr/>
          <p:nvPr/>
        </p:nvSpPr>
        <p:spPr>
          <a:xfrm>
            <a:off x="1286024" y="4352925"/>
            <a:ext cx="6063776" cy="150190"/>
          </a:xfrm>
          <a:prstGeom prst="rect">
            <a:avLst/>
          </a:prstGeom>
          <a:noFill/>
          <a:ln/>
        </p:spPr>
        <p:txBody>
          <a:bodyPr wrap="none" lIns="0" tIns="0" rIns="0" bIns="0" rtlCol="0" anchor="ctr"/>
          <a:lstStyle/>
          <a:p>
            <a:pPr indent="0" marL="0">
              <a:buNone/>
            </a:pPr>
            <a:r>
              <a:rPr lang="en-US" sz="1013" dirty="0">
                <a:solidFill>
                  <a:srgbClr val="FFFFFF"/>
                </a:solidFill>
                <a:latin typeface="Arial" pitchFamily="34" charset="0"/>
                <a:ea typeface="Arial" pitchFamily="34" charset="-122"/>
                <a:cs typeface="Arial" pitchFamily="34" charset="-120"/>
              </a:rPr>
              <a:t> releases that are smaller, reversible and recorded, so payments can move from a monthly train to weekly.</a:t>
            </a:r>
            <a:endParaRPr lang="en-US" sz="1013" dirty="0"/>
          </a:p>
        </p:txBody>
      </p:sp>
      <p:sp>
        <p:nvSpPr>
          <p:cNvPr id="35" name="Shape 3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3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513672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Where we've done this before</a:t>
            </a:r>
            <a:endParaRPr lang="en-US" sz="3000" dirty="0"/>
          </a:p>
        </p:txBody>
      </p:sp>
      <p:sp>
        <p:nvSpPr>
          <p:cNvPr id="4" name="Text 2"/>
          <p:cNvSpPr/>
          <p:nvPr/>
        </p:nvSpPr>
        <p:spPr>
          <a:xfrm>
            <a:off x="457200" y="838200"/>
            <a:ext cx="7100959"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Relevant customer examples, not promises of Northwind's results. Sources and caveats are in the notes.</a:t>
            </a:r>
            <a:endParaRPr lang="en-US" sz="1200" dirty="0"/>
          </a:p>
        </p:txBody>
      </p:sp>
      <p:sp>
        <p:nvSpPr>
          <p:cNvPr id="5" name="Shape 3"/>
          <p:cNvSpPr/>
          <p:nvPr/>
        </p:nvSpPr>
        <p:spPr>
          <a:xfrm>
            <a:off x="457200" y="1333500"/>
            <a:ext cx="1554361" cy="2762250"/>
          </a:xfrm>
          <a:prstGeom prst="rect">
            <a:avLst/>
          </a:prstGeom>
          <a:solidFill>
            <a:srgbClr val="2B2B2B"/>
          </a:solidFill>
          <a:ln w="12700">
            <a:solidFill>
              <a:srgbClr val="333333">
                <a:alpha val="0"/>
              </a:srgbClr>
            </a:solidFill>
            <a:prstDash val="solid"/>
          </a:ln>
        </p:spPr>
      </p:sp>
      <p:sp>
        <p:nvSpPr>
          <p:cNvPr id="6" name="Shape 4"/>
          <p:cNvSpPr/>
          <p:nvPr/>
        </p:nvSpPr>
        <p:spPr>
          <a:xfrm>
            <a:off x="457200" y="1333500"/>
            <a:ext cx="1554361" cy="38100"/>
          </a:xfrm>
          <a:prstGeom prst="rect">
            <a:avLst/>
          </a:prstGeom>
          <a:solidFill>
            <a:srgbClr val="405BFF"/>
          </a:solidFill>
          <a:ln w="12700">
            <a:solidFill>
              <a:srgbClr val="333333">
                <a:alpha val="0"/>
              </a:srgbClr>
            </a:solidFill>
            <a:prstDash val="solid"/>
          </a:ln>
        </p:spPr>
      </p:sp>
      <p:sp>
        <p:nvSpPr>
          <p:cNvPr id="7" name="Text 5"/>
          <p:cNvSpPr/>
          <p:nvPr/>
        </p:nvSpPr>
        <p:spPr>
          <a:xfrm>
            <a:off x="590550" y="1504950"/>
            <a:ext cx="401461" cy="369265"/>
          </a:xfrm>
          <a:prstGeom prst="rect">
            <a:avLst/>
          </a:prstGeom>
          <a:noFill/>
          <a:ln/>
        </p:spPr>
        <p:txBody>
          <a:bodyPr wrap="none" lIns="0" tIns="0" rIns="0" bIns="0" rtlCol="0" anchor="ctr"/>
          <a:lstStyle/>
          <a:p>
            <a:pPr indent="0" marL="0">
              <a:buNone/>
            </a:pPr>
            <a:r>
              <a:rPr lang="en-US" sz="2550" b="1" dirty="0">
                <a:solidFill>
                  <a:srgbClr val="405BFF"/>
                </a:solidFill>
                <a:latin typeface="Arial" pitchFamily="34" charset="0"/>
                <a:ea typeface="Arial" pitchFamily="34" charset="-122"/>
                <a:cs typeface="Arial" pitchFamily="34" charset="-120"/>
              </a:rPr>
              <a:t>6x</a:t>
            </a:r>
            <a:endParaRPr lang="en-US" sz="2550" dirty="0"/>
          </a:p>
        </p:txBody>
      </p:sp>
      <p:sp>
        <p:nvSpPr>
          <p:cNvPr id="8" name="Text 6"/>
          <p:cNvSpPr/>
          <p:nvPr/>
        </p:nvSpPr>
        <p:spPr>
          <a:xfrm>
            <a:off x="590550" y="1914525"/>
            <a:ext cx="77174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Saxo Bank</a:t>
            </a:r>
            <a:endParaRPr lang="en-US" sz="1125" dirty="0"/>
          </a:p>
        </p:txBody>
      </p:sp>
      <p:sp>
        <p:nvSpPr>
          <p:cNvPr id="9" name="Text 7"/>
          <p:cNvSpPr/>
          <p:nvPr/>
        </p:nvSpPr>
        <p:spPr>
          <a:xfrm>
            <a:off x="590550" y="2095500"/>
            <a:ext cx="1083689"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Denmark · trading and</a:t>
            </a:r>
            <a:endParaRPr lang="en-US" sz="825" dirty="0"/>
          </a:p>
        </p:txBody>
      </p:sp>
      <p:sp>
        <p:nvSpPr>
          <p:cNvPr id="10" name="Text 8"/>
          <p:cNvSpPr/>
          <p:nvPr/>
        </p:nvSpPr>
        <p:spPr>
          <a:xfrm>
            <a:off x="590550" y="2209800"/>
            <a:ext cx="804190"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investment bank</a:t>
            </a:r>
            <a:endParaRPr lang="en-US" sz="825" dirty="0"/>
          </a:p>
        </p:txBody>
      </p:sp>
      <p:sp>
        <p:nvSpPr>
          <p:cNvPr id="11" name="Text 9"/>
          <p:cNvSpPr/>
          <p:nvPr/>
        </p:nvSpPr>
        <p:spPr>
          <a:xfrm>
            <a:off x="590550" y="2428875"/>
            <a:ext cx="121644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From a release every 3</a:t>
            </a:r>
            <a:endParaRPr lang="en-US" sz="900" dirty="0"/>
          </a:p>
        </p:txBody>
      </p:sp>
      <p:sp>
        <p:nvSpPr>
          <p:cNvPr id="12" name="Text 10"/>
          <p:cNvSpPr/>
          <p:nvPr/>
        </p:nvSpPr>
        <p:spPr>
          <a:xfrm>
            <a:off x="590550" y="2588865"/>
            <a:ext cx="121004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weeks to twice a week,</a:t>
            </a:r>
            <a:endParaRPr lang="en-US" sz="900" dirty="0"/>
          </a:p>
        </p:txBody>
      </p:sp>
      <p:sp>
        <p:nvSpPr>
          <p:cNvPr id="13" name="Text 11"/>
          <p:cNvSpPr/>
          <p:nvPr/>
        </p:nvSpPr>
        <p:spPr>
          <a:xfrm>
            <a:off x="590550" y="2748855"/>
            <a:ext cx="11594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using gradual rollouts,</a:t>
            </a:r>
            <a:endParaRPr lang="en-US" sz="900" dirty="0"/>
          </a:p>
        </p:txBody>
      </p:sp>
      <p:sp>
        <p:nvSpPr>
          <p:cNvPr id="14" name="Text 12"/>
          <p:cNvSpPr/>
          <p:nvPr/>
        </p:nvSpPr>
        <p:spPr>
          <a:xfrm>
            <a:off x="590550" y="2908846"/>
            <a:ext cx="117864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segment targeting and</a:t>
            </a:r>
            <a:endParaRPr lang="en-US" sz="900" dirty="0"/>
          </a:p>
        </p:txBody>
      </p:sp>
      <p:sp>
        <p:nvSpPr>
          <p:cNvPr id="15" name="Text 13"/>
          <p:cNvSpPr/>
          <p:nvPr/>
        </p:nvSpPr>
        <p:spPr>
          <a:xfrm>
            <a:off x="590550" y="3068836"/>
            <a:ext cx="67634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kill switches.</a:t>
            </a:r>
            <a:endParaRPr lang="en-US" sz="900" dirty="0"/>
          </a:p>
        </p:txBody>
      </p:sp>
      <p:sp>
        <p:nvSpPr>
          <p:cNvPr id="16" name="Text 14"/>
          <p:cNvSpPr/>
          <p:nvPr/>
        </p:nvSpPr>
        <p:spPr>
          <a:xfrm>
            <a:off x="590550" y="3314551"/>
            <a:ext cx="1007936"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1 · targeting</a:t>
            </a:r>
            <a:endParaRPr lang="en-US" sz="825" dirty="0"/>
          </a:p>
        </p:txBody>
      </p:sp>
      <p:sp>
        <p:nvSpPr>
          <p:cNvPr id="17" name="Shape 15"/>
          <p:cNvSpPr/>
          <p:nvPr/>
        </p:nvSpPr>
        <p:spPr>
          <a:xfrm>
            <a:off x="2125861" y="1333500"/>
            <a:ext cx="1554510" cy="2762250"/>
          </a:xfrm>
          <a:prstGeom prst="rect">
            <a:avLst/>
          </a:prstGeom>
          <a:solidFill>
            <a:srgbClr val="2B2B2B"/>
          </a:solidFill>
          <a:ln w="12700">
            <a:solidFill>
              <a:srgbClr val="333333">
                <a:alpha val="0"/>
              </a:srgbClr>
            </a:solidFill>
            <a:prstDash val="solid"/>
          </a:ln>
        </p:spPr>
      </p:sp>
      <p:sp>
        <p:nvSpPr>
          <p:cNvPr id="18" name="Shape 16"/>
          <p:cNvSpPr/>
          <p:nvPr/>
        </p:nvSpPr>
        <p:spPr>
          <a:xfrm>
            <a:off x="2125861" y="1333500"/>
            <a:ext cx="1554510" cy="38100"/>
          </a:xfrm>
          <a:prstGeom prst="rect">
            <a:avLst/>
          </a:prstGeom>
          <a:solidFill>
            <a:srgbClr val="3DD6F5"/>
          </a:solidFill>
          <a:ln w="12700">
            <a:solidFill>
              <a:srgbClr val="333333">
                <a:alpha val="0"/>
              </a:srgbClr>
            </a:solidFill>
            <a:prstDash val="solid"/>
          </a:ln>
        </p:spPr>
      </p:sp>
      <p:sp>
        <p:nvSpPr>
          <p:cNvPr id="19" name="Text 17"/>
          <p:cNvSpPr/>
          <p:nvPr/>
        </p:nvSpPr>
        <p:spPr>
          <a:xfrm>
            <a:off x="2259211" y="1504950"/>
            <a:ext cx="508915" cy="369265"/>
          </a:xfrm>
          <a:prstGeom prst="rect">
            <a:avLst/>
          </a:prstGeom>
          <a:noFill/>
          <a:ln/>
        </p:spPr>
        <p:txBody>
          <a:bodyPr wrap="none" lIns="0" tIns="0" rIns="0" bIns="0" rtlCol="0" anchor="ctr"/>
          <a:lstStyle/>
          <a:p>
            <a:pPr indent="0" marL="0">
              <a:buNone/>
            </a:pPr>
            <a:r>
              <a:rPr lang="en-US" sz="2550" b="1" dirty="0">
                <a:solidFill>
                  <a:srgbClr val="3DD6F5"/>
                </a:solidFill>
                <a:latin typeface="Arial" pitchFamily="34" charset="0"/>
                <a:ea typeface="Arial" pitchFamily="34" charset="-122"/>
                <a:cs typeface="Arial" pitchFamily="34" charset="-120"/>
              </a:rPr>
              <a:t>UK</a:t>
            </a:r>
            <a:endParaRPr lang="en-US" sz="2550" dirty="0"/>
          </a:p>
        </p:txBody>
      </p:sp>
      <p:sp>
        <p:nvSpPr>
          <p:cNvPr id="20" name="Text 18"/>
          <p:cNvSpPr/>
          <p:nvPr/>
        </p:nvSpPr>
        <p:spPr>
          <a:xfrm>
            <a:off x="2259211" y="1914525"/>
            <a:ext cx="33240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Tide</a:t>
            </a:r>
            <a:endParaRPr lang="en-US" sz="1125" dirty="0"/>
          </a:p>
        </p:txBody>
      </p:sp>
      <p:sp>
        <p:nvSpPr>
          <p:cNvPr id="21" name="Text 19"/>
          <p:cNvSpPr/>
          <p:nvPr/>
        </p:nvSpPr>
        <p:spPr>
          <a:xfrm>
            <a:off x="2259211" y="2095500"/>
            <a:ext cx="1089493"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UK · business banking</a:t>
            </a:r>
            <a:endParaRPr lang="en-US" sz="825" dirty="0"/>
          </a:p>
        </p:txBody>
      </p:sp>
      <p:sp>
        <p:nvSpPr>
          <p:cNvPr id="22" name="Text 20"/>
          <p:cNvSpPr/>
          <p:nvPr/>
        </p:nvSpPr>
        <p:spPr>
          <a:xfrm>
            <a:off x="2259211" y="2314575"/>
            <a:ext cx="12674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Decoupled deployments</a:t>
            </a:r>
            <a:endParaRPr lang="en-US" sz="900" dirty="0"/>
          </a:p>
        </p:txBody>
      </p:sp>
      <p:sp>
        <p:nvSpPr>
          <p:cNvPr id="23" name="Text 21"/>
          <p:cNvSpPr/>
          <p:nvPr/>
        </p:nvSpPr>
        <p:spPr>
          <a:xfrm>
            <a:off x="2259211" y="2474565"/>
            <a:ext cx="12990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from releases. Automatic</a:t>
            </a:r>
            <a:endParaRPr lang="en-US" sz="900" dirty="0"/>
          </a:p>
        </p:txBody>
      </p:sp>
      <p:sp>
        <p:nvSpPr>
          <p:cNvPr id="24" name="Text 22"/>
          <p:cNvSpPr/>
          <p:nvPr/>
        </p:nvSpPr>
        <p:spPr>
          <a:xfrm>
            <a:off x="2259211" y="2634555"/>
            <a:ext cx="866995"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kill switches and</a:t>
            </a:r>
            <a:endParaRPr lang="en-US" sz="900" dirty="0"/>
          </a:p>
        </p:txBody>
      </p:sp>
      <p:sp>
        <p:nvSpPr>
          <p:cNvPr id="25" name="Text 23"/>
          <p:cNvSpPr/>
          <p:nvPr/>
        </p:nvSpPr>
        <p:spPr>
          <a:xfrm>
            <a:off x="2259211" y="2794546"/>
            <a:ext cx="11656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Datadog triggers were</a:t>
            </a:r>
            <a:endParaRPr lang="en-US" sz="900" dirty="0"/>
          </a:p>
        </p:txBody>
      </p:sp>
      <p:sp>
        <p:nvSpPr>
          <p:cNvPr id="26" name="Text 24"/>
          <p:cNvSpPr/>
          <p:nvPr/>
        </p:nvSpPr>
        <p:spPr>
          <a:xfrm>
            <a:off x="2259211" y="2954536"/>
            <a:ext cx="11720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described as roadmap</a:t>
            </a:r>
            <a:endParaRPr lang="en-US" sz="900" dirty="0"/>
          </a:p>
        </p:txBody>
      </p:sp>
      <p:sp>
        <p:nvSpPr>
          <p:cNvPr id="27" name="Text 25"/>
          <p:cNvSpPr/>
          <p:nvPr/>
        </p:nvSpPr>
        <p:spPr>
          <a:xfrm>
            <a:off x="2259211" y="3114526"/>
            <a:ext cx="346097"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items.</a:t>
            </a:r>
            <a:endParaRPr lang="en-US" sz="900" dirty="0"/>
          </a:p>
        </p:txBody>
      </p:sp>
      <p:sp>
        <p:nvSpPr>
          <p:cNvPr id="28" name="Text 26"/>
          <p:cNvSpPr/>
          <p:nvPr/>
        </p:nvSpPr>
        <p:spPr>
          <a:xfrm>
            <a:off x="2259211" y="3360241"/>
            <a:ext cx="1270022"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2 · control pattern</a:t>
            </a:r>
            <a:endParaRPr lang="en-US" sz="825" dirty="0"/>
          </a:p>
        </p:txBody>
      </p:sp>
      <p:sp>
        <p:nvSpPr>
          <p:cNvPr id="29" name="Shape 27"/>
          <p:cNvSpPr/>
          <p:nvPr/>
        </p:nvSpPr>
        <p:spPr>
          <a:xfrm>
            <a:off x="3794671" y="1333500"/>
            <a:ext cx="1554510" cy="2762250"/>
          </a:xfrm>
          <a:prstGeom prst="rect">
            <a:avLst/>
          </a:prstGeom>
          <a:solidFill>
            <a:srgbClr val="2B2B2B"/>
          </a:solidFill>
          <a:ln w="12700">
            <a:solidFill>
              <a:srgbClr val="333333">
                <a:alpha val="0"/>
              </a:srgbClr>
            </a:solidFill>
            <a:prstDash val="solid"/>
          </a:ln>
        </p:spPr>
      </p:sp>
      <p:sp>
        <p:nvSpPr>
          <p:cNvPr id="30" name="Shape 28"/>
          <p:cNvSpPr/>
          <p:nvPr/>
        </p:nvSpPr>
        <p:spPr>
          <a:xfrm>
            <a:off x="3794671" y="1333500"/>
            <a:ext cx="1554510" cy="38100"/>
          </a:xfrm>
          <a:prstGeom prst="rect">
            <a:avLst/>
          </a:prstGeom>
          <a:solidFill>
            <a:srgbClr val="A34FDE"/>
          </a:solidFill>
          <a:ln w="12700">
            <a:solidFill>
              <a:srgbClr val="333333">
                <a:alpha val="0"/>
              </a:srgbClr>
            </a:solidFill>
            <a:prstDash val="solid"/>
          </a:ln>
        </p:spPr>
      </p:sp>
      <p:sp>
        <p:nvSpPr>
          <p:cNvPr id="31" name="Text 29"/>
          <p:cNvSpPr/>
          <p:nvPr/>
        </p:nvSpPr>
        <p:spPr>
          <a:xfrm>
            <a:off x="3928021" y="1504950"/>
            <a:ext cx="689443" cy="369265"/>
          </a:xfrm>
          <a:prstGeom prst="rect">
            <a:avLst/>
          </a:prstGeom>
          <a:noFill/>
          <a:ln/>
        </p:spPr>
        <p:txBody>
          <a:bodyPr wrap="none" lIns="0" tIns="0" rIns="0" bIns="0" rtlCol="0" anchor="ctr"/>
          <a:lstStyle/>
          <a:p>
            <a:pPr indent="0" marL="0">
              <a:buNone/>
            </a:pPr>
            <a:r>
              <a:rPr lang="en-US" sz="2550" b="1" dirty="0">
                <a:solidFill>
                  <a:srgbClr val="C27CF0"/>
                </a:solidFill>
                <a:latin typeface="Arial" pitchFamily="34" charset="0"/>
                <a:ea typeface="Arial" pitchFamily="34" charset="-122"/>
                <a:cs typeface="Arial" pitchFamily="34" charset="-120"/>
              </a:rPr>
              <a:t>50%</a:t>
            </a:r>
            <a:endParaRPr lang="en-US" sz="2550" dirty="0"/>
          </a:p>
        </p:txBody>
      </p:sp>
      <p:sp>
        <p:nvSpPr>
          <p:cNvPr id="32" name="Text 30"/>
          <p:cNvSpPr/>
          <p:nvPr/>
        </p:nvSpPr>
        <p:spPr>
          <a:xfrm>
            <a:off x="3928021" y="1914525"/>
            <a:ext cx="740194"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AlayaCare</a:t>
            </a:r>
            <a:endParaRPr lang="en-US" sz="1125" dirty="0"/>
          </a:p>
        </p:txBody>
      </p:sp>
      <p:sp>
        <p:nvSpPr>
          <p:cNvPr id="33" name="Text 31"/>
          <p:cNvSpPr/>
          <p:nvPr/>
        </p:nvSpPr>
        <p:spPr>
          <a:xfrm>
            <a:off x="3928021" y="2095500"/>
            <a:ext cx="938284"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Canada · regulated</a:t>
            </a:r>
            <a:endParaRPr lang="en-US" sz="825" dirty="0"/>
          </a:p>
        </p:txBody>
      </p:sp>
      <p:sp>
        <p:nvSpPr>
          <p:cNvPr id="34" name="Text 32"/>
          <p:cNvSpPr/>
          <p:nvPr/>
        </p:nvSpPr>
        <p:spPr>
          <a:xfrm>
            <a:off x="3928021" y="2209800"/>
            <a:ext cx="530495"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healthcare</a:t>
            </a:r>
            <a:endParaRPr lang="en-US" sz="825" dirty="0"/>
          </a:p>
        </p:txBody>
      </p:sp>
      <p:sp>
        <p:nvSpPr>
          <p:cNvPr id="35" name="Text 33"/>
          <p:cNvSpPr/>
          <p:nvPr/>
        </p:nvSpPr>
        <p:spPr>
          <a:xfrm>
            <a:off x="3928021" y="2428875"/>
            <a:ext cx="12927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Faster resolution when a</a:t>
            </a:r>
            <a:endParaRPr lang="en-US" sz="900" dirty="0"/>
          </a:p>
        </p:txBody>
      </p:sp>
      <p:sp>
        <p:nvSpPr>
          <p:cNvPr id="36" name="Text 34"/>
          <p:cNvSpPr/>
          <p:nvPr/>
        </p:nvSpPr>
        <p:spPr>
          <a:xfrm>
            <a:off x="3928021" y="2588865"/>
            <a:ext cx="12674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flag was used instead of</a:t>
            </a:r>
            <a:endParaRPr lang="en-US" sz="900" dirty="0"/>
          </a:p>
        </p:txBody>
      </p:sp>
      <p:sp>
        <p:nvSpPr>
          <p:cNvPr id="37" name="Text 35"/>
          <p:cNvSpPr/>
          <p:nvPr/>
        </p:nvSpPr>
        <p:spPr>
          <a:xfrm>
            <a:off x="3928021" y="2748855"/>
            <a:ext cx="1305889"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deploying new code, and</a:t>
            </a:r>
            <a:endParaRPr lang="en-US" sz="900" dirty="0"/>
          </a:p>
        </p:txBody>
      </p:sp>
      <p:sp>
        <p:nvSpPr>
          <p:cNvPr id="38" name="Text 36"/>
          <p:cNvSpPr/>
          <p:nvPr/>
        </p:nvSpPr>
        <p:spPr>
          <a:xfrm>
            <a:off x="3928021" y="2908846"/>
            <a:ext cx="848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several outages</a:t>
            </a:r>
            <a:endParaRPr lang="en-US" sz="900" dirty="0"/>
          </a:p>
        </p:txBody>
      </p:sp>
      <p:sp>
        <p:nvSpPr>
          <p:cNvPr id="39" name="Text 37"/>
          <p:cNvSpPr/>
          <p:nvPr/>
        </p:nvSpPr>
        <p:spPr>
          <a:xfrm>
            <a:off x="3928021" y="3068836"/>
            <a:ext cx="58139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prevented.</a:t>
            </a:r>
            <a:endParaRPr lang="en-US" sz="900" dirty="0"/>
          </a:p>
        </p:txBody>
      </p:sp>
      <p:sp>
        <p:nvSpPr>
          <p:cNvPr id="40" name="Text 38"/>
          <p:cNvSpPr/>
          <p:nvPr/>
        </p:nvSpPr>
        <p:spPr>
          <a:xfrm>
            <a:off x="3928021" y="3314551"/>
            <a:ext cx="1042612"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3 · kill switch</a:t>
            </a:r>
            <a:endParaRPr lang="en-US" sz="825" dirty="0"/>
          </a:p>
        </p:txBody>
      </p:sp>
      <p:sp>
        <p:nvSpPr>
          <p:cNvPr id="41" name="Shape 39"/>
          <p:cNvSpPr/>
          <p:nvPr/>
        </p:nvSpPr>
        <p:spPr>
          <a:xfrm>
            <a:off x="5463480" y="1333500"/>
            <a:ext cx="1554510" cy="2762250"/>
          </a:xfrm>
          <a:prstGeom prst="rect">
            <a:avLst/>
          </a:prstGeom>
          <a:solidFill>
            <a:srgbClr val="2B2B2B"/>
          </a:solidFill>
          <a:ln w="12700">
            <a:solidFill>
              <a:srgbClr val="333333">
                <a:alpha val="0"/>
              </a:srgbClr>
            </a:solidFill>
            <a:prstDash val="solid"/>
          </a:ln>
        </p:spPr>
      </p:sp>
      <p:sp>
        <p:nvSpPr>
          <p:cNvPr id="42" name="Shape 40"/>
          <p:cNvSpPr/>
          <p:nvPr/>
        </p:nvSpPr>
        <p:spPr>
          <a:xfrm>
            <a:off x="5463480" y="1333500"/>
            <a:ext cx="1554510" cy="38100"/>
          </a:xfrm>
          <a:prstGeom prst="rect">
            <a:avLst/>
          </a:prstGeom>
          <a:solidFill>
            <a:srgbClr val="FF3399"/>
          </a:solidFill>
          <a:ln w="12700">
            <a:solidFill>
              <a:srgbClr val="333333">
                <a:alpha val="0"/>
              </a:srgbClr>
            </a:solidFill>
            <a:prstDash val="solid"/>
          </a:ln>
        </p:spPr>
      </p:sp>
      <p:sp>
        <p:nvSpPr>
          <p:cNvPr id="43" name="Text 41"/>
          <p:cNvSpPr/>
          <p:nvPr/>
        </p:nvSpPr>
        <p:spPr>
          <a:xfrm>
            <a:off x="5596830" y="1504950"/>
            <a:ext cx="868484" cy="369265"/>
          </a:xfrm>
          <a:prstGeom prst="rect">
            <a:avLst/>
          </a:prstGeom>
          <a:noFill/>
          <a:ln/>
        </p:spPr>
        <p:txBody>
          <a:bodyPr wrap="none" lIns="0" tIns="0" rIns="0" bIns="0" rtlCol="0" anchor="ctr"/>
          <a:lstStyle/>
          <a:p>
            <a:pPr indent="0" marL="0">
              <a:buNone/>
            </a:pPr>
            <a:r>
              <a:rPr lang="en-US" sz="2550" b="1" dirty="0">
                <a:solidFill>
                  <a:srgbClr val="FF3399"/>
                </a:solidFill>
                <a:latin typeface="Arial" pitchFamily="34" charset="0"/>
                <a:ea typeface="Arial" pitchFamily="34" charset="-122"/>
                <a:cs typeface="Arial" pitchFamily="34" charset="-120"/>
              </a:rPr>
              <a:t>Audit</a:t>
            </a:r>
            <a:endParaRPr lang="en-US" sz="2550" dirty="0"/>
          </a:p>
        </p:txBody>
      </p:sp>
      <p:sp>
        <p:nvSpPr>
          <p:cNvPr id="44" name="Text 42"/>
          <p:cNvSpPr/>
          <p:nvPr/>
        </p:nvSpPr>
        <p:spPr>
          <a:xfrm>
            <a:off x="5596830" y="1914525"/>
            <a:ext cx="350711"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NAB</a:t>
            </a:r>
            <a:endParaRPr lang="en-US" sz="1125" dirty="0"/>
          </a:p>
        </p:txBody>
      </p:sp>
      <p:sp>
        <p:nvSpPr>
          <p:cNvPr id="45" name="Text 43"/>
          <p:cNvSpPr/>
          <p:nvPr/>
        </p:nvSpPr>
        <p:spPr>
          <a:xfrm>
            <a:off x="5596830" y="2095500"/>
            <a:ext cx="926378"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Australia · National</a:t>
            </a:r>
            <a:endParaRPr lang="en-US" sz="825" dirty="0"/>
          </a:p>
        </p:txBody>
      </p:sp>
      <p:sp>
        <p:nvSpPr>
          <p:cNvPr id="46" name="Text 44"/>
          <p:cNvSpPr/>
          <p:nvPr/>
        </p:nvSpPr>
        <p:spPr>
          <a:xfrm>
            <a:off x="5596830" y="2209800"/>
            <a:ext cx="716828"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Australia Bank</a:t>
            </a:r>
            <a:endParaRPr lang="en-US" sz="825" dirty="0"/>
          </a:p>
        </p:txBody>
      </p:sp>
      <p:sp>
        <p:nvSpPr>
          <p:cNvPr id="47" name="Text 45"/>
          <p:cNvSpPr/>
          <p:nvPr/>
        </p:nvSpPr>
        <p:spPr>
          <a:xfrm>
            <a:off x="5596830" y="2428875"/>
            <a:ext cx="13180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Named financial-services</a:t>
            </a:r>
            <a:endParaRPr lang="en-US" sz="900" dirty="0"/>
          </a:p>
        </p:txBody>
      </p:sp>
      <p:sp>
        <p:nvSpPr>
          <p:cNvPr id="48" name="Text 46"/>
          <p:cNvSpPr/>
          <p:nvPr/>
        </p:nvSpPr>
        <p:spPr>
          <a:xfrm>
            <a:off x="5596830" y="2588865"/>
            <a:ext cx="128654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customer. Audit logs and</a:t>
            </a:r>
            <a:endParaRPr lang="en-US" sz="900" dirty="0"/>
          </a:p>
        </p:txBody>
      </p:sp>
      <p:sp>
        <p:nvSpPr>
          <p:cNvPr id="49" name="Text 47"/>
          <p:cNvSpPr/>
          <p:nvPr/>
        </p:nvSpPr>
        <p:spPr>
          <a:xfrm>
            <a:off x="5596830" y="2748855"/>
            <a:ext cx="11403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approvals support the</a:t>
            </a:r>
            <a:endParaRPr lang="en-US" sz="900" dirty="0"/>
          </a:p>
        </p:txBody>
      </p:sp>
      <p:sp>
        <p:nvSpPr>
          <p:cNvPr id="50" name="Text 48"/>
          <p:cNvSpPr/>
          <p:nvPr/>
        </p:nvSpPr>
        <p:spPr>
          <a:xfrm>
            <a:off x="5596830" y="2908846"/>
            <a:ext cx="123579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governance discussion;</a:t>
            </a:r>
            <a:endParaRPr lang="en-US" sz="900" dirty="0"/>
          </a:p>
        </p:txBody>
      </p:sp>
      <p:sp>
        <p:nvSpPr>
          <p:cNvPr id="51" name="Text 49"/>
          <p:cNvSpPr/>
          <p:nvPr/>
        </p:nvSpPr>
        <p:spPr>
          <a:xfrm>
            <a:off x="5596830" y="3068836"/>
            <a:ext cx="130187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validate Northwind's own</a:t>
            </a:r>
            <a:endParaRPr lang="en-US" sz="900" dirty="0"/>
          </a:p>
        </p:txBody>
      </p:sp>
      <p:sp>
        <p:nvSpPr>
          <p:cNvPr id="52" name="Text 50"/>
          <p:cNvSpPr/>
          <p:nvPr/>
        </p:nvSpPr>
        <p:spPr>
          <a:xfrm>
            <a:off x="5596830" y="3228826"/>
            <a:ext cx="47319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controls.</a:t>
            </a:r>
            <a:endParaRPr lang="en-US" sz="900" dirty="0"/>
          </a:p>
        </p:txBody>
      </p:sp>
      <p:sp>
        <p:nvSpPr>
          <p:cNvPr id="53" name="Text 51"/>
          <p:cNvSpPr/>
          <p:nvPr/>
        </p:nvSpPr>
        <p:spPr>
          <a:xfrm>
            <a:off x="5596830" y="3474541"/>
            <a:ext cx="1147685"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4 · governance</a:t>
            </a:r>
            <a:endParaRPr lang="en-US" sz="825" dirty="0"/>
          </a:p>
        </p:txBody>
      </p:sp>
      <p:sp>
        <p:nvSpPr>
          <p:cNvPr id="54" name="Text 52"/>
          <p:cNvSpPr/>
          <p:nvPr/>
        </p:nvSpPr>
        <p:spPr>
          <a:xfrm>
            <a:off x="5596830" y="3588841"/>
            <a:ext cx="378988"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context</a:t>
            </a:r>
            <a:endParaRPr lang="en-US" sz="825" dirty="0"/>
          </a:p>
        </p:txBody>
      </p:sp>
      <p:sp>
        <p:nvSpPr>
          <p:cNvPr id="55" name="Shape 53"/>
          <p:cNvSpPr/>
          <p:nvPr/>
        </p:nvSpPr>
        <p:spPr>
          <a:xfrm>
            <a:off x="7132290" y="1333500"/>
            <a:ext cx="1554510" cy="2762250"/>
          </a:xfrm>
          <a:prstGeom prst="rect">
            <a:avLst/>
          </a:prstGeom>
          <a:solidFill>
            <a:srgbClr val="2B2B2B"/>
          </a:solidFill>
          <a:ln w="12700">
            <a:solidFill>
              <a:srgbClr val="333333">
                <a:alpha val="0"/>
              </a:srgbClr>
            </a:solidFill>
            <a:prstDash val="solid"/>
          </a:ln>
        </p:spPr>
      </p:sp>
      <p:sp>
        <p:nvSpPr>
          <p:cNvPr id="56" name="Shape 54"/>
          <p:cNvSpPr/>
          <p:nvPr/>
        </p:nvSpPr>
        <p:spPr>
          <a:xfrm>
            <a:off x="7132290" y="1333500"/>
            <a:ext cx="1554510" cy="38100"/>
          </a:xfrm>
          <a:prstGeom prst="rect">
            <a:avLst/>
          </a:prstGeom>
          <a:solidFill>
            <a:srgbClr val="D8F55A"/>
          </a:solidFill>
          <a:ln w="12700">
            <a:solidFill>
              <a:srgbClr val="333333">
                <a:alpha val="0"/>
              </a:srgbClr>
            </a:solidFill>
            <a:prstDash val="solid"/>
          </a:ln>
        </p:spPr>
      </p:sp>
      <p:sp>
        <p:nvSpPr>
          <p:cNvPr id="57" name="Text 55"/>
          <p:cNvSpPr/>
          <p:nvPr/>
        </p:nvSpPr>
        <p:spPr>
          <a:xfrm>
            <a:off x="7265640" y="1504950"/>
            <a:ext cx="689443" cy="369265"/>
          </a:xfrm>
          <a:prstGeom prst="rect">
            <a:avLst/>
          </a:prstGeom>
          <a:noFill/>
          <a:ln/>
        </p:spPr>
        <p:txBody>
          <a:bodyPr wrap="none" lIns="0" tIns="0" rIns="0" bIns="0" rtlCol="0" anchor="ctr"/>
          <a:lstStyle/>
          <a:p>
            <a:pPr indent="0" marL="0">
              <a:buNone/>
            </a:pPr>
            <a:r>
              <a:rPr lang="en-US" sz="2550" b="1" dirty="0">
                <a:solidFill>
                  <a:srgbClr val="D8F55A"/>
                </a:solidFill>
                <a:latin typeface="Arial" pitchFamily="34" charset="0"/>
                <a:ea typeface="Arial" pitchFamily="34" charset="-122"/>
                <a:cs typeface="Arial" pitchFamily="34" charset="-120"/>
              </a:rPr>
              <a:t>97%</a:t>
            </a:r>
            <a:endParaRPr lang="en-US" sz="2550" dirty="0"/>
          </a:p>
        </p:txBody>
      </p:sp>
      <p:sp>
        <p:nvSpPr>
          <p:cNvPr id="58" name="Text 56"/>
          <p:cNvSpPr/>
          <p:nvPr/>
        </p:nvSpPr>
        <p:spPr>
          <a:xfrm>
            <a:off x="7265640" y="1914525"/>
            <a:ext cx="96224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Ally Financial</a:t>
            </a:r>
            <a:endParaRPr lang="en-US" sz="1125" dirty="0"/>
          </a:p>
        </p:txBody>
      </p:sp>
      <p:sp>
        <p:nvSpPr>
          <p:cNvPr id="59" name="Text 57"/>
          <p:cNvSpPr/>
          <p:nvPr/>
        </p:nvSpPr>
        <p:spPr>
          <a:xfrm>
            <a:off x="7265640" y="2095500"/>
            <a:ext cx="1064193"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US · digital bank, 11M</a:t>
            </a:r>
            <a:endParaRPr lang="en-US" sz="825" dirty="0"/>
          </a:p>
        </p:txBody>
      </p:sp>
      <p:sp>
        <p:nvSpPr>
          <p:cNvPr id="60" name="Text 58"/>
          <p:cNvSpPr/>
          <p:nvPr/>
        </p:nvSpPr>
        <p:spPr>
          <a:xfrm>
            <a:off x="7265640" y="2209800"/>
            <a:ext cx="524542"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customers</a:t>
            </a:r>
            <a:endParaRPr lang="en-US" sz="825" dirty="0"/>
          </a:p>
        </p:txBody>
      </p:sp>
      <p:sp>
        <p:nvSpPr>
          <p:cNvPr id="61" name="Text 59"/>
          <p:cNvSpPr/>
          <p:nvPr/>
        </p:nvSpPr>
        <p:spPr>
          <a:xfrm>
            <a:off x="7265640" y="2428875"/>
            <a:ext cx="1083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Fewer overnight and</a:t>
            </a:r>
            <a:endParaRPr lang="en-US" sz="900" dirty="0"/>
          </a:p>
        </p:txBody>
      </p:sp>
      <p:sp>
        <p:nvSpPr>
          <p:cNvPr id="62" name="Text 60"/>
          <p:cNvSpPr/>
          <p:nvPr/>
        </p:nvSpPr>
        <p:spPr>
          <a:xfrm>
            <a:off x="7265640" y="2588865"/>
            <a:ext cx="1229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weekend releases, with</a:t>
            </a:r>
            <a:endParaRPr lang="en-US" sz="900" dirty="0"/>
          </a:p>
        </p:txBody>
      </p:sp>
      <p:sp>
        <p:nvSpPr>
          <p:cNvPr id="63" name="Text 61"/>
          <p:cNvSpPr/>
          <p:nvPr/>
        </p:nvSpPr>
        <p:spPr>
          <a:xfrm>
            <a:off x="7265640" y="2748855"/>
            <a:ext cx="11912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300% more production</a:t>
            </a:r>
            <a:endParaRPr lang="en-US" sz="900" dirty="0"/>
          </a:p>
        </p:txBody>
      </p:sp>
      <p:sp>
        <p:nvSpPr>
          <p:cNvPr id="64" name="Text 62"/>
          <p:cNvSpPr/>
          <p:nvPr/>
        </p:nvSpPr>
        <p:spPr>
          <a:xfrm>
            <a:off x="7265640" y="2908846"/>
            <a:ext cx="10769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deployments (2020–</a:t>
            </a:r>
            <a:endParaRPr lang="en-US" sz="900" dirty="0"/>
          </a:p>
        </p:txBody>
      </p:sp>
      <p:sp>
        <p:nvSpPr>
          <p:cNvPr id="65" name="Text 63"/>
          <p:cNvSpPr/>
          <p:nvPr/>
        </p:nvSpPr>
        <p:spPr>
          <a:xfrm>
            <a:off x="7265640" y="3068836"/>
            <a:ext cx="36529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2023).</a:t>
            </a:r>
            <a:endParaRPr lang="en-US" sz="900" dirty="0"/>
          </a:p>
        </p:txBody>
      </p:sp>
      <p:sp>
        <p:nvSpPr>
          <p:cNvPr id="66" name="Text 64"/>
          <p:cNvSpPr/>
          <p:nvPr/>
        </p:nvSpPr>
        <p:spPr>
          <a:xfrm>
            <a:off x="7265640" y="3314551"/>
            <a:ext cx="1153341"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Overall · faster releases</a:t>
            </a:r>
            <a:endParaRPr lang="en-US" sz="825" dirty="0"/>
          </a:p>
        </p:txBody>
      </p:sp>
      <p:sp>
        <p:nvSpPr>
          <p:cNvPr id="67" name="Text 65"/>
          <p:cNvSpPr/>
          <p:nvPr/>
        </p:nvSpPr>
        <p:spPr>
          <a:xfrm>
            <a:off x="857250" y="4781550"/>
            <a:ext cx="4644253" cy="121615"/>
          </a:xfrm>
          <a:prstGeom prst="rect">
            <a:avLst/>
          </a:prstGeom>
          <a:noFill/>
          <a:ln/>
        </p:spPr>
        <p:txBody>
          <a:bodyPr wrap="none" lIns="0" tIns="0" rIns="0" bIns="0" rtlCol="0" anchor="ctr"/>
          <a:lstStyle/>
          <a:p>
            <a:pPr indent="0" marL="0">
              <a:buNone/>
            </a:pPr>
            <a:r>
              <a:rPr lang="en-US" sz="788" dirty="0">
                <a:solidFill>
                  <a:srgbClr val="8A8A8A"/>
                </a:solidFill>
                <a:latin typeface="Arial" pitchFamily="34" charset="0"/>
                <a:ea typeface="Arial" pitchFamily="34" charset="-122"/>
                <a:cs typeface="Arial" pitchFamily="34" charset="-120"/>
              </a:rPr>
              <a:t>Sources: LaunchDarkly customer stories / financial services; Tide's IT Revolution talk. Full links in notes.</a:t>
            </a:r>
            <a:endParaRPr lang="en-US" sz="788" dirty="0"/>
          </a:p>
        </p:txBody>
      </p:sp>
      <p:pic>
        <p:nvPicPr>
          <p:cNvPr id="68"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554957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Release: a path risk can sign off</a:t>
            </a:r>
            <a:endParaRPr lang="en-US" sz="3000" dirty="0"/>
          </a:p>
        </p:txBody>
      </p:sp>
      <p:sp>
        <p:nvSpPr>
          <p:cNvPr id="4" name="Text 2"/>
          <p:cNvSpPr/>
          <p:nvPr/>
        </p:nvSpPr>
        <p:spPr>
          <a:xfrm>
            <a:off x="457200" y="838200"/>
            <a:ext cx="5005608"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Each step widens exposure only when the previous step has proved safe.</a:t>
            </a:r>
            <a:endParaRPr lang="en-US" sz="1200" dirty="0"/>
          </a:p>
        </p:txBody>
      </p:sp>
      <p:sp>
        <p:nvSpPr>
          <p:cNvPr id="5" name="Shape 3"/>
          <p:cNvSpPr/>
          <p:nvPr/>
        </p:nvSpPr>
        <p:spPr>
          <a:xfrm>
            <a:off x="457200" y="1571625"/>
            <a:ext cx="1971675" cy="38100"/>
          </a:xfrm>
          <a:prstGeom prst="rect">
            <a:avLst/>
          </a:prstGeom>
          <a:solidFill>
            <a:srgbClr val="405BFF"/>
          </a:solidFill>
          <a:ln w="12700">
            <a:solidFill>
              <a:srgbClr val="333333">
                <a:alpha val="0"/>
              </a:srgbClr>
            </a:solidFill>
            <a:prstDash val="solid"/>
          </a:ln>
        </p:spPr>
      </p:sp>
      <p:sp>
        <p:nvSpPr>
          <p:cNvPr id="6" name="Text 4"/>
          <p:cNvSpPr/>
          <p:nvPr/>
        </p:nvSpPr>
        <p:spPr>
          <a:xfrm>
            <a:off x="457200" y="1724025"/>
            <a:ext cx="178963"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1</a:t>
            </a:r>
            <a:endParaRPr lang="en-US" sz="1950" dirty="0"/>
          </a:p>
        </p:txBody>
      </p:sp>
      <p:sp>
        <p:nvSpPr>
          <p:cNvPr id="7" name="Text 5"/>
          <p:cNvSpPr/>
          <p:nvPr/>
        </p:nvSpPr>
        <p:spPr>
          <a:xfrm>
            <a:off x="457200" y="2057400"/>
            <a:ext cx="401014"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Staff</a:t>
            </a:r>
            <a:endParaRPr lang="en-US" sz="1275" dirty="0"/>
          </a:p>
        </p:txBody>
      </p:sp>
      <p:sp>
        <p:nvSpPr>
          <p:cNvPr id="8" name="Text 6"/>
          <p:cNvSpPr/>
          <p:nvPr/>
        </p:nvSpPr>
        <p:spPr>
          <a:xfrm>
            <a:off x="457200" y="2314575"/>
            <a:ext cx="364700"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Rule: </a:t>
            </a:r>
            <a:endParaRPr lang="en-US" sz="975" dirty="0"/>
          </a:p>
        </p:txBody>
      </p:sp>
      <p:sp>
        <p:nvSpPr>
          <p:cNvPr id="9" name="Text 7"/>
          <p:cNvSpPr/>
          <p:nvPr/>
        </p:nvSpPr>
        <p:spPr>
          <a:xfrm>
            <a:off x="780752" y="2314575"/>
            <a:ext cx="786777" cy="150190"/>
          </a:xfrm>
          <a:prstGeom prst="rect">
            <a:avLst/>
          </a:prstGeom>
          <a:noFill/>
          <a:ln/>
        </p:spPr>
        <p:txBody>
          <a:bodyPr wrap="none" lIns="0" tIns="0" rIns="0" bIns="0" rtlCol="0" anchor="ctr"/>
          <a:lstStyle/>
          <a:p>
            <a:pPr indent="0" marL="0">
              <a:buNone/>
            </a:pPr>
            <a:r>
              <a:rPr lang="en-US" sz="975" dirty="0">
                <a:solidFill>
                  <a:srgbClr val="BDBDBD"/>
                </a:solidFill>
                <a:latin typeface="Courier New" pitchFamily="34" charset="0"/>
                <a:ea typeface="Courier New" pitchFamily="34" charset="-122"/>
                <a:cs typeface="Courier New" pitchFamily="34" charset="-120"/>
              </a:rPr>
              <a:t>isEmployee</a:t>
            </a:r>
            <a:endParaRPr lang="en-US" sz="975" dirty="0"/>
          </a:p>
        </p:txBody>
      </p:sp>
      <p:sp>
        <p:nvSpPr>
          <p:cNvPr id="10" name="Text 8"/>
          <p:cNvSpPr/>
          <p:nvPr/>
        </p:nvSpPr>
        <p:spPr>
          <a:xfrm>
            <a:off x="1526381" y="2314575"/>
            <a:ext cx="736324"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 is true. Real</a:t>
            </a:r>
            <a:endParaRPr lang="en-US" sz="975" dirty="0"/>
          </a:p>
        </p:txBody>
      </p:sp>
      <p:sp>
        <p:nvSpPr>
          <p:cNvPr id="11" name="Text 9"/>
          <p:cNvSpPr/>
          <p:nvPr/>
        </p:nvSpPr>
        <p:spPr>
          <a:xfrm>
            <a:off x="457200" y="2487811"/>
            <a:ext cx="1892719"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payments, real accounts, our own</a:t>
            </a:r>
            <a:endParaRPr lang="en-US" sz="975" dirty="0"/>
          </a:p>
        </p:txBody>
      </p:sp>
      <p:sp>
        <p:nvSpPr>
          <p:cNvPr id="12" name="Text 10"/>
          <p:cNvSpPr/>
          <p:nvPr/>
        </p:nvSpPr>
        <p:spPr>
          <a:xfrm>
            <a:off x="457200" y="2661047"/>
            <a:ext cx="447449"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people.</a:t>
            </a:r>
            <a:endParaRPr lang="en-US" sz="975" dirty="0"/>
          </a:p>
        </p:txBody>
      </p:sp>
      <p:sp>
        <p:nvSpPr>
          <p:cNvPr id="13" name="Shape 11"/>
          <p:cNvSpPr/>
          <p:nvPr/>
        </p:nvSpPr>
        <p:spPr>
          <a:xfrm>
            <a:off x="2543175" y="1571625"/>
            <a:ext cx="1971675" cy="38100"/>
          </a:xfrm>
          <a:prstGeom prst="rect">
            <a:avLst/>
          </a:prstGeom>
          <a:solidFill>
            <a:srgbClr val="3DD6F5"/>
          </a:solidFill>
          <a:ln w="12700">
            <a:solidFill>
              <a:srgbClr val="333333">
                <a:alpha val="0"/>
              </a:srgbClr>
            </a:solidFill>
            <a:prstDash val="solid"/>
          </a:ln>
        </p:spPr>
      </p:sp>
      <p:sp>
        <p:nvSpPr>
          <p:cNvPr id="14" name="Text 12"/>
          <p:cNvSpPr/>
          <p:nvPr/>
        </p:nvSpPr>
        <p:spPr>
          <a:xfrm>
            <a:off x="2543175" y="1724025"/>
            <a:ext cx="178963" cy="293065"/>
          </a:xfrm>
          <a:prstGeom prst="rect">
            <a:avLst/>
          </a:prstGeom>
          <a:noFill/>
          <a:ln/>
        </p:spPr>
        <p:txBody>
          <a:bodyPr wrap="none" lIns="0" tIns="0" rIns="0" bIns="0" rtlCol="0" anchor="ctr"/>
          <a:lstStyle/>
          <a:p>
            <a:pPr indent="0" marL="0">
              <a:buNone/>
            </a:pPr>
            <a:r>
              <a:rPr lang="en-US" sz="1950" b="1" dirty="0">
                <a:solidFill>
                  <a:srgbClr val="3DD6F5"/>
                </a:solidFill>
                <a:latin typeface="Arial" pitchFamily="34" charset="0"/>
                <a:ea typeface="Arial" pitchFamily="34" charset="-122"/>
                <a:cs typeface="Arial" pitchFamily="34" charset="-120"/>
              </a:rPr>
              <a:t>2</a:t>
            </a:r>
            <a:endParaRPr lang="en-US" sz="1950" dirty="0"/>
          </a:p>
        </p:txBody>
      </p:sp>
      <p:sp>
        <p:nvSpPr>
          <p:cNvPr id="15" name="Text 13"/>
          <p:cNvSpPr/>
          <p:nvPr/>
        </p:nvSpPr>
        <p:spPr>
          <a:xfrm>
            <a:off x="2543175" y="2057400"/>
            <a:ext cx="1516928"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UK beta customers</a:t>
            </a:r>
            <a:endParaRPr lang="en-US" sz="1275" dirty="0"/>
          </a:p>
        </p:txBody>
      </p:sp>
      <p:sp>
        <p:nvSpPr>
          <p:cNvPr id="16" name="Text 14"/>
          <p:cNvSpPr/>
          <p:nvPr/>
        </p:nvSpPr>
        <p:spPr>
          <a:xfrm>
            <a:off x="2543175" y="2314575"/>
            <a:ext cx="188587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Segment of customers who opted</a:t>
            </a:r>
            <a:endParaRPr lang="en-US" sz="975" dirty="0"/>
          </a:p>
        </p:txBody>
      </p:sp>
      <p:sp>
        <p:nvSpPr>
          <p:cNvPr id="17" name="Text 15"/>
          <p:cNvSpPr/>
          <p:nvPr/>
        </p:nvSpPr>
        <p:spPr>
          <a:xfrm>
            <a:off x="2543175" y="2487811"/>
            <a:ext cx="114917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in, limited to the UK.</a:t>
            </a:r>
            <a:endParaRPr lang="en-US" sz="975" dirty="0"/>
          </a:p>
        </p:txBody>
      </p:sp>
      <p:sp>
        <p:nvSpPr>
          <p:cNvPr id="18" name="Shape 16"/>
          <p:cNvSpPr/>
          <p:nvPr/>
        </p:nvSpPr>
        <p:spPr>
          <a:xfrm>
            <a:off x="4629150" y="1571625"/>
            <a:ext cx="1971675" cy="38100"/>
          </a:xfrm>
          <a:prstGeom prst="rect">
            <a:avLst/>
          </a:prstGeom>
          <a:solidFill>
            <a:srgbClr val="A34FDE"/>
          </a:solidFill>
          <a:ln w="12700">
            <a:solidFill>
              <a:srgbClr val="333333">
                <a:alpha val="0"/>
              </a:srgbClr>
            </a:solidFill>
            <a:prstDash val="solid"/>
          </a:ln>
        </p:spPr>
      </p:sp>
      <p:sp>
        <p:nvSpPr>
          <p:cNvPr id="19" name="Text 17"/>
          <p:cNvSpPr/>
          <p:nvPr/>
        </p:nvSpPr>
        <p:spPr>
          <a:xfrm>
            <a:off x="4629150" y="1724025"/>
            <a:ext cx="178963" cy="293065"/>
          </a:xfrm>
          <a:prstGeom prst="rect">
            <a:avLst/>
          </a:prstGeom>
          <a:noFill/>
          <a:ln/>
        </p:spPr>
        <p:txBody>
          <a:bodyPr wrap="none" lIns="0" tIns="0" rIns="0" bIns="0" rtlCol="0" anchor="ctr"/>
          <a:lstStyle/>
          <a:p>
            <a:pPr indent="0" marL="0">
              <a:buNone/>
            </a:pPr>
            <a:r>
              <a:rPr lang="en-US" sz="1950" b="1" dirty="0">
                <a:solidFill>
                  <a:srgbClr val="A34FDE"/>
                </a:solidFill>
                <a:latin typeface="Arial" pitchFamily="34" charset="0"/>
                <a:ea typeface="Arial" pitchFamily="34" charset="-122"/>
                <a:cs typeface="Arial" pitchFamily="34" charset="-120"/>
              </a:rPr>
              <a:t>3</a:t>
            </a:r>
            <a:endParaRPr lang="en-US" sz="1950" dirty="0"/>
          </a:p>
        </p:txBody>
      </p:sp>
      <p:sp>
        <p:nvSpPr>
          <p:cNvPr id="20" name="Text 18"/>
          <p:cNvSpPr/>
          <p:nvPr/>
        </p:nvSpPr>
        <p:spPr>
          <a:xfrm>
            <a:off x="4629150" y="2057400"/>
            <a:ext cx="1139053"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UK customers</a:t>
            </a:r>
            <a:endParaRPr lang="en-US" sz="1275" dirty="0"/>
          </a:p>
        </p:txBody>
      </p:sp>
      <p:sp>
        <p:nvSpPr>
          <p:cNvPr id="21" name="Text 19"/>
          <p:cNvSpPr/>
          <p:nvPr/>
        </p:nvSpPr>
        <p:spPr>
          <a:xfrm>
            <a:off x="4629150" y="2314575"/>
            <a:ext cx="1837652"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Guarded rollout: exposure grows</a:t>
            </a:r>
            <a:endParaRPr lang="en-US" sz="975" dirty="0"/>
          </a:p>
        </p:txBody>
      </p:sp>
      <p:sp>
        <p:nvSpPr>
          <p:cNvPr id="22" name="Text 20"/>
          <p:cNvSpPr/>
          <p:nvPr/>
        </p:nvSpPr>
        <p:spPr>
          <a:xfrm>
            <a:off x="4629150" y="2487811"/>
            <a:ext cx="1720376"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step by step while metrics stay</a:t>
            </a:r>
            <a:endParaRPr lang="en-US" sz="975" dirty="0"/>
          </a:p>
        </p:txBody>
      </p:sp>
      <p:sp>
        <p:nvSpPr>
          <p:cNvPr id="23" name="Text 21"/>
          <p:cNvSpPr/>
          <p:nvPr/>
        </p:nvSpPr>
        <p:spPr>
          <a:xfrm>
            <a:off x="4629150" y="2661047"/>
            <a:ext cx="465755"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healthy.</a:t>
            </a:r>
            <a:endParaRPr lang="en-US" sz="975" dirty="0"/>
          </a:p>
        </p:txBody>
      </p:sp>
      <p:sp>
        <p:nvSpPr>
          <p:cNvPr id="24" name="Shape 22"/>
          <p:cNvSpPr/>
          <p:nvPr/>
        </p:nvSpPr>
        <p:spPr>
          <a:xfrm>
            <a:off x="6715125" y="1571625"/>
            <a:ext cx="1971675" cy="38100"/>
          </a:xfrm>
          <a:prstGeom prst="rect">
            <a:avLst/>
          </a:prstGeom>
          <a:solidFill>
            <a:srgbClr val="FF3399"/>
          </a:solidFill>
          <a:ln w="12700">
            <a:solidFill>
              <a:srgbClr val="333333">
                <a:alpha val="0"/>
              </a:srgbClr>
            </a:solidFill>
            <a:prstDash val="solid"/>
          </a:ln>
        </p:spPr>
      </p:sp>
      <p:sp>
        <p:nvSpPr>
          <p:cNvPr id="25" name="Text 23"/>
          <p:cNvSpPr/>
          <p:nvPr/>
        </p:nvSpPr>
        <p:spPr>
          <a:xfrm>
            <a:off x="6715125" y="1724025"/>
            <a:ext cx="178963" cy="293065"/>
          </a:xfrm>
          <a:prstGeom prst="rect">
            <a:avLst/>
          </a:prstGeom>
          <a:noFill/>
          <a:ln/>
        </p:spPr>
        <p:txBody>
          <a:bodyPr wrap="none" lIns="0" tIns="0" rIns="0" bIns="0" rtlCol="0" anchor="ctr"/>
          <a:lstStyle/>
          <a:p>
            <a:pPr indent="0" marL="0">
              <a:buNone/>
            </a:pPr>
            <a:r>
              <a:rPr lang="en-US" sz="1950" b="1" dirty="0">
                <a:solidFill>
                  <a:srgbClr val="FF3399"/>
                </a:solidFill>
                <a:latin typeface="Arial" pitchFamily="34" charset="0"/>
                <a:ea typeface="Arial" pitchFamily="34" charset="-122"/>
                <a:cs typeface="Arial" pitchFamily="34" charset="-120"/>
              </a:rPr>
              <a:t>4</a:t>
            </a:r>
            <a:endParaRPr lang="en-US" sz="1950" dirty="0"/>
          </a:p>
        </p:txBody>
      </p:sp>
      <p:sp>
        <p:nvSpPr>
          <p:cNvPr id="26" name="Text 24"/>
          <p:cNvSpPr/>
          <p:nvPr/>
        </p:nvSpPr>
        <p:spPr>
          <a:xfrm>
            <a:off x="6715125" y="2057400"/>
            <a:ext cx="1645962"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Other EMEA markets</a:t>
            </a:r>
            <a:endParaRPr lang="en-US" sz="1275" dirty="0"/>
          </a:p>
        </p:txBody>
      </p:sp>
      <p:sp>
        <p:nvSpPr>
          <p:cNvPr id="27" name="Text 25"/>
          <p:cNvSpPr/>
          <p:nvPr/>
        </p:nvSpPr>
        <p:spPr>
          <a:xfrm>
            <a:off x="6715125" y="2314575"/>
            <a:ext cx="185149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Add a country to the rule once its</a:t>
            </a:r>
            <a:endParaRPr lang="en-US" sz="975" dirty="0"/>
          </a:p>
        </p:txBody>
      </p:sp>
      <p:sp>
        <p:nvSpPr>
          <p:cNvPr id="28" name="Text 26"/>
          <p:cNvSpPr/>
          <p:nvPr/>
        </p:nvSpPr>
        <p:spPr>
          <a:xfrm>
            <a:off x="6715125" y="2487811"/>
            <a:ext cx="1844796"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regulator has approved. No code</a:t>
            </a:r>
            <a:endParaRPr lang="en-US" sz="975" dirty="0"/>
          </a:p>
        </p:txBody>
      </p:sp>
      <p:sp>
        <p:nvSpPr>
          <p:cNvPr id="29" name="Text 27"/>
          <p:cNvSpPr/>
          <p:nvPr/>
        </p:nvSpPr>
        <p:spPr>
          <a:xfrm>
            <a:off x="6715125" y="2661047"/>
            <a:ext cx="481828"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change.</a:t>
            </a:r>
            <a:endParaRPr lang="en-US" sz="975" dirty="0"/>
          </a:p>
        </p:txBody>
      </p:sp>
      <p:sp>
        <p:nvSpPr>
          <p:cNvPr id="30" name="Shape 28"/>
          <p:cNvSpPr/>
          <p:nvPr/>
        </p:nvSpPr>
        <p:spPr>
          <a:xfrm>
            <a:off x="457200" y="3333750"/>
            <a:ext cx="4038600" cy="1017091"/>
          </a:xfrm>
          <a:prstGeom prst="rect">
            <a:avLst/>
          </a:prstGeom>
          <a:solidFill>
            <a:srgbClr val="2B2B2B"/>
          </a:solidFill>
          <a:ln w="12700">
            <a:solidFill>
              <a:srgbClr val="333333">
                <a:alpha val="0"/>
              </a:srgbClr>
            </a:solidFill>
            <a:prstDash val="solid"/>
          </a:ln>
        </p:spPr>
      </p:sp>
      <p:sp>
        <p:nvSpPr>
          <p:cNvPr id="31" name="Text 29"/>
          <p:cNvSpPr/>
          <p:nvPr/>
        </p:nvSpPr>
        <p:spPr>
          <a:xfrm>
            <a:off x="628650" y="3467100"/>
            <a:ext cx="82800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KILL SWITCH</a:t>
            </a:r>
            <a:endParaRPr lang="en-US" sz="900" dirty="0"/>
          </a:p>
        </p:txBody>
      </p:sp>
      <p:sp>
        <p:nvSpPr>
          <p:cNvPr id="32" name="Text 30"/>
          <p:cNvSpPr/>
          <p:nvPr/>
        </p:nvSpPr>
        <p:spPr>
          <a:xfrm>
            <a:off x="628650" y="3667125"/>
            <a:ext cx="347436"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Turn </a:t>
            </a:r>
            <a:endParaRPr lang="en-US" sz="1050" dirty="0"/>
          </a:p>
        </p:txBody>
      </p:sp>
      <p:sp>
        <p:nvSpPr>
          <p:cNvPr id="33" name="Text 31"/>
          <p:cNvSpPr/>
          <p:nvPr/>
        </p:nvSpPr>
        <p:spPr>
          <a:xfrm>
            <a:off x="934938" y="3667125"/>
            <a:ext cx="2152573" cy="159715"/>
          </a:xfrm>
          <a:prstGeom prst="rect">
            <a:avLst/>
          </a:prstGeom>
          <a:noFill/>
          <a:ln/>
        </p:spPr>
        <p:txBody>
          <a:bodyPr wrap="non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ops-outbound-payments-enabled</a:t>
            </a:r>
            <a:endParaRPr lang="en-US" sz="1050" dirty="0"/>
          </a:p>
        </p:txBody>
      </p:sp>
      <p:sp>
        <p:nvSpPr>
          <p:cNvPr id="34" name="Text 32"/>
          <p:cNvSpPr/>
          <p:nvPr/>
        </p:nvSpPr>
        <p:spPr>
          <a:xfrm>
            <a:off x="3046363" y="3667125"/>
            <a:ext cx="995136"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 off to pause the</a:t>
            </a:r>
            <a:endParaRPr lang="en-US" sz="1050" dirty="0"/>
          </a:p>
        </p:txBody>
      </p:sp>
      <p:sp>
        <p:nvSpPr>
          <p:cNvPr id="35" name="Text 33"/>
          <p:cNvSpPr/>
          <p:nvPr/>
        </p:nvSpPr>
        <p:spPr>
          <a:xfrm>
            <a:off x="628650" y="3853755"/>
            <a:ext cx="3611684"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demo UI. No deploy. Production enforcement belongs on the</a:t>
            </a:r>
            <a:endParaRPr lang="en-US" sz="1050" dirty="0"/>
          </a:p>
        </p:txBody>
      </p:sp>
      <p:sp>
        <p:nvSpPr>
          <p:cNvPr id="36" name="Text 34"/>
          <p:cNvSpPr/>
          <p:nvPr/>
        </p:nvSpPr>
        <p:spPr>
          <a:xfrm>
            <a:off x="628650" y="4040386"/>
            <a:ext cx="441347"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server.</a:t>
            </a:r>
            <a:endParaRPr lang="en-US" sz="1050" dirty="0"/>
          </a:p>
        </p:txBody>
      </p:sp>
      <p:sp>
        <p:nvSpPr>
          <p:cNvPr id="37" name="Shape 35"/>
          <p:cNvSpPr/>
          <p:nvPr/>
        </p:nvSpPr>
        <p:spPr>
          <a:xfrm>
            <a:off x="4648200" y="3333750"/>
            <a:ext cx="4038600" cy="1017091"/>
          </a:xfrm>
          <a:prstGeom prst="rect">
            <a:avLst/>
          </a:prstGeom>
          <a:solidFill>
            <a:srgbClr val="2B2B2B"/>
          </a:solidFill>
          <a:ln w="12700">
            <a:solidFill>
              <a:srgbClr val="333333">
                <a:alpha val="0"/>
              </a:srgbClr>
            </a:solidFill>
            <a:prstDash val="solid"/>
          </a:ln>
        </p:spPr>
      </p:sp>
      <p:sp>
        <p:nvSpPr>
          <p:cNvPr id="38" name="Text 36"/>
          <p:cNvSpPr/>
          <p:nvPr/>
        </p:nvSpPr>
        <p:spPr>
          <a:xfrm>
            <a:off x="4819650" y="3467100"/>
            <a:ext cx="1277166"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INSTANT ROLLBACK</a:t>
            </a:r>
            <a:endParaRPr lang="en-US" sz="900" dirty="0"/>
          </a:p>
        </p:txBody>
      </p:sp>
      <p:sp>
        <p:nvSpPr>
          <p:cNvPr id="39" name="Text 37"/>
          <p:cNvSpPr/>
          <p:nvPr/>
        </p:nvSpPr>
        <p:spPr>
          <a:xfrm>
            <a:off x="4819650" y="3667125"/>
            <a:ext cx="3650974"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Turn the release flag off to return to v1. Disconnection retains</a:t>
            </a:r>
            <a:endParaRPr lang="en-US" sz="1050" dirty="0"/>
          </a:p>
        </p:txBody>
      </p:sp>
      <p:sp>
        <p:nvSpPr>
          <p:cNvPr id="40" name="Text 38"/>
          <p:cNvSpPr/>
          <p:nvPr/>
        </p:nvSpPr>
        <p:spPr>
          <a:xfrm>
            <a:off x="4819650" y="3853755"/>
            <a:ext cx="3243483"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known values; fresh initialization uses code defaults. A</a:t>
            </a:r>
            <a:endParaRPr lang="en-US" sz="1050" dirty="0"/>
          </a:p>
        </p:txBody>
      </p:sp>
      <p:sp>
        <p:nvSpPr>
          <p:cNvPr id="41" name="Text 39"/>
          <p:cNvSpPr/>
          <p:nvPr/>
        </p:nvSpPr>
        <p:spPr>
          <a:xfrm>
            <a:off x="4819650" y="4040386"/>
            <a:ext cx="3324892"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disconnected client cannot receive a new kill command.</a:t>
            </a:r>
            <a:endParaRPr lang="en-US" sz="1050" dirty="0"/>
          </a:p>
        </p:txBody>
      </p:sp>
      <p:pic>
        <p:nvPicPr>
          <p:cNvPr id="42"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650713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Observe: why we chose it over Iterate</a:t>
            </a:r>
            <a:endParaRPr lang="en-US" sz="3000" dirty="0"/>
          </a:p>
        </p:txBody>
      </p:sp>
      <p:sp>
        <p:nvSpPr>
          <p:cNvPr id="4" name="Text 2"/>
          <p:cNvSpPr/>
          <p:nvPr/>
        </p:nvSpPr>
        <p:spPr>
          <a:xfrm>
            <a:off x="457200" y="838200"/>
            <a:ext cx="7351288"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Before a bank asks "which version is better?", it asks "how do we know this release isn't hurting customers?"</a:t>
            </a:r>
            <a:endParaRPr lang="en-US" sz="1200" dirty="0"/>
          </a:p>
        </p:txBody>
      </p:sp>
      <p:sp>
        <p:nvSpPr>
          <p:cNvPr id="5" name="Text 3"/>
          <p:cNvSpPr/>
          <p:nvPr/>
        </p:nvSpPr>
        <p:spPr>
          <a:xfrm>
            <a:off x="457200" y="15716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6" name="Text 4"/>
          <p:cNvSpPr/>
          <p:nvPr/>
        </p:nvSpPr>
        <p:spPr>
          <a:xfrm>
            <a:off x="685800" y="1581150"/>
            <a:ext cx="318633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Each attempt sends latency and either a failure or</a:t>
            </a:r>
            <a:endParaRPr lang="en-US" sz="1125" dirty="0"/>
          </a:p>
        </p:txBody>
      </p:sp>
      <p:sp>
        <p:nvSpPr>
          <p:cNvPr id="7" name="Text 5"/>
          <p:cNvSpPr/>
          <p:nvPr/>
        </p:nvSpPr>
        <p:spPr>
          <a:xfrm>
            <a:off x="685800" y="1774031"/>
            <a:ext cx="339260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completion event, using the same instrumentation for</a:t>
            </a:r>
            <a:endParaRPr lang="en-US" sz="1125" dirty="0"/>
          </a:p>
        </p:txBody>
      </p:sp>
      <p:sp>
        <p:nvSpPr>
          <p:cNvPr id="8" name="Text 6"/>
          <p:cNvSpPr/>
          <p:nvPr/>
        </p:nvSpPr>
        <p:spPr>
          <a:xfrm>
            <a:off x="685800" y="1966912"/>
            <a:ext cx="93873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both journeys.</a:t>
            </a:r>
            <a:endParaRPr lang="en-US" sz="1125" dirty="0"/>
          </a:p>
        </p:txBody>
      </p:sp>
      <p:sp>
        <p:nvSpPr>
          <p:cNvPr id="9" name="Text 7"/>
          <p:cNvSpPr/>
          <p:nvPr/>
        </p:nvSpPr>
        <p:spPr>
          <a:xfrm>
            <a:off x="457200" y="2245519"/>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255044"/>
            <a:ext cx="321014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The guarded rollout compares v2 with v1 on these</a:t>
            </a:r>
            <a:endParaRPr lang="en-US" sz="1125" dirty="0"/>
          </a:p>
        </p:txBody>
      </p:sp>
      <p:sp>
        <p:nvSpPr>
          <p:cNvPr id="11" name="Text 9"/>
          <p:cNvSpPr/>
          <p:nvPr/>
        </p:nvSpPr>
        <p:spPr>
          <a:xfrm>
            <a:off x="685800" y="2447925"/>
            <a:ext cx="81937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metrics and </a:t>
            </a:r>
            <a:endParaRPr lang="en-US" sz="1125" dirty="0"/>
          </a:p>
        </p:txBody>
      </p:sp>
      <p:sp>
        <p:nvSpPr>
          <p:cNvPr id="12" name="Text 10"/>
          <p:cNvSpPr/>
          <p:nvPr/>
        </p:nvSpPr>
        <p:spPr>
          <a:xfrm>
            <a:off x="1464022" y="2447925"/>
            <a:ext cx="1661142"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rolls back automatically</a:t>
            </a:r>
            <a:endParaRPr lang="en-US" sz="1125" dirty="0"/>
          </a:p>
        </p:txBody>
      </p:sp>
      <p:sp>
        <p:nvSpPr>
          <p:cNvPr id="13" name="Text 11"/>
          <p:cNvSpPr/>
          <p:nvPr/>
        </p:nvSpPr>
        <p:spPr>
          <a:xfrm>
            <a:off x="3084016" y="2447925"/>
            <a:ext cx="35904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 on a</a:t>
            </a:r>
            <a:endParaRPr lang="en-US" sz="1125" dirty="0"/>
          </a:p>
        </p:txBody>
      </p:sp>
      <p:sp>
        <p:nvSpPr>
          <p:cNvPr id="14" name="Text 12"/>
          <p:cNvSpPr/>
          <p:nvPr/>
        </p:nvSpPr>
        <p:spPr>
          <a:xfrm>
            <a:off x="685800" y="2640806"/>
            <a:ext cx="74793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regression.</a:t>
            </a:r>
            <a:endParaRPr lang="en-US" sz="1125" dirty="0"/>
          </a:p>
        </p:txBody>
      </p:sp>
      <p:sp>
        <p:nvSpPr>
          <p:cNvPr id="15" name="Text 13"/>
          <p:cNvSpPr/>
          <p:nvPr/>
        </p:nvSpPr>
        <p:spPr>
          <a:xfrm>
            <a:off x="457200" y="2919413"/>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6" name="Text 14"/>
          <p:cNvSpPr/>
          <p:nvPr/>
        </p:nvSpPr>
        <p:spPr>
          <a:xfrm>
            <a:off x="685800" y="2928938"/>
            <a:ext cx="319377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Iterate comes next: the same metrics can back an</a:t>
            </a:r>
            <a:endParaRPr lang="en-US" sz="1125" dirty="0"/>
          </a:p>
        </p:txBody>
      </p:sp>
      <p:sp>
        <p:nvSpPr>
          <p:cNvPr id="17" name="Text 15"/>
          <p:cNvSpPr/>
          <p:nvPr/>
        </p:nvSpPr>
        <p:spPr>
          <a:xfrm>
            <a:off x="685800" y="3121819"/>
            <a:ext cx="304316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experiment once the release process is trusted.</a:t>
            </a:r>
            <a:endParaRPr lang="en-US" sz="1125" dirty="0"/>
          </a:p>
        </p:txBody>
      </p:sp>
      <p:sp>
        <p:nvSpPr>
          <p:cNvPr id="18" name="Shape 16"/>
          <p:cNvSpPr/>
          <p:nvPr/>
        </p:nvSpPr>
        <p:spPr>
          <a:xfrm>
            <a:off x="4476750" y="1571625"/>
            <a:ext cx="4210050" cy="533400"/>
          </a:xfrm>
          <a:prstGeom prst="rect">
            <a:avLst/>
          </a:prstGeom>
          <a:solidFill>
            <a:srgbClr val="2B2B2B"/>
          </a:solidFill>
          <a:ln w="12700">
            <a:solidFill>
              <a:srgbClr val="333333">
                <a:alpha val="0"/>
              </a:srgbClr>
            </a:solidFill>
            <a:prstDash val="solid"/>
          </a:ln>
        </p:spPr>
      </p:sp>
      <p:sp>
        <p:nvSpPr>
          <p:cNvPr id="19" name="Text 17"/>
          <p:cNvSpPr/>
          <p:nvPr/>
        </p:nvSpPr>
        <p:spPr>
          <a:xfrm>
            <a:off x="4629150" y="1685925"/>
            <a:ext cx="1498027"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failure rate</a:t>
            </a:r>
            <a:endParaRPr lang="en-US" sz="1200" dirty="0"/>
          </a:p>
        </p:txBody>
      </p:sp>
      <p:sp>
        <p:nvSpPr>
          <p:cNvPr id="20" name="Text 18"/>
          <p:cNvSpPr/>
          <p:nvPr/>
        </p:nvSpPr>
        <p:spPr>
          <a:xfrm>
            <a:off x="4629150" y="1857375"/>
            <a:ext cx="1603992"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payment-failed · lower is better</a:t>
            </a:r>
            <a:endParaRPr lang="en-US" sz="900" dirty="0"/>
          </a:p>
        </p:txBody>
      </p:sp>
      <p:sp>
        <p:nvSpPr>
          <p:cNvPr id="21" name="Text 19"/>
          <p:cNvSpPr/>
          <p:nvPr/>
        </p:nvSpPr>
        <p:spPr>
          <a:xfrm>
            <a:off x="7666881" y="1766888"/>
            <a:ext cx="206347"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v1 </a:t>
            </a:r>
            <a:endParaRPr lang="en-US" sz="975" dirty="0"/>
          </a:p>
        </p:txBody>
      </p:sp>
      <p:sp>
        <p:nvSpPr>
          <p:cNvPr id="22" name="Text 20"/>
          <p:cNvSpPr/>
          <p:nvPr/>
        </p:nvSpPr>
        <p:spPr>
          <a:xfrm>
            <a:off x="7832080" y="1766888"/>
            <a:ext cx="220188" cy="150190"/>
          </a:xfrm>
          <a:prstGeom prst="rect">
            <a:avLst/>
          </a:prstGeom>
          <a:noFill/>
          <a:ln/>
        </p:spPr>
        <p:txBody>
          <a:bodyPr wrap="none" lIns="0" tIns="0" rIns="0" bIns="0" rtlCol="0" anchor="ctr"/>
          <a:lstStyle/>
          <a:p>
            <a:pPr indent="0" marL="0">
              <a:buNone/>
            </a:pPr>
            <a:r>
              <a:rPr lang="en-US" sz="975" b="1" dirty="0">
                <a:solidFill>
                  <a:srgbClr val="FFFFFF"/>
                </a:solidFill>
                <a:latin typeface="Arial" pitchFamily="34" charset="0"/>
                <a:ea typeface="Arial" pitchFamily="34" charset="-122"/>
                <a:cs typeface="Arial" pitchFamily="34" charset="-120"/>
              </a:rPr>
              <a:t>2%</a:t>
            </a:r>
            <a:endParaRPr lang="en-US" sz="975" dirty="0"/>
          </a:p>
        </p:txBody>
      </p:sp>
      <p:sp>
        <p:nvSpPr>
          <p:cNvPr id="23" name="Text 21"/>
          <p:cNvSpPr/>
          <p:nvPr/>
        </p:nvSpPr>
        <p:spPr>
          <a:xfrm>
            <a:off x="8011120" y="1766888"/>
            <a:ext cx="3164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 · v2 </a:t>
            </a:r>
            <a:endParaRPr lang="en-US" sz="975" dirty="0"/>
          </a:p>
        </p:txBody>
      </p:sp>
      <p:sp>
        <p:nvSpPr>
          <p:cNvPr id="24" name="Text 22"/>
          <p:cNvSpPr/>
          <p:nvPr/>
        </p:nvSpPr>
        <p:spPr>
          <a:xfrm>
            <a:off x="8286452" y="1766888"/>
            <a:ext cx="289096" cy="150190"/>
          </a:xfrm>
          <a:prstGeom prst="rect">
            <a:avLst/>
          </a:prstGeom>
          <a:noFill/>
          <a:ln/>
        </p:spPr>
        <p:txBody>
          <a:bodyPr wrap="none" lIns="0" tIns="0" rIns="0" bIns="0" rtlCol="0" anchor="ctr"/>
          <a:lstStyle/>
          <a:p>
            <a:pPr indent="0" marL="0">
              <a:buNone/>
            </a:pPr>
            <a:r>
              <a:rPr lang="en-US" sz="975" b="1" dirty="0">
                <a:solidFill>
                  <a:srgbClr val="FF3399"/>
                </a:solidFill>
                <a:latin typeface="Arial" pitchFamily="34" charset="0"/>
                <a:ea typeface="Arial" pitchFamily="34" charset="-122"/>
                <a:cs typeface="Arial" pitchFamily="34" charset="-120"/>
              </a:rPr>
              <a:t>35%</a:t>
            </a:r>
            <a:endParaRPr lang="en-US" sz="975" dirty="0"/>
          </a:p>
        </p:txBody>
      </p:sp>
      <p:sp>
        <p:nvSpPr>
          <p:cNvPr id="25" name="Shape 23"/>
          <p:cNvSpPr/>
          <p:nvPr/>
        </p:nvSpPr>
        <p:spPr>
          <a:xfrm>
            <a:off x="4476750" y="2219325"/>
            <a:ext cx="4210050" cy="533400"/>
          </a:xfrm>
          <a:prstGeom prst="rect">
            <a:avLst/>
          </a:prstGeom>
          <a:solidFill>
            <a:srgbClr val="2B2B2B"/>
          </a:solidFill>
          <a:ln w="12700">
            <a:solidFill>
              <a:srgbClr val="333333">
                <a:alpha val="0"/>
              </a:srgbClr>
            </a:solidFill>
            <a:prstDash val="solid"/>
          </a:ln>
        </p:spPr>
      </p:sp>
      <p:sp>
        <p:nvSpPr>
          <p:cNvPr id="26" name="Text 24"/>
          <p:cNvSpPr/>
          <p:nvPr/>
        </p:nvSpPr>
        <p:spPr>
          <a:xfrm>
            <a:off x="4629150" y="2333625"/>
            <a:ext cx="1243977"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latency</a:t>
            </a:r>
            <a:endParaRPr lang="en-US" sz="1200" dirty="0"/>
          </a:p>
        </p:txBody>
      </p:sp>
      <p:sp>
        <p:nvSpPr>
          <p:cNvPr id="27" name="Text 25"/>
          <p:cNvSpPr/>
          <p:nvPr/>
        </p:nvSpPr>
        <p:spPr>
          <a:xfrm>
            <a:off x="4629150" y="2505075"/>
            <a:ext cx="1883343"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payment-latency-ms · lower is better</a:t>
            </a:r>
            <a:endParaRPr lang="en-US" sz="900" dirty="0"/>
          </a:p>
        </p:txBody>
      </p:sp>
      <p:sp>
        <p:nvSpPr>
          <p:cNvPr id="28" name="Text 26"/>
          <p:cNvSpPr/>
          <p:nvPr/>
        </p:nvSpPr>
        <p:spPr>
          <a:xfrm>
            <a:off x="7253734" y="2414588"/>
            <a:ext cx="206347"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v1 </a:t>
            </a:r>
            <a:endParaRPr lang="en-US" sz="975" dirty="0"/>
          </a:p>
        </p:txBody>
      </p:sp>
      <p:sp>
        <p:nvSpPr>
          <p:cNvPr id="29" name="Text 27"/>
          <p:cNvSpPr/>
          <p:nvPr/>
        </p:nvSpPr>
        <p:spPr>
          <a:xfrm>
            <a:off x="7418933" y="2414588"/>
            <a:ext cx="533471" cy="150190"/>
          </a:xfrm>
          <a:prstGeom prst="rect">
            <a:avLst/>
          </a:prstGeom>
          <a:noFill/>
          <a:ln/>
        </p:spPr>
        <p:txBody>
          <a:bodyPr wrap="none" lIns="0" tIns="0" rIns="0" bIns="0" rtlCol="0" anchor="ctr"/>
          <a:lstStyle/>
          <a:p>
            <a:pPr indent="0" marL="0">
              <a:buNone/>
            </a:pPr>
            <a:r>
              <a:rPr lang="en-US" sz="975" b="1" dirty="0">
                <a:solidFill>
                  <a:srgbClr val="FFFFFF"/>
                </a:solidFill>
                <a:latin typeface="Arial" pitchFamily="34" charset="0"/>
                <a:ea typeface="Arial" pitchFamily="34" charset="-122"/>
                <a:cs typeface="Arial" pitchFamily="34" charset="-120"/>
              </a:rPr>
              <a:t>~380 ms</a:t>
            </a:r>
            <a:endParaRPr lang="en-US" sz="975" dirty="0"/>
          </a:p>
        </p:txBody>
      </p:sp>
      <p:sp>
        <p:nvSpPr>
          <p:cNvPr id="30" name="Text 28"/>
          <p:cNvSpPr/>
          <p:nvPr/>
        </p:nvSpPr>
        <p:spPr>
          <a:xfrm>
            <a:off x="7911257" y="2414588"/>
            <a:ext cx="3164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 · v2 </a:t>
            </a:r>
            <a:endParaRPr lang="en-US" sz="975" dirty="0"/>
          </a:p>
        </p:txBody>
      </p:sp>
      <p:sp>
        <p:nvSpPr>
          <p:cNvPr id="31" name="Text 29"/>
          <p:cNvSpPr/>
          <p:nvPr/>
        </p:nvSpPr>
        <p:spPr>
          <a:xfrm>
            <a:off x="8186589" y="2414588"/>
            <a:ext cx="388959" cy="150190"/>
          </a:xfrm>
          <a:prstGeom prst="rect">
            <a:avLst/>
          </a:prstGeom>
          <a:noFill/>
          <a:ln/>
        </p:spPr>
        <p:txBody>
          <a:bodyPr wrap="none" lIns="0" tIns="0" rIns="0" bIns="0" rtlCol="0" anchor="ctr"/>
          <a:lstStyle/>
          <a:p>
            <a:pPr indent="0" marL="0">
              <a:buNone/>
            </a:pPr>
            <a:r>
              <a:rPr lang="en-US" sz="975" b="1" dirty="0">
                <a:solidFill>
                  <a:srgbClr val="FF3399"/>
                </a:solidFill>
                <a:latin typeface="Arial" pitchFamily="34" charset="0"/>
                <a:ea typeface="Arial" pitchFamily="34" charset="-122"/>
                <a:cs typeface="Arial" pitchFamily="34" charset="-120"/>
              </a:rPr>
              <a:t>~1.6 s</a:t>
            </a:r>
            <a:endParaRPr lang="en-US" sz="975" dirty="0"/>
          </a:p>
        </p:txBody>
      </p:sp>
      <p:sp>
        <p:nvSpPr>
          <p:cNvPr id="32" name="Shape 30"/>
          <p:cNvSpPr/>
          <p:nvPr/>
        </p:nvSpPr>
        <p:spPr>
          <a:xfrm>
            <a:off x="4476750" y="2867025"/>
            <a:ext cx="4210050" cy="533400"/>
          </a:xfrm>
          <a:prstGeom prst="rect">
            <a:avLst/>
          </a:prstGeom>
          <a:solidFill>
            <a:srgbClr val="2B2B2B"/>
          </a:solidFill>
          <a:ln w="12700">
            <a:solidFill>
              <a:srgbClr val="333333">
                <a:alpha val="0"/>
              </a:srgbClr>
            </a:solidFill>
            <a:prstDash val="solid"/>
          </a:ln>
        </p:spPr>
      </p:sp>
      <p:sp>
        <p:nvSpPr>
          <p:cNvPr id="33" name="Text 31"/>
          <p:cNvSpPr/>
          <p:nvPr/>
        </p:nvSpPr>
        <p:spPr>
          <a:xfrm>
            <a:off x="4629150" y="2981325"/>
            <a:ext cx="1531662"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completion</a:t>
            </a:r>
            <a:endParaRPr lang="en-US" sz="1200" dirty="0"/>
          </a:p>
        </p:txBody>
      </p:sp>
      <p:sp>
        <p:nvSpPr>
          <p:cNvPr id="34" name="Text 32"/>
          <p:cNvSpPr/>
          <p:nvPr/>
        </p:nvSpPr>
        <p:spPr>
          <a:xfrm>
            <a:off x="4629150" y="3152775"/>
            <a:ext cx="1870841"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payment-submitted · higher is better</a:t>
            </a:r>
            <a:endParaRPr lang="en-US" sz="900" dirty="0"/>
          </a:p>
        </p:txBody>
      </p:sp>
      <p:sp>
        <p:nvSpPr>
          <p:cNvPr id="35" name="Text 33"/>
          <p:cNvSpPr/>
          <p:nvPr/>
        </p:nvSpPr>
        <p:spPr>
          <a:xfrm>
            <a:off x="7260878" y="3062288"/>
            <a:ext cx="131467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tracked for both groups</a:t>
            </a:r>
            <a:endParaRPr lang="en-US" sz="975" dirty="0"/>
          </a:p>
        </p:txBody>
      </p:sp>
      <p:sp>
        <p:nvSpPr>
          <p:cNvPr id="36" name="Text 34"/>
          <p:cNvSpPr/>
          <p:nvPr/>
        </p:nvSpPr>
        <p:spPr>
          <a:xfrm>
            <a:off x="4476750" y="3514725"/>
            <a:ext cx="3929134" cy="140665"/>
          </a:xfrm>
          <a:prstGeom prst="rect">
            <a:avLst/>
          </a:prstGeom>
          <a:noFill/>
          <a:ln/>
        </p:spPr>
        <p:txBody>
          <a:bodyPr wrap="none" lIns="0" tIns="0" rIns="0" bIns="0" rtlCol="0" anchor="ctr"/>
          <a:lstStyle/>
          <a:p>
            <a:pPr indent="0" marL="0">
              <a:buNone/>
            </a:pPr>
            <a:r>
              <a:rPr lang="en-US" sz="900" dirty="0">
                <a:solidFill>
                  <a:srgbClr val="D8F55A"/>
                </a:solidFill>
                <a:latin typeface="Arial" pitchFamily="34" charset="0"/>
                <a:ea typeface="Arial" pitchFamily="34" charset="-122"/>
                <a:cs typeface="Arial" pitchFamily="34" charset="-120"/>
              </a:rPr>
              <a:t>Illustrative simulated values, not measured rollout results. Latency metric is a</a:t>
            </a:r>
            <a:endParaRPr lang="en-US" sz="900" dirty="0"/>
          </a:p>
        </p:txBody>
      </p:sp>
      <p:sp>
        <p:nvSpPr>
          <p:cNvPr id="37" name="Text 35"/>
          <p:cNvSpPr/>
          <p:nvPr/>
        </p:nvSpPr>
        <p:spPr>
          <a:xfrm>
            <a:off x="4476750" y="3648075"/>
            <a:ext cx="803743" cy="140665"/>
          </a:xfrm>
          <a:prstGeom prst="rect">
            <a:avLst/>
          </a:prstGeom>
          <a:noFill/>
          <a:ln/>
        </p:spPr>
        <p:txBody>
          <a:bodyPr wrap="none" lIns="0" tIns="0" rIns="0" bIns="0" rtlCol="0" anchor="ctr"/>
          <a:lstStyle/>
          <a:p>
            <a:pPr indent="0" marL="0">
              <a:buNone/>
            </a:pPr>
            <a:r>
              <a:rPr lang="en-US" sz="900" dirty="0">
                <a:solidFill>
                  <a:srgbClr val="D8F55A"/>
                </a:solidFill>
                <a:latin typeface="Arial" pitchFamily="34" charset="0"/>
                <a:ea typeface="Arial" pitchFamily="34" charset="-122"/>
                <a:cs typeface="Arial" pitchFamily="34" charset="-120"/>
              </a:rPr>
              <a:t>mean, not p95.</a:t>
            </a:r>
            <a:endParaRPr lang="en-US" sz="900" dirty="0"/>
          </a:p>
        </p:txBody>
      </p:sp>
      <p:pic>
        <p:nvPicPr>
          <p:cNvPr id="38"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5293293"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Decisions, trade-offs and risks</a:t>
            </a:r>
            <a:endParaRPr lang="en-US" sz="3000" dirty="0"/>
          </a:p>
        </p:txBody>
      </p:sp>
      <p:sp>
        <p:nvSpPr>
          <p:cNvPr id="4" name="Text 2"/>
          <p:cNvSpPr/>
          <p:nvPr/>
        </p:nvSpPr>
        <p:spPr>
          <a:xfrm>
            <a:off x="457200" y="838200"/>
            <a:ext cx="5917329"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Key design decisions, trade-offs and risks to validate before production.</a:t>
            </a:r>
            <a:endParaRPr lang="en-US" sz="1200" dirty="0"/>
          </a:p>
        </p:txBody>
      </p:sp>
      <p:sp>
        <p:nvSpPr>
          <p:cNvPr id="5" name="Shape 3"/>
          <p:cNvSpPr/>
          <p:nvPr/>
        </p:nvSpPr>
        <p:spPr>
          <a:xfrm>
            <a:off x="457200" y="1333500"/>
            <a:ext cx="2667000" cy="1257300"/>
          </a:xfrm>
          <a:prstGeom prst="rect">
            <a:avLst/>
          </a:prstGeom>
          <a:solidFill>
            <a:srgbClr val="FFFFFF"/>
          </a:solidFill>
          <a:ln w="12700">
            <a:solidFill>
              <a:srgbClr val="333333">
                <a:alpha val="0"/>
              </a:srgbClr>
            </a:solidFill>
            <a:prstDash val="solid"/>
          </a:ln>
        </p:spPr>
      </p:sp>
      <p:sp>
        <p:nvSpPr>
          <p:cNvPr id="6" name="Shape 4"/>
          <p:cNvSpPr/>
          <p:nvPr/>
        </p:nvSpPr>
        <p:spPr>
          <a:xfrm>
            <a:off x="457200" y="1333500"/>
            <a:ext cx="2667000" cy="9525"/>
          </a:xfrm>
          <a:prstGeom prst="rect">
            <a:avLst/>
          </a:prstGeom>
          <a:solidFill>
            <a:srgbClr val="D9D9D9"/>
          </a:solidFill>
          <a:ln w="12700">
            <a:solidFill>
              <a:srgbClr val="333333">
                <a:alpha val="0"/>
              </a:srgbClr>
            </a:solidFill>
            <a:prstDash val="solid"/>
          </a:ln>
        </p:spPr>
      </p:sp>
      <p:sp>
        <p:nvSpPr>
          <p:cNvPr id="7" name="Shape 5"/>
          <p:cNvSpPr/>
          <p:nvPr/>
        </p:nvSpPr>
        <p:spPr>
          <a:xfrm>
            <a:off x="3114675" y="1333500"/>
            <a:ext cx="9525" cy="1257300"/>
          </a:xfrm>
          <a:prstGeom prst="rect">
            <a:avLst/>
          </a:prstGeom>
          <a:solidFill>
            <a:srgbClr val="D9D9D9"/>
          </a:solidFill>
          <a:ln w="12700">
            <a:solidFill>
              <a:srgbClr val="333333">
                <a:alpha val="0"/>
              </a:srgbClr>
            </a:solidFill>
            <a:prstDash val="solid"/>
          </a:ln>
        </p:spPr>
      </p:sp>
      <p:sp>
        <p:nvSpPr>
          <p:cNvPr id="8" name="Shape 6"/>
          <p:cNvSpPr/>
          <p:nvPr/>
        </p:nvSpPr>
        <p:spPr>
          <a:xfrm>
            <a:off x="457200" y="2581275"/>
            <a:ext cx="26670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1333500"/>
            <a:ext cx="9525" cy="1257300"/>
          </a:xfrm>
          <a:prstGeom prst="rect">
            <a:avLst/>
          </a:prstGeom>
          <a:solidFill>
            <a:srgbClr val="D9D9D9"/>
          </a:solidFill>
          <a:ln w="12700">
            <a:solidFill>
              <a:srgbClr val="333333">
                <a:alpha val="0"/>
              </a:srgbClr>
            </a:solidFill>
            <a:prstDash val="solid"/>
          </a:ln>
        </p:spPr>
      </p:sp>
      <p:sp>
        <p:nvSpPr>
          <p:cNvPr id="10" name="Text 8"/>
          <p:cNvSpPr/>
          <p:nvPr/>
        </p:nvSpPr>
        <p:spPr>
          <a:xfrm>
            <a:off x="6191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11" name="Text 9"/>
          <p:cNvSpPr/>
          <p:nvPr/>
        </p:nvSpPr>
        <p:spPr>
          <a:xfrm>
            <a:off x="619125" y="1676400"/>
            <a:ext cx="1032194"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React client SDK</a:t>
            </a:r>
            <a:endParaRPr lang="en-US" sz="975" dirty="0"/>
          </a:p>
        </p:txBody>
      </p:sp>
      <p:sp>
        <p:nvSpPr>
          <p:cNvPr id="12" name="Text 10"/>
          <p:cNvSpPr/>
          <p:nvPr/>
        </p:nvSpPr>
        <p:spPr>
          <a:xfrm>
            <a:off x="1610171" y="1676400"/>
            <a:ext cx="125231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for a visible, real-time</a:t>
            </a:r>
            <a:endParaRPr lang="en-US" sz="975" dirty="0"/>
          </a:p>
        </p:txBody>
      </p:sp>
      <p:sp>
        <p:nvSpPr>
          <p:cNvPr id="13" name="Text 11"/>
          <p:cNvSpPr/>
          <p:nvPr/>
        </p:nvSpPr>
        <p:spPr>
          <a:xfrm>
            <a:off x="619125" y="1849636"/>
            <a:ext cx="2374475"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UI change. Money-movement rules belong</a:t>
            </a:r>
            <a:endParaRPr lang="en-US" sz="975" dirty="0"/>
          </a:p>
        </p:txBody>
      </p:sp>
      <p:sp>
        <p:nvSpPr>
          <p:cNvPr id="14" name="Text 12"/>
          <p:cNvSpPr/>
          <p:nvPr/>
        </p:nvSpPr>
        <p:spPr>
          <a:xfrm>
            <a:off x="619125" y="2022872"/>
            <a:ext cx="1727519"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on a server SDK in production.</a:t>
            </a:r>
            <a:endParaRPr lang="en-US" sz="975" dirty="0"/>
          </a:p>
        </p:txBody>
      </p:sp>
      <p:sp>
        <p:nvSpPr>
          <p:cNvPr id="15" name="Shape 13"/>
          <p:cNvSpPr/>
          <p:nvPr/>
        </p:nvSpPr>
        <p:spPr>
          <a:xfrm>
            <a:off x="3238500" y="1333500"/>
            <a:ext cx="2667000" cy="1257300"/>
          </a:xfrm>
          <a:prstGeom prst="rect">
            <a:avLst/>
          </a:prstGeom>
          <a:solidFill>
            <a:srgbClr val="FFFFFF"/>
          </a:solidFill>
          <a:ln w="12700">
            <a:solidFill>
              <a:srgbClr val="333333">
                <a:alpha val="0"/>
              </a:srgbClr>
            </a:solidFill>
            <a:prstDash val="solid"/>
          </a:ln>
        </p:spPr>
      </p:sp>
      <p:sp>
        <p:nvSpPr>
          <p:cNvPr id="16" name="Shape 14"/>
          <p:cNvSpPr/>
          <p:nvPr/>
        </p:nvSpPr>
        <p:spPr>
          <a:xfrm>
            <a:off x="3238500" y="1333500"/>
            <a:ext cx="2667000" cy="9525"/>
          </a:xfrm>
          <a:prstGeom prst="rect">
            <a:avLst/>
          </a:prstGeom>
          <a:solidFill>
            <a:srgbClr val="D9D9D9"/>
          </a:solidFill>
          <a:ln w="12700">
            <a:solidFill>
              <a:srgbClr val="333333">
                <a:alpha val="0"/>
              </a:srgbClr>
            </a:solidFill>
            <a:prstDash val="solid"/>
          </a:ln>
        </p:spPr>
      </p:sp>
      <p:sp>
        <p:nvSpPr>
          <p:cNvPr id="17" name="Shape 15"/>
          <p:cNvSpPr/>
          <p:nvPr/>
        </p:nvSpPr>
        <p:spPr>
          <a:xfrm>
            <a:off x="5895975" y="1333500"/>
            <a:ext cx="9525" cy="1257300"/>
          </a:xfrm>
          <a:prstGeom prst="rect">
            <a:avLst/>
          </a:prstGeom>
          <a:solidFill>
            <a:srgbClr val="D9D9D9"/>
          </a:solidFill>
          <a:ln w="12700">
            <a:solidFill>
              <a:srgbClr val="333333">
                <a:alpha val="0"/>
              </a:srgbClr>
            </a:solidFill>
            <a:prstDash val="solid"/>
          </a:ln>
        </p:spPr>
      </p:sp>
      <p:sp>
        <p:nvSpPr>
          <p:cNvPr id="18" name="Shape 16"/>
          <p:cNvSpPr/>
          <p:nvPr/>
        </p:nvSpPr>
        <p:spPr>
          <a:xfrm>
            <a:off x="3238500" y="2581275"/>
            <a:ext cx="2667000" cy="9525"/>
          </a:xfrm>
          <a:prstGeom prst="rect">
            <a:avLst/>
          </a:prstGeom>
          <a:solidFill>
            <a:srgbClr val="D9D9D9"/>
          </a:solidFill>
          <a:ln w="12700">
            <a:solidFill>
              <a:srgbClr val="333333">
                <a:alpha val="0"/>
              </a:srgbClr>
            </a:solidFill>
            <a:prstDash val="solid"/>
          </a:ln>
        </p:spPr>
      </p:sp>
      <p:sp>
        <p:nvSpPr>
          <p:cNvPr id="19" name="Shape 17"/>
          <p:cNvSpPr/>
          <p:nvPr/>
        </p:nvSpPr>
        <p:spPr>
          <a:xfrm>
            <a:off x="3238500" y="1333500"/>
            <a:ext cx="9525" cy="1257300"/>
          </a:xfrm>
          <a:prstGeom prst="rect">
            <a:avLst/>
          </a:prstGeom>
          <a:solidFill>
            <a:srgbClr val="D9D9D9"/>
          </a:solidFill>
          <a:ln w="12700">
            <a:solidFill>
              <a:srgbClr val="333333">
                <a:alpha val="0"/>
              </a:srgbClr>
            </a:solidFill>
            <a:prstDash val="solid"/>
          </a:ln>
        </p:spPr>
      </p:sp>
      <p:sp>
        <p:nvSpPr>
          <p:cNvPr id="20" name="Text 18"/>
          <p:cNvSpPr/>
          <p:nvPr/>
        </p:nvSpPr>
        <p:spPr>
          <a:xfrm>
            <a:off x="34004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21" name="Text 19"/>
          <p:cNvSpPr/>
          <p:nvPr/>
        </p:nvSpPr>
        <p:spPr>
          <a:xfrm>
            <a:off x="3400425" y="1676400"/>
            <a:ext cx="139012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Observe before Iterate.</a:t>
            </a:r>
            <a:endParaRPr lang="en-US" sz="975" dirty="0"/>
          </a:p>
        </p:txBody>
      </p:sp>
      <p:sp>
        <p:nvSpPr>
          <p:cNvPr id="22" name="Text 20"/>
          <p:cNvSpPr/>
          <p:nvPr/>
        </p:nvSpPr>
        <p:spPr>
          <a:xfrm>
            <a:off x="4749403" y="1676400"/>
            <a:ext cx="598807"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Proving a</a:t>
            </a:r>
            <a:endParaRPr lang="en-US" sz="975" dirty="0"/>
          </a:p>
        </p:txBody>
      </p:sp>
      <p:sp>
        <p:nvSpPr>
          <p:cNvPr id="23" name="Text 21"/>
          <p:cNvSpPr/>
          <p:nvPr/>
        </p:nvSpPr>
        <p:spPr>
          <a:xfrm>
            <a:off x="3400425" y="1849636"/>
            <a:ext cx="216805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release is safe comes before proving a</a:t>
            </a:r>
            <a:endParaRPr lang="en-US" sz="975" dirty="0"/>
          </a:p>
        </p:txBody>
      </p:sp>
      <p:sp>
        <p:nvSpPr>
          <p:cNvPr id="24" name="Text 22"/>
          <p:cNvSpPr/>
          <p:nvPr/>
        </p:nvSpPr>
        <p:spPr>
          <a:xfrm>
            <a:off x="3400425" y="2022872"/>
            <a:ext cx="929205"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feature is better.</a:t>
            </a:r>
            <a:endParaRPr lang="en-US" sz="975" dirty="0"/>
          </a:p>
        </p:txBody>
      </p:sp>
      <p:sp>
        <p:nvSpPr>
          <p:cNvPr id="25" name="Shape 23"/>
          <p:cNvSpPr/>
          <p:nvPr/>
        </p:nvSpPr>
        <p:spPr>
          <a:xfrm>
            <a:off x="6019800" y="1333500"/>
            <a:ext cx="2667000" cy="1257300"/>
          </a:xfrm>
          <a:prstGeom prst="rect">
            <a:avLst/>
          </a:prstGeom>
          <a:solidFill>
            <a:srgbClr val="FFFFFF"/>
          </a:solidFill>
          <a:ln w="12700">
            <a:solidFill>
              <a:srgbClr val="333333">
                <a:alpha val="0"/>
              </a:srgbClr>
            </a:solidFill>
            <a:prstDash val="solid"/>
          </a:ln>
        </p:spPr>
      </p:sp>
      <p:sp>
        <p:nvSpPr>
          <p:cNvPr id="26" name="Shape 24"/>
          <p:cNvSpPr/>
          <p:nvPr/>
        </p:nvSpPr>
        <p:spPr>
          <a:xfrm>
            <a:off x="6019800" y="1333500"/>
            <a:ext cx="2667000" cy="9525"/>
          </a:xfrm>
          <a:prstGeom prst="rect">
            <a:avLst/>
          </a:prstGeom>
          <a:solidFill>
            <a:srgbClr val="D9D9D9"/>
          </a:solidFill>
          <a:ln w="12700">
            <a:solidFill>
              <a:srgbClr val="333333">
                <a:alpha val="0"/>
              </a:srgbClr>
            </a:solidFill>
            <a:prstDash val="solid"/>
          </a:ln>
        </p:spPr>
      </p:sp>
      <p:sp>
        <p:nvSpPr>
          <p:cNvPr id="27" name="Shape 25"/>
          <p:cNvSpPr/>
          <p:nvPr/>
        </p:nvSpPr>
        <p:spPr>
          <a:xfrm>
            <a:off x="8677275" y="1333500"/>
            <a:ext cx="9525" cy="1257300"/>
          </a:xfrm>
          <a:prstGeom prst="rect">
            <a:avLst/>
          </a:prstGeom>
          <a:solidFill>
            <a:srgbClr val="D9D9D9"/>
          </a:solidFill>
          <a:ln w="12700">
            <a:solidFill>
              <a:srgbClr val="333333">
                <a:alpha val="0"/>
              </a:srgbClr>
            </a:solidFill>
            <a:prstDash val="solid"/>
          </a:ln>
        </p:spPr>
      </p:sp>
      <p:sp>
        <p:nvSpPr>
          <p:cNvPr id="28" name="Shape 26"/>
          <p:cNvSpPr/>
          <p:nvPr/>
        </p:nvSpPr>
        <p:spPr>
          <a:xfrm>
            <a:off x="6019800" y="2581275"/>
            <a:ext cx="2667000" cy="9525"/>
          </a:xfrm>
          <a:prstGeom prst="rect">
            <a:avLst/>
          </a:prstGeom>
          <a:solidFill>
            <a:srgbClr val="D9D9D9"/>
          </a:solidFill>
          <a:ln w="12700">
            <a:solidFill>
              <a:srgbClr val="333333">
                <a:alpha val="0"/>
              </a:srgbClr>
            </a:solidFill>
            <a:prstDash val="solid"/>
          </a:ln>
        </p:spPr>
      </p:sp>
      <p:sp>
        <p:nvSpPr>
          <p:cNvPr id="29" name="Shape 27"/>
          <p:cNvSpPr/>
          <p:nvPr/>
        </p:nvSpPr>
        <p:spPr>
          <a:xfrm>
            <a:off x="6019800" y="1333500"/>
            <a:ext cx="9525" cy="1257300"/>
          </a:xfrm>
          <a:prstGeom prst="rect">
            <a:avLst/>
          </a:prstGeom>
          <a:solidFill>
            <a:srgbClr val="D9D9D9"/>
          </a:solidFill>
          <a:ln w="12700">
            <a:solidFill>
              <a:srgbClr val="333333">
                <a:alpha val="0"/>
              </a:srgbClr>
            </a:solidFill>
            <a:prstDash val="solid"/>
          </a:ln>
        </p:spPr>
      </p:sp>
      <p:sp>
        <p:nvSpPr>
          <p:cNvPr id="30" name="Text 28"/>
          <p:cNvSpPr/>
          <p:nvPr/>
        </p:nvSpPr>
        <p:spPr>
          <a:xfrm>
            <a:off x="61817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31" name="Text 29"/>
          <p:cNvSpPr/>
          <p:nvPr/>
        </p:nvSpPr>
        <p:spPr>
          <a:xfrm>
            <a:off x="6181725" y="1676400"/>
            <a:ext cx="1417808"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Separate outage cases.</a:t>
            </a:r>
            <a:endParaRPr lang="en-US" sz="975" dirty="0"/>
          </a:p>
        </p:txBody>
      </p:sp>
      <p:sp>
        <p:nvSpPr>
          <p:cNvPr id="32" name="Text 30"/>
          <p:cNvSpPr/>
          <p:nvPr/>
        </p:nvSpPr>
        <p:spPr>
          <a:xfrm>
            <a:off x="7558385" y="1676400"/>
            <a:ext cx="612350"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Cold-start</a:t>
            </a:r>
            <a:endParaRPr lang="en-US" sz="975" dirty="0"/>
          </a:p>
        </p:txBody>
      </p:sp>
      <p:sp>
        <p:nvSpPr>
          <p:cNvPr id="33" name="Text 31"/>
          <p:cNvSpPr/>
          <p:nvPr/>
        </p:nvSpPr>
        <p:spPr>
          <a:xfrm>
            <a:off x="6181725" y="1849636"/>
            <a:ext cx="2195882"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defaults: v1, payments on. A connected</a:t>
            </a:r>
            <a:endParaRPr lang="en-US" sz="975" dirty="0"/>
          </a:p>
        </p:txBody>
      </p:sp>
      <p:sp>
        <p:nvSpPr>
          <p:cNvPr id="34" name="Text 32"/>
          <p:cNvSpPr/>
          <p:nvPr/>
        </p:nvSpPr>
        <p:spPr>
          <a:xfrm>
            <a:off x="6181725" y="2022872"/>
            <a:ext cx="2264194"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client that loses its stream retains known</a:t>
            </a:r>
            <a:endParaRPr lang="en-US" sz="975" dirty="0"/>
          </a:p>
        </p:txBody>
      </p:sp>
      <p:sp>
        <p:nvSpPr>
          <p:cNvPr id="35" name="Text 33"/>
          <p:cNvSpPr/>
          <p:nvPr/>
        </p:nvSpPr>
        <p:spPr>
          <a:xfrm>
            <a:off x="6181725" y="2196108"/>
            <a:ext cx="100257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values. Test both.</a:t>
            </a:r>
            <a:endParaRPr lang="en-US" sz="975" dirty="0"/>
          </a:p>
        </p:txBody>
      </p:sp>
      <p:sp>
        <p:nvSpPr>
          <p:cNvPr id="36" name="Shape 34"/>
          <p:cNvSpPr/>
          <p:nvPr/>
        </p:nvSpPr>
        <p:spPr>
          <a:xfrm>
            <a:off x="457200" y="2705100"/>
            <a:ext cx="2667000" cy="1257300"/>
          </a:xfrm>
          <a:prstGeom prst="rect">
            <a:avLst/>
          </a:prstGeom>
          <a:solidFill>
            <a:srgbClr val="FFFFFF"/>
          </a:solidFill>
          <a:ln w="12700">
            <a:solidFill>
              <a:srgbClr val="333333">
                <a:alpha val="0"/>
              </a:srgbClr>
            </a:solidFill>
            <a:prstDash val="solid"/>
          </a:ln>
        </p:spPr>
      </p:sp>
      <p:sp>
        <p:nvSpPr>
          <p:cNvPr id="37" name="Shape 35"/>
          <p:cNvSpPr/>
          <p:nvPr/>
        </p:nvSpPr>
        <p:spPr>
          <a:xfrm>
            <a:off x="457200" y="2705100"/>
            <a:ext cx="2667000" cy="9525"/>
          </a:xfrm>
          <a:prstGeom prst="rect">
            <a:avLst/>
          </a:prstGeom>
          <a:solidFill>
            <a:srgbClr val="D9D9D9"/>
          </a:solidFill>
          <a:ln w="12700">
            <a:solidFill>
              <a:srgbClr val="333333">
                <a:alpha val="0"/>
              </a:srgbClr>
            </a:solidFill>
            <a:prstDash val="solid"/>
          </a:ln>
        </p:spPr>
      </p:sp>
      <p:sp>
        <p:nvSpPr>
          <p:cNvPr id="38" name="Shape 36"/>
          <p:cNvSpPr/>
          <p:nvPr/>
        </p:nvSpPr>
        <p:spPr>
          <a:xfrm>
            <a:off x="3114675" y="2705100"/>
            <a:ext cx="9525" cy="1257300"/>
          </a:xfrm>
          <a:prstGeom prst="rect">
            <a:avLst/>
          </a:prstGeom>
          <a:solidFill>
            <a:srgbClr val="D9D9D9"/>
          </a:solidFill>
          <a:ln w="12700">
            <a:solidFill>
              <a:srgbClr val="333333">
                <a:alpha val="0"/>
              </a:srgbClr>
            </a:solidFill>
            <a:prstDash val="solid"/>
          </a:ln>
        </p:spPr>
      </p:sp>
      <p:sp>
        <p:nvSpPr>
          <p:cNvPr id="39" name="Shape 37"/>
          <p:cNvSpPr/>
          <p:nvPr/>
        </p:nvSpPr>
        <p:spPr>
          <a:xfrm>
            <a:off x="457200" y="3952875"/>
            <a:ext cx="2667000" cy="9525"/>
          </a:xfrm>
          <a:prstGeom prst="rect">
            <a:avLst/>
          </a:prstGeom>
          <a:solidFill>
            <a:srgbClr val="D9D9D9"/>
          </a:solidFill>
          <a:ln w="12700">
            <a:solidFill>
              <a:srgbClr val="333333">
                <a:alpha val="0"/>
              </a:srgbClr>
            </a:solidFill>
            <a:prstDash val="solid"/>
          </a:ln>
        </p:spPr>
      </p:sp>
      <p:sp>
        <p:nvSpPr>
          <p:cNvPr id="40" name="Shape 38"/>
          <p:cNvSpPr/>
          <p:nvPr/>
        </p:nvSpPr>
        <p:spPr>
          <a:xfrm>
            <a:off x="457200" y="2705100"/>
            <a:ext cx="9525" cy="1257300"/>
          </a:xfrm>
          <a:prstGeom prst="rect">
            <a:avLst/>
          </a:prstGeom>
          <a:solidFill>
            <a:srgbClr val="D9D9D9"/>
          </a:solidFill>
          <a:ln w="12700">
            <a:solidFill>
              <a:srgbClr val="333333">
                <a:alpha val="0"/>
              </a:srgbClr>
            </a:solidFill>
            <a:prstDash val="solid"/>
          </a:ln>
        </p:spPr>
      </p:sp>
      <p:sp>
        <p:nvSpPr>
          <p:cNvPr id="41" name="Text 39"/>
          <p:cNvSpPr/>
          <p:nvPr/>
        </p:nvSpPr>
        <p:spPr>
          <a:xfrm>
            <a:off x="619125" y="2847975"/>
            <a:ext cx="1011210"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AI OVERRIDDEN</a:t>
            </a:r>
            <a:endParaRPr lang="en-US" sz="900" dirty="0"/>
          </a:p>
        </p:txBody>
      </p:sp>
      <p:sp>
        <p:nvSpPr>
          <p:cNvPr id="42" name="Text 40"/>
          <p:cNvSpPr/>
          <p:nvPr/>
        </p:nvSpPr>
        <p:spPr>
          <a:xfrm>
            <a:off x="619125" y="3048000"/>
            <a:ext cx="233979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AI claimed private attributes keep PII from</a:t>
            </a:r>
            <a:endParaRPr lang="en-US" sz="975" dirty="0"/>
          </a:p>
        </p:txBody>
      </p:sp>
      <p:sp>
        <p:nvSpPr>
          <p:cNvPr id="43" name="Text 41"/>
          <p:cNvSpPr/>
          <p:nvPr/>
        </p:nvSpPr>
        <p:spPr>
          <a:xfrm>
            <a:off x="619125" y="3221236"/>
            <a:ext cx="2199900"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LaunchDarkly. Not in a client-side SDK.</a:t>
            </a:r>
            <a:endParaRPr lang="en-US" sz="975" dirty="0"/>
          </a:p>
        </p:txBody>
      </p:sp>
      <p:sp>
        <p:nvSpPr>
          <p:cNvPr id="44" name="Text 42"/>
          <p:cNvSpPr/>
          <p:nvPr/>
        </p:nvSpPr>
        <p:spPr>
          <a:xfrm>
            <a:off x="619125" y="3394472"/>
            <a:ext cx="2099143"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PII removed from the context instead.</a:t>
            </a:r>
            <a:endParaRPr lang="en-US" sz="975" dirty="0"/>
          </a:p>
        </p:txBody>
      </p:sp>
      <p:sp>
        <p:nvSpPr>
          <p:cNvPr id="45" name="Shape 43"/>
          <p:cNvSpPr/>
          <p:nvPr/>
        </p:nvSpPr>
        <p:spPr>
          <a:xfrm>
            <a:off x="3238500" y="2705100"/>
            <a:ext cx="2667000" cy="1257300"/>
          </a:xfrm>
          <a:prstGeom prst="rect">
            <a:avLst/>
          </a:prstGeom>
          <a:solidFill>
            <a:srgbClr val="FFFFFF"/>
          </a:solidFill>
          <a:ln w="12700">
            <a:solidFill>
              <a:srgbClr val="333333">
                <a:alpha val="0"/>
              </a:srgbClr>
            </a:solidFill>
            <a:prstDash val="solid"/>
          </a:ln>
        </p:spPr>
      </p:sp>
      <p:sp>
        <p:nvSpPr>
          <p:cNvPr id="46" name="Shape 44"/>
          <p:cNvSpPr/>
          <p:nvPr/>
        </p:nvSpPr>
        <p:spPr>
          <a:xfrm>
            <a:off x="3238500" y="2705100"/>
            <a:ext cx="2667000" cy="9525"/>
          </a:xfrm>
          <a:prstGeom prst="rect">
            <a:avLst/>
          </a:prstGeom>
          <a:solidFill>
            <a:srgbClr val="FF3399"/>
          </a:solidFill>
          <a:ln w="12700">
            <a:solidFill>
              <a:srgbClr val="333333">
                <a:alpha val="0"/>
              </a:srgbClr>
            </a:solidFill>
            <a:prstDash val="solid"/>
          </a:ln>
        </p:spPr>
      </p:sp>
      <p:sp>
        <p:nvSpPr>
          <p:cNvPr id="47" name="Shape 45"/>
          <p:cNvSpPr/>
          <p:nvPr/>
        </p:nvSpPr>
        <p:spPr>
          <a:xfrm>
            <a:off x="5895975" y="2705100"/>
            <a:ext cx="9525" cy="1257300"/>
          </a:xfrm>
          <a:prstGeom prst="rect">
            <a:avLst/>
          </a:prstGeom>
          <a:solidFill>
            <a:srgbClr val="FF3399"/>
          </a:solidFill>
          <a:ln w="12700">
            <a:solidFill>
              <a:srgbClr val="333333">
                <a:alpha val="0"/>
              </a:srgbClr>
            </a:solidFill>
            <a:prstDash val="solid"/>
          </a:ln>
        </p:spPr>
      </p:sp>
      <p:sp>
        <p:nvSpPr>
          <p:cNvPr id="48" name="Shape 46"/>
          <p:cNvSpPr/>
          <p:nvPr/>
        </p:nvSpPr>
        <p:spPr>
          <a:xfrm>
            <a:off x="3238500" y="3952875"/>
            <a:ext cx="2667000" cy="9525"/>
          </a:xfrm>
          <a:prstGeom prst="rect">
            <a:avLst/>
          </a:prstGeom>
          <a:solidFill>
            <a:srgbClr val="FF3399"/>
          </a:solidFill>
          <a:ln w="12700">
            <a:solidFill>
              <a:srgbClr val="333333">
                <a:alpha val="0"/>
              </a:srgbClr>
            </a:solidFill>
            <a:prstDash val="solid"/>
          </a:ln>
        </p:spPr>
      </p:sp>
      <p:sp>
        <p:nvSpPr>
          <p:cNvPr id="49" name="Shape 47"/>
          <p:cNvSpPr/>
          <p:nvPr/>
        </p:nvSpPr>
        <p:spPr>
          <a:xfrm>
            <a:off x="3238500" y="2705100"/>
            <a:ext cx="9525" cy="1257300"/>
          </a:xfrm>
          <a:prstGeom prst="rect">
            <a:avLst/>
          </a:prstGeom>
          <a:solidFill>
            <a:srgbClr val="FF3399"/>
          </a:solidFill>
          <a:ln w="12700">
            <a:solidFill>
              <a:srgbClr val="333333">
                <a:alpha val="0"/>
              </a:srgbClr>
            </a:solidFill>
            <a:prstDash val="solid"/>
          </a:ln>
        </p:spPr>
      </p:sp>
      <p:sp>
        <p:nvSpPr>
          <p:cNvPr id="50" name="Text 48"/>
          <p:cNvSpPr/>
          <p:nvPr/>
        </p:nvSpPr>
        <p:spPr>
          <a:xfrm>
            <a:off x="3400425" y="2847975"/>
            <a:ext cx="917597"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BIGGEST RISK</a:t>
            </a:r>
            <a:endParaRPr lang="en-US" sz="900" dirty="0"/>
          </a:p>
        </p:txBody>
      </p:sp>
      <p:sp>
        <p:nvSpPr>
          <p:cNvPr id="51" name="Text 49"/>
          <p:cNvSpPr/>
          <p:nvPr/>
        </p:nvSpPr>
        <p:spPr>
          <a:xfrm>
            <a:off x="3400425" y="3048000"/>
            <a:ext cx="215346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Browser flags are not authorization.</a:t>
            </a:r>
            <a:endParaRPr lang="en-US" sz="975" dirty="0"/>
          </a:p>
        </p:txBody>
      </p:sp>
      <p:sp>
        <p:nvSpPr>
          <p:cNvPr id="52" name="Text 50"/>
          <p:cNvSpPr/>
          <p:nvPr/>
        </p:nvSpPr>
        <p:spPr>
          <a:xfrm>
            <a:off x="3400425" y="3221236"/>
            <a:ext cx="206937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Enforce identity, eligibility and money</a:t>
            </a:r>
            <a:endParaRPr lang="en-US" sz="975" dirty="0"/>
          </a:p>
        </p:txBody>
      </p:sp>
      <p:sp>
        <p:nvSpPr>
          <p:cNvPr id="53" name="Text 51"/>
          <p:cNvSpPr/>
          <p:nvPr/>
        </p:nvSpPr>
        <p:spPr>
          <a:xfrm>
            <a:off x="3400425" y="3394472"/>
            <a:ext cx="230586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movement on the backend. Secure mode</a:t>
            </a:r>
            <a:endParaRPr lang="en-US" sz="975" dirty="0"/>
          </a:p>
        </p:txBody>
      </p:sp>
      <p:sp>
        <p:nvSpPr>
          <p:cNvPr id="54" name="Text 52"/>
          <p:cNvSpPr/>
          <p:nvPr/>
        </p:nvSpPr>
        <p:spPr>
          <a:xfrm>
            <a:off x="3400425" y="3567708"/>
            <a:ext cx="1926949"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protects identity keys, not arbitrary</a:t>
            </a:r>
            <a:endParaRPr lang="en-US" sz="975" dirty="0"/>
          </a:p>
        </p:txBody>
      </p:sp>
      <p:sp>
        <p:nvSpPr>
          <p:cNvPr id="55" name="Text 53"/>
          <p:cNvSpPr/>
          <p:nvPr/>
        </p:nvSpPr>
        <p:spPr>
          <a:xfrm>
            <a:off x="3400425" y="3740944"/>
            <a:ext cx="58496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attributes.</a:t>
            </a:r>
            <a:endParaRPr lang="en-US" sz="975" dirty="0"/>
          </a:p>
        </p:txBody>
      </p:sp>
      <p:sp>
        <p:nvSpPr>
          <p:cNvPr id="56" name="Shape 54"/>
          <p:cNvSpPr/>
          <p:nvPr/>
        </p:nvSpPr>
        <p:spPr>
          <a:xfrm>
            <a:off x="6019800" y="2705100"/>
            <a:ext cx="2667000" cy="1257300"/>
          </a:xfrm>
          <a:prstGeom prst="rect">
            <a:avLst/>
          </a:prstGeom>
          <a:solidFill>
            <a:srgbClr val="FFFFFF"/>
          </a:solidFill>
          <a:ln w="12700">
            <a:solidFill>
              <a:srgbClr val="333333">
                <a:alpha val="0"/>
              </a:srgbClr>
            </a:solidFill>
            <a:prstDash val="solid"/>
          </a:ln>
        </p:spPr>
      </p:sp>
      <p:sp>
        <p:nvSpPr>
          <p:cNvPr id="57" name="Shape 55"/>
          <p:cNvSpPr/>
          <p:nvPr/>
        </p:nvSpPr>
        <p:spPr>
          <a:xfrm>
            <a:off x="6019800" y="2705100"/>
            <a:ext cx="2667000" cy="9525"/>
          </a:xfrm>
          <a:prstGeom prst="rect">
            <a:avLst/>
          </a:prstGeom>
          <a:solidFill>
            <a:srgbClr val="D9D9D9"/>
          </a:solidFill>
          <a:ln w="12700">
            <a:solidFill>
              <a:srgbClr val="333333">
                <a:alpha val="0"/>
              </a:srgbClr>
            </a:solidFill>
            <a:prstDash val="solid"/>
          </a:ln>
        </p:spPr>
      </p:sp>
      <p:sp>
        <p:nvSpPr>
          <p:cNvPr id="58" name="Shape 56"/>
          <p:cNvSpPr/>
          <p:nvPr/>
        </p:nvSpPr>
        <p:spPr>
          <a:xfrm>
            <a:off x="8677275" y="2705100"/>
            <a:ext cx="9525" cy="1257300"/>
          </a:xfrm>
          <a:prstGeom prst="rect">
            <a:avLst/>
          </a:prstGeom>
          <a:solidFill>
            <a:srgbClr val="D9D9D9"/>
          </a:solidFill>
          <a:ln w="12700">
            <a:solidFill>
              <a:srgbClr val="333333">
                <a:alpha val="0"/>
              </a:srgbClr>
            </a:solidFill>
            <a:prstDash val="solid"/>
          </a:ln>
        </p:spPr>
      </p:sp>
      <p:sp>
        <p:nvSpPr>
          <p:cNvPr id="59" name="Shape 57"/>
          <p:cNvSpPr/>
          <p:nvPr/>
        </p:nvSpPr>
        <p:spPr>
          <a:xfrm>
            <a:off x="6019800" y="3952875"/>
            <a:ext cx="2667000" cy="9525"/>
          </a:xfrm>
          <a:prstGeom prst="rect">
            <a:avLst/>
          </a:prstGeom>
          <a:solidFill>
            <a:srgbClr val="D9D9D9"/>
          </a:solidFill>
          <a:ln w="12700">
            <a:solidFill>
              <a:srgbClr val="333333">
                <a:alpha val="0"/>
              </a:srgbClr>
            </a:solidFill>
            <a:prstDash val="solid"/>
          </a:ln>
        </p:spPr>
      </p:sp>
      <p:sp>
        <p:nvSpPr>
          <p:cNvPr id="60" name="Shape 58"/>
          <p:cNvSpPr/>
          <p:nvPr/>
        </p:nvSpPr>
        <p:spPr>
          <a:xfrm>
            <a:off x="6019800" y="2705100"/>
            <a:ext cx="9525" cy="1257300"/>
          </a:xfrm>
          <a:prstGeom prst="rect">
            <a:avLst/>
          </a:prstGeom>
          <a:solidFill>
            <a:srgbClr val="D9D9D9"/>
          </a:solidFill>
          <a:ln w="12700">
            <a:solidFill>
              <a:srgbClr val="333333">
                <a:alpha val="0"/>
              </a:srgbClr>
            </a:solidFill>
            <a:prstDash val="solid"/>
          </a:ln>
        </p:spPr>
      </p:sp>
      <p:sp>
        <p:nvSpPr>
          <p:cNvPr id="61" name="Text 59"/>
          <p:cNvSpPr/>
          <p:nvPr/>
        </p:nvSpPr>
        <p:spPr>
          <a:xfrm>
            <a:off x="6181725" y="2847975"/>
            <a:ext cx="1414832" cy="140665"/>
          </a:xfrm>
          <a:prstGeom prst="rect">
            <a:avLst/>
          </a:prstGeom>
          <a:noFill/>
          <a:ln/>
        </p:spPr>
        <p:txBody>
          <a:bodyPr wrap="none" lIns="0" tIns="0" rIns="0" bIns="0" rtlCol="0" anchor="ctr"/>
          <a:lstStyle/>
          <a:p>
            <a:pPr indent="0" marL="0">
              <a:buNone/>
            </a:pPr>
            <a:r>
              <a:rPr lang="en-US" sz="900" b="1" spc="38" kern="0" dirty="0">
                <a:solidFill>
                  <a:srgbClr val="1AA6C4"/>
                </a:solidFill>
                <a:latin typeface="Arial" pitchFamily="34" charset="0"/>
                <a:ea typeface="Arial" pitchFamily="34" charset="-122"/>
                <a:cs typeface="Arial" pitchFamily="34" charset="-120"/>
              </a:rPr>
              <a:t>IF IT WERE A STARTUP</a:t>
            </a:r>
            <a:endParaRPr lang="en-US" sz="900" dirty="0"/>
          </a:p>
        </p:txBody>
      </p:sp>
      <p:sp>
        <p:nvSpPr>
          <p:cNvPr id="62" name="Text 60"/>
          <p:cNvSpPr/>
          <p:nvPr/>
        </p:nvSpPr>
        <p:spPr>
          <a:xfrm>
            <a:off x="6181725" y="3048000"/>
            <a:ext cx="1851344"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Drop the required comments and</a:t>
            </a:r>
            <a:endParaRPr lang="en-US" sz="975" dirty="0"/>
          </a:p>
        </p:txBody>
      </p:sp>
      <p:sp>
        <p:nvSpPr>
          <p:cNvPr id="63" name="Text 61"/>
          <p:cNvSpPr/>
          <p:nvPr/>
        </p:nvSpPr>
        <p:spPr>
          <a:xfrm>
            <a:off x="6181725" y="3221236"/>
            <a:ext cx="227148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approvals. One percentage rollout plus a</a:t>
            </a:r>
            <a:endParaRPr lang="en-US" sz="975" dirty="0"/>
          </a:p>
        </p:txBody>
      </p:sp>
      <p:sp>
        <p:nvSpPr>
          <p:cNvPr id="64" name="Text 62"/>
          <p:cNvSpPr/>
          <p:nvPr/>
        </p:nvSpPr>
        <p:spPr>
          <a:xfrm>
            <a:off x="6181725" y="3394472"/>
            <a:ext cx="116986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kill switch is enough.</a:t>
            </a:r>
            <a:endParaRPr lang="en-US" sz="975" dirty="0"/>
          </a:p>
        </p:txBody>
      </p:sp>
      <p:sp>
        <p:nvSpPr>
          <p:cNvPr id="65" name="Shape 6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6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FF3399"/>
                </a:solidFill>
                <a:latin typeface="Arial" pitchFamily="34" charset="0"/>
                <a:ea typeface="Arial" pitchFamily="34" charset="-122"/>
                <a:cs typeface="Arial" pitchFamily="34" charset="-120"/>
              </a:rPr>
              <a:t>03</a:t>
            </a:r>
            <a:endParaRPr lang="en-US" sz="4050" dirty="0"/>
          </a:p>
        </p:txBody>
      </p:sp>
      <p:sp>
        <p:nvSpPr>
          <p:cNvPr id="4" name="Text 2"/>
          <p:cNvSpPr/>
          <p:nvPr/>
        </p:nvSpPr>
        <p:spPr>
          <a:xfrm>
            <a:off x="457200" y="1981200"/>
            <a:ext cx="3395287"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Next Steps</a:t>
            </a:r>
            <a:endParaRPr lang="en-US" sz="5400" dirty="0"/>
          </a:p>
        </p:txBody>
      </p:sp>
      <p:sp>
        <p:nvSpPr>
          <p:cNvPr id="5" name="Text 3"/>
          <p:cNvSpPr/>
          <p:nvPr/>
        </p:nvSpPr>
        <p:spPr>
          <a:xfrm>
            <a:off x="457200" y="2895600"/>
            <a:ext cx="3884932"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Your concerns first, then a plan we both commit to.</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746722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Concerns we expect, and how we'd answer</a:t>
            </a:r>
            <a:endParaRPr lang="en-US" sz="3000" dirty="0"/>
          </a:p>
        </p:txBody>
      </p:sp>
      <p:sp>
        <p:nvSpPr>
          <p:cNvPr id="4" name="Text 2"/>
          <p:cNvSpPr/>
          <p:nvPr/>
        </p:nvSpPr>
        <p:spPr>
          <a:xfrm>
            <a:off x="457200" y="838200"/>
            <a:ext cx="4248221"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Raised by security, risk and procurement in deals like this one.</a:t>
            </a:r>
            <a:endParaRPr lang="en-US" sz="1200" dirty="0"/>
          </a:p>
        </p:txBody>
      </p:sp>
      <p:sp>
        <p:nvSpPr>
          <p:cNvPr id="5" name="Shape 3"/>
          <p:cNvSpPr/>
          <p:nvPr/>
        </p:nvSpPr>
        <p:spPr>
          <a:xfrm>
            <a:off x="457200" y="1428750"/>
            <a:ext cx="4048125" cy="1257300"/>
          </a:xfrm>
          <a:prstGeom prst="rect">
            <a:avLst/>
          </a:prstGeom>
          <a:solidFill>
            <a:srgbClr val="2B2B2B"/>
          </a:solidFill>
          <a:ln w="12700">
            <a:solidFill>
              <a:srgbClr val="333333">
                <a:alpha val="0"/>
              </a:srgbClr>
            </a:solidFill>
            <a:prstDash val="solid"/>
          </a:ln>
        </p:spPr>
      </p:sp>
      <p:sp>
        <p:nvSpPr>
          <p:cNvPr id="6" name="Text 4"/>
          <p:cNvSpPr/>
          <p:nvPr/>
        </p:nvSpPr>
        <p:spPr>
          <a:xfrm>
            <a:off x="628650" y="1562100"/>
            <a:ext cx="2791938"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"ANOTHER VENDOR IN THE PAYMENTS PATH"</a:t>
            </a:r>
            <a:endParaRPr lang="en-US" sz="900" dirty="0"/>
          </a:p>
        </p:txBody>
      </p:sp>
      <p:sp>
        <p:nvSpPr>
          <p:cNvPr id="7" name="Text 5"/>
          <p:cNvSpPr/>
          <p:nvPr/>
        </p:nvSpPr>
        <p:spPr>
          <a:xfrm>
            <a:off x="628650" y="1781175"/>
            <a:ext cx="3279053"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Browser SDK reads known values; targeting is evaluated</a:t>
            </a:r>
            <a:endParaRPr lang="en-US" sz="1013" dirty="0"/>
          </a:p>
        </p:txBody>
      </p:sp>
      <p:sp>
        <p:nvSpPr>
          <p:cNvPr id="8" name="Text 6"/>
          <p:cNvSpPr/>
          <p:nvPr/>
        </p:nvSpPr>
        <p:spPr>
          <a:xfrm>
            <a:off x="628650" y="1961108"/>
            <a:ext cx="3094952"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remotely. Test cold starts, lost streams and missed kill</a:t>
            </a:r>
            <a:endParaRPr lang="en-US" sz="1013" dirty="0"/>
          </a:p>
        </p:txBody>
      </p:sp>
      <p:sp>
        <p:nvSpPr>
          <p:cNvPr id="9" name="Text 7"/>
          <p:cNvSpPr/>
          <p:nvPr/>
        </p:nvSpPr>
        <p:spPr>
          <a:xfrm>
            <a:off x="628650" y="2141041"/>
            <a:ext cx="3221456"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commands. Assess server-side enforcement and DORA</a:t>
            </a:r>
            <a:endParaRPr lang="en-US" sz="1013" dirty="0"/>
          </a:p>
        </p:txBody>
      </p:sp>
      <p:sp>
        <p:nvSpPr>
          <p:cNvPr id="10" name="Text 8"/>
          <p:cNvSpPr/>
          <p:nvPr/>
        </p:nvSpPr>
        <p:spPr>
          <a:xfrm>
            <a:off x="628650" y="2320975"/>
            <a:ext cx="69182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obligations.</a:t>
            </a:r>
            <a:endParaRPr lang="en-US" sz="1013" dirty="0"/>
          </a:p>
        </p:txBody>
      </p:sp>
      <p:sp>
        <p:nvSpPr>
          <p:cNvPr id="11" name="Shape 9"/>
          <p:cNvSpPr/>
          <p:nvPr/>
        </p:nvSpPr>
        <p:spPr>
          <a:xfrm>
            <a:off x="4638675" y="1428750"/>
            <a:ext cx="4048125" cy="1257300"/>
          </a:xfrm>
          <a:prstGeom prst="rect">
            <a:avLst/>
          </a:prstGeom>
          <a:solidFill>
            <a:srgbClr val="2B2B2B"/>
          </a:solidFill>
          <a:ln w="12700">
            <a:solidFill>
              <a:srgbClr val="333333">
                <a:alpha val="0"/>
              </a:srgbClr>
            </a:solidFill>
            <a:prstDash val="solid"/>
          </a:ln>
        </p:spPr>
      </p:sp>
      <p:sp>
        <p:nvSpPr>
          <p:cNvPr id="12" name="Text 10"/>
          <p:cNvSpPr/>
          <p:nvPr/>
        </p:nvSpPr>
        <p:spPr>
          <a:xfrm>
            <a:off x="4810125" y="1562100"/>
            <a:ext cx="2435644"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"CUSTOMER DATA LEAVING THE BANK"</a:t>
            </a:r>
            <a:endParaRPr lang="en-US" sz="900" dirty="0"/>
          </a:p>
        </p:txBody>
      </p:sp>
      <p:sp>
        <p:nvSpPr>
          <p:cNvPr id="13" name="Text 11"/>
          <p:cNvSpPr/>
          <p:nvPr/>
        </p:nvSpPr>
        <p:spPr>
          <a:xfrm>
            <a:off x="4810125" y="1781175"/>
            <a:ext cx="369383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Only an opaque key and targeting attributes are sent. No names</a:t>
            </a:r>
            <a:endParaRPr lang="en-US" sz="1013" dirty="0"/>
          </a:p>
        </p:txBody>
      </p:sp>
      <p:sp>
        <p:nvSpPr>
          <p:cNvPr id="14" name="Text 12"/>
          <p:cNvSpPr/>
          <p:nvPr/>
        </p:nvSpPr>
        <p:spPr>
          <a:xfrm>
            <a:off x="4810125" y="1961108"/>
            <a:ext cx="3386209"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or emails, by design. Data residency to be confirmed in the</a:t>
            </a:r>
            <a:endParaRPr lang="en-US" sz="1013" dirty="0"/>
          </a:p>
        </p:txBody>
      </p:sp>
      <p:sp>
        <p:nvSpPr>
          <p:cNvPr id="15" name="Text 13"/>
          <p:cNvSpPr/>
          <p:nvPr/>
        </p:nvSpPr>
        <p:spPr>
          <a:xfrm>
            <a:off x="4810125" y="2141041"/>
            <a:ext cx="92012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security review.</a:t>
            </a:r>
            <a:endParaRPr lang="en-US" sz="1013" dirty="0"/>
          </a:p>
        </p:txBody>
      </p:sp>
      <p:sp>
        <p:nvSpPr>
          <p:cNvPr id="16" name="Shape 14"/>
          <p:cNvSpPr/>
          <p:nvPr/>
        </p:nvSpPr>
        <p:spPr>
          <a:xfrm>
            <a:off x="457200" y="2819400"/>
            <a:ext cx="4048125" cy="1257300"/>
          </a:xfrm>
          <a:prstGeom prst="rect">
            <a:avLst/>
          </a:prstGeom>
          <a:solidFill>
            <a:srgbClr val="2B2B2B"/>
          </a:solidFill>
          <a:ln w="12700">
            <a:solidFill>
              <a:srgbClr val="333333">
                <a:alpha val="0"/>
              </a:srgbClr>
            </a:solidFill>
            <a:prstDash val="solid"/>
          </a:ln>
        </p:spPr>
      </p:sp>
      <p:sp>
        <p:nvSpPr>
          <p:cNvPr id="17" name="Text 15"/>
          <p:cNvSpPr/>
          <p:nvPr/>
        </p:nvSpPr>
        <p:spPr>
          <a:xfrm>
            <a:off x="628650" y="2952750"/>
            <a:ext cx="226062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"FLAG CHANGES BYPASS OUR CAB"</a:t>
            </a:r>
            <a:endParaRPr lang="en-US" sz="900" dirty="0"/>
          </a:p>
        </p:txBody>
      </p:sp>
      <p:sp>
        <p:nvSpPr>
          <p:cNvPr id="18" name="Text 16"/>
          <p:cNvSpPr/>
          <p:nvPr/>
        </p:nvSpPr>
        <p:spPr>
          <a:xfrm>
            <a:off x="628650" y="3171825"/>
            <a:ext cx="3214908"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Production changes require a comment and can require</a:t>
            </a:r>
            <a:endParaRPr lang="en-US" sz="1013" dirty="0"/>
          </a:p>
        </p:txBody>
      </p:sp>
      <p:sp>
        <p:nvSpPr>
          <p:cNvPr id="19" name="Text 17"/>
          <p:cNvSpPr/>
          <p:nvPr/>
        </p:nvSpPr>
        <p:spPr>
          <a:xfrm>
            <a:off x="628650" y="3351758"/>
            <a:ext cx="366987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approval. Custom roles control who can change what. The audit</a:t>
            </a:r>
            <a:endParaRPr lang="en-US" sz="1013" dirty="0"/>
          </a:p>
        </p:txBody>
      </p:sp>
      <p:sp>
        <p:nvSpPr>
          <p:cNvPr id="20" name="Text 18"/>
          <p:cNvSpPr/>
          <p:nvPr/>
        </p:nvSpPr>
        <p:spPr>
          <a:xfrm>
            <a:off x="628650" y="3531691"/>
            <a:ext cx="134205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log records everything.</a:t>
            </a:r>
            <a:endParaRPr lang="en-US" sz="1013" dirty="0"/>
          </a:p>
        </p:txBody>
      </p:sp>
      <p:sp>
        <p:nvSpPr>
          <p:cNvPr id="21" name="Shape 19"/>
          <p:cNvSpPr/>
          <p:nvPr/>
        </p:nvSpPr>
        <p:spPr>
          <a:xfrm>
            <a:off x="4638675" y="2819400"/>
            <a:ext cx="4048125" cy="1257300"/>
          </a:xfrm>
          <a:prstGeom prst="rect">
            <a:avLst/>
          </a:prstGeom>
          <a:solidFill>
            <a:srgbClr val="2B2B2B"/>
          </a:solidFill>
          <a:ln w="12700">
            <a:solidFill>
              <a:srgbClr val="333333">
                <a:alpha val="0"/>
              </a:srgbClr>
            </a:solidFill>
            <a:prstDash val="solid"/>
          </a:ln>
        </p:spPr>
      </p:sp>
      <p:sp>
        <p:nvSpPr>
          <p:cNvPr id="22" name="Text 20"/>
          <p:cNvSpPr/>
          <p:nvPr/>
        </p:nvSpPr>
        <p:spPr>
          <a:xfrm>
            <a:off x="4810125" y="2952750"/>
            <a:ext cx="263150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"WE COULD BUILD TOGGLES OURSELVES"</a:t>
            </a:r>
            <a:endParaRPr lang="en-US" sz="900" dirty="0"/>
          </a:p>
        </p:txBody>
      </p:sp>
      <p:sp>
        <p:nvSpPr>
          <p:cNvPr id="23" name="Text 21"/>
          <p:cNvSpPr/>
          <p:nvPr/>
        </p:nvSpPr>
        <p:spPr>
          <a:xfrm>
            <a:off x="4810125" y="3171825"/>
            <a:ext cx="371035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 kill switch is easy. Targeting, guarded rollouts, governance and</a:t>
            </a:r>
            <a:endParaRPr lang="en-US" sz="1013" dirty="0"/>
          </a:p>
        </p:txBody>
      </p:sp>
      <p:sp>
        <p:nvSpPr>
          <p:cNvPr id="24" name="Text 22"/>
          <p:cNvSpPr/>
          <p:nvPr/>
        </p:nvSpPr>
        <p:spPr>
          <a:xfrm>
            <a:off x="4810125" y="3351758"/>
            <a:ext cx="3686693"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audit at bank scale are not. Building them is cost your engineers</a:t>
            </a:r>
            <a:endParaRPr lang="en-US" sz="1013" dirty="0"/>
          </a:p>
        </p:txBody>
      </p:sp>
      <p:sp>
        <p:nvSpPr>
          <p:cNvPr id="25" name="Text 23"/>
          <p:cNvSpPr/>
          <p:nvPr/>
        </p:nvSpPr>
        <p:spPr>
          <a:xfrm>
            <a:off x="4810125" y="3531691"/>
            <a:ext cx="1545354"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don't spend on customers.</a:t>
            </a:r>
            <a:endParaRPr lang="en-US" sz="1013" dirty="0"/>
          </a:p>
        </p:txBody>
      </p:sp>
      <p:pic>
        <p:nvPicPr>
          <p:cNvPr id="26"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6006775"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Next steps: a mutual plan to a pilot</a:t>
            </a:r>
            <a:endParaRPr lang="en-US" sz="3000" dirty="0"/>
          </a:p>
        </p:txBody>
      </p:sp>
      <p:sp>
        <p:nvSpPr>
          <p:cNvPr id="4" name="Text 2"/>
          <p:cNvSpPr/>
          <p:nvPr/>
        </p:nvSpPr>
        <p:spPr>
          <a:xfrm>
            <a:off x="457200" y="838200"/>
            <a:ext cx="533109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Seven weeks from today's conversation to a decision based on your own data.</a:t>
            </a:r>
            <a:endParaRPr lang="en-US" sz="1200" dirty="0"/>
          </a:p>
        </p:txBody>
      </p:sp>
      <p:pic>
        <p:nvPicPr>
          <p:cNvPr id="5" name="Image 0" descr="preencoded.png">    </p:cNvPr>
          <p:cNvPicPr>
            <a:picLocks noChangeAspect="1"/>
          </p:cNvPicPr>
          <p:nvPr/>
        </p:nvPicPr>
        <p:blipFill>
          <a:blip r:embed="rId1"/>
          <a:stretch>
            <a:fillRect/>
          </a:stretch>
        </p:blipFill>
        <p:spPr>
          <a:xfrm>
            <a:off x="1485900" y="1581150"/>
            <a:ext cx="6172200" cy="38100"/>
          </a:xfrm>
          <a:prstGeom prst="rect">
            <a:avLst/>
          </a:prstGeom>
        </p:spPr>
      </p:pic>
      <p:sp>
        <p:nvSpPr>
          <p:cNvPr id="6" name="Shape 3"/>
          <p:cNvSpPr/>
          <p:nvPr/>
        </p:nvSpPr>
        <p:spPr>
          <a:xfrm>
            <a:off x="1200150" y="1314450"/>
            <a:ext cx="571500" cy="571500"/>
          </a:xfrm>
          <a:prstGeom prst="ellipse">
            <a:avLst>
              <a:gd name="adj" fmla="val 83333"/>
            </a:avLst>
          </a:prstGeom>
          <a:solidFill>
            <a:srgbClr val="405BFF"/>
          </a:solidFill>
          <a:ln w="12700">
            <a:solidFill>
              <a:srgbClr val="333333">
                <a:alpha val="0"/>
              </a:srgbClr>
            </a:solidFill>
            <a:prstDash val="solid"/>
          </a:ln>
        </p:spPr>
      </p:sp>
      <p:sp>
        <p:nvSpPr>
          <p:cNvPr id="7" name="Shape 4"/>
          <p:cNvSpPr/>
          <p:nvPr/>
        </p:nvSpPr>
        <p:spPr>
          <a:xfrm>
            <a:off x="1200150" y="1314450"/>
            <a:ext cx="571500" cy="38100"/>
          </a:xfrm>
          <a:prstGeom prst="rect">
            <a:avLst/>
          </a:prstGeom>
          <a:solidFill>
            <a:srgbClr val="F7F7F7"/>
          </a:solidFill>
          <a:ln w="12700">
            <a:solidFill>
              <a:srgbClr val="333333">
                <a:alpha val="0"/>
              </a:srgbClr>
            </a:solidFill>
            <a:prstDash val="solid"/>
          </a:ln>
        </p:spPr>
      </p:sp>
      <p:sp>
        <p:nvSpPr>
          <p:cNvPr id="8" name="Shape 5"/>
          <p:cNvSpPr/>
          <p:nvPr/>
        </p:nvSpPr>
        <p:spPr>
          <a:xfrm>
            <a:off x="1733550" y="1314450"/>
            <a:ext cx="38100" cy="571500"/>
          </a:xfrm>
          <a:prstGeom prst="rect">
            <a:avLst/>
          </a:prstGeom>
          <a:solidFill>
            <a:srgbClr val="F7F7F7"/>
          </a:solidFill>
          <a:ln w="12700">
            <a:solidFill>
              <a:srgbClr val="333333">
                <a:alpha val="0"/>
              </a:srgbClr>
            </a:solidFill>
            <a:prstDash val="solid"/>
          </a:ln>
        </p:spPr>
      </p:sp>
      <p:sp>
        <p:nvSpPr>
          <p:cNvPr id="9" name="Shape 6"/>
          <p:cNvSpPr/>
          <p:nvPr/>
        </p:nvSpPr>
        <p:spPr>
          <a:xfrm>
            <a:off x="1200150" y="1847850"/>
            <a:ext cx="571500" cy="38100"/>
          </a:xfrm>
          <a:prstGeom prst="rect">
            <a:avLst/>
          </a:prstGeom>
          <a:solidFill>
            <a:srgbClr val="F7F7F7"/>
          </a:solidFill>
          <a:ln w="12700">
            <a:solidFill>
              <a:srgbClr val="333333">
                <a:alpha val="0"/>
              </a:srgbClr>
            </a:solidFill>
            <a:prstDash val="solid"/>
          </a:ln>
        </p:spPr>
      </p:sp>
      <p:sp>
        <p:nvSpPr>
          <p:cNvPr id="10" name="Shape 7"/>
          <p:cNvSpPr/>
          <p:nvPr/>
        </p:nvSpPr>
        <p:spPr>
          <a:xfrm>
            <a:off x="1200150" y="1314450"/>
            <a:ext cx="38100" cy="571500"/>
          </a:xfrm>
          <a:prstGeom prst="rect">
            <a:avLst/>
          </a:prstGeom>
          <a:solidFill>
            <a:srgbClr val="F7F7F7"/>
          </a:solidFill>
          <a:ln w="12700">
            <a:solidFill>
              <a:srgbClr val="333333">
                <a:alpha val="0"/>
              </a:srgbClr>
            </a:solidFill>
            <a:prstDash val="solid"/>
          </a:ln>
        </p:spPr>
      </p:sp>
      <p:pic>
        <p:nvPicPr>
          <p:cNvPr id="11" name="Image 1" descr="preencoded.png">    </p:cNvPr>
          <p:cNvPicPr>
            <a:picLocks noChangeAspect="1"/>
          </p:cNvPicPr>
          <p:nvPr/>
        </p:nvPicPr>
        <p:blipFill>
          <a:blip r:embed="rId2"/>
          <a:stretch>
            <a:fillRect/>
          </a:stretch>
        </p:blipFill>
        <p:spPr>
          <a:xfrm>
            <a:off x="1362075" y="1476375"/>
            <a:ext cx="247650" cy="247650"/>
          </a:xfrm>
          <a:prstGeom prst="rect">
            <a:avLst/>
          </a:prstGeom>
        </p:spPr>
      </p:pic>
      <p:sp>
        <p:nvSpPr>
          <p:cNvPr id="12" name="Shape 8"/>
          <p:cNvSpPr/>
          <p:nvPr/>
        </p:nvSpPr>
        <p:spPr>
          <a:xfrm>
            <a:off x="3257550" y="1314450"/>
            <a:ext cx="571500" cy="571500"/>
          </a:xfrm>
          <a:prstGeom prst="ellipse">
            <a:avLst>
              <a:gd name="adj" fmla="val 83333"/>
            </a:avLst>
          </a:prstGeom>
          <a:solidFill>
            <a:srgbClr val="1AA6C4"/>
          </a:solidFill>
          <a:ln w="12700">
            <a:solidFill>
              <a:srgbClr val="333333">
                <a:alpha val="0"/>
              </a:srgbClr>
            </a:solidFill>
            <a:prstDash val="solid"/>
          </a:ln>
        </p:spPr>
      </p:sp>
      <p:sp>
        <p:nvSpPr>
          <p:cNvPr id="13" name="Shape 9"/>
          <p:cNvSpPr/>
          <p:nvPr/>
        </p:nvSpPr>
        <p:spPr>
          <a:xfrm>
            <a:off x="3257550" y="1314450"/>
            <a:ext cx="571500" cy="38100"/>
          </a:xfrm>
          <a:prstGeom prst="rect">
            <a:avLst/>
          </a:prstGeom>
          <a:solidFill>
            <a:srgbClr val="F7F7F7"/>
          </a:solidFill>
          <a:ln w="12700">
            <a:solidFill>
              <a:srgbClr val="333333">
                <a:alpha val="0"/>
              </a:srgbClr>
            </a:solidFill>
            <a:prstDash val="solid"/>
          </a:ln>
        </p:spPr>
      </p:sp>
      <p:sp>
        <p:nvSpPr>
          <p:cNvPr id="14" name="Shape 10"/>
          <p:cNvSpPr/>
          <p:nvPr/>
        </p:nvSpPr>
        <p:spPr>
          <a:xfrm>
            <a:off x="3790950" y="1314450"/>
            <a:ext cx="38100" cy="571500"/>
          </a:xfrm>
          <a:prstGeom prst="rect">
            <a:avLst/>
          </a:prstGeom>
          <a:solidFill>
            <a:srgbClr val="F7F7F7"/>
          </a:solidFill>
          <a:ln w="12700">
            <a:solidFill>
              <a:srgbClr val="333333">
                <a:alpha val="0"/>
              </a:srgbClr>
            </a:solidFill>
            <a:prstDash val="solid"/>
          </a:ln>
        </p:spPr>
      </p:sp>
      <p:sp>
        <p:nvSpPr>
          <p:cNvPr id="15" name="Shape 11"/>
          <p:cNvSpPr/>
          <p:nvPr/>
        </p:nvSpPr>
        <p:spPr>
          <a:xfrm>
            <a:off x="3257550" y="1847850"/>
            <a:ext cx="571500" cy="38100"/>
          </a:xfrm>
          <a:prstGeom prst="rect">
            <a:avLst/>
          </a:prstGeom>
          <a:solidFill>
            <a:srgbClr val="F7F7F7"/>
          </a:solidFill>
          <a:ln w="12700">
            <a:solidFill>
              <a:srgbClr val="333333">
                <a:alpha val="0"/>
              </a:srgbClr>
            </a:solidFill>
            <a:prstDash val="solid"/>
          </a:ln>
        </p:spPr>
      </p:sp>
      <p:sp>
        <p:nvSpPr>
          <p:cNvPr id="16" name="Shape 12"/>
          <p:cNvSpPr/>
          <p:nvPr/>
        </p:nvSpPr>
        <p:spPr>
          <a:xfrm>
            <a:off x="3257550" y="1314450"/>
            <a:ext cx="38100" cy="571500"/>
          </a:xfrm>
          <a:prstGeom prst="rect">
            <a:avLst/>
          </a:prstGeom>
          <a:solidFill>
            <a:srgbClr val="F7F7F7"/>
          </a:solidFill>
          <a:ln w="12700">
            <a:solidFill>
              <a:srgbClr val="333333">
                <a:alpha val="0"/>
              </a:srgbClr>
            </a:solidFill>
            <a:prstDash val="solid"/>
          </a:ln>
        </p:spPr>
      </p:sp>
      <p:pic>
        <p:nvPicPr>
          <p:cNvPr id="17" name="Image 2" descr="preencoded.png">    </p:cNvPr>
          <p:cNvPicPr>
            <a:picLocks noChangeAspect="1"/>
          </p:cNvPicPr>
          <p:nvPr/>
        </p:nvPicPr>
        <p:blipFill>
          <a:blip r:embed="rId3"/>
          <a:stretch>
            <a:fillRect/>
          </a:stretch>
        </p:blipFill>
        <p:spPr>
          <a:xfrm>
            <a:off x="3419475" y="1476375"/>
            <a:ext cx="247650" cy="247650"/>
          </a:xfrm>
          <a:prstGeom prst="rect">
            <a:avLst/>
          </a:prstGeom>
        </p:spPr>
      </p:pic>
      <p:sp>
        <p:nvSpPr>
          <p:cNvPr id="18" name="Shape 13"/>
          <p:cNvSpPr/>
          <p:nvPr/>
        </p:nvSpPr>
        <p:spPr>
          <a:xfrm>
            <a:off x="5314950" y="1314450"/>
            <a:ext cx="571500" cy="571500"/>
          </a:xfrm>
          <a:prstGeom prst="ellipse">
            <a:avLst>
              <a:gd name="adj" fmla="val 83333"/>
            </a:avLst>
          </a:prstGeom>
          <a:solidFill>
            <a:srgbClr val="A34FDE"/>
          </a:solidFill>
          <a:ln w="12700">
            <a:solidFill>
              <a:srgbClr val="333333">
                <a:alpha val="0"/>
              </a:srgbClr>
            </a:solidFill>
            <a:prstDash val="solid"/>
          </a:ln>
        </p:spPr>
      </p:sp>
      <p:sp>
        <p:nvSpPr>
          <p:cNvPr id="19" name="Shape 14"/>
          <p:cNvSpPr/>
          <p:nvPr/>
        </p:nvSpPr>
        <p:spPr>
          <a:xfrm>
            <a:off x="5314950" y="1314450"/>
            <a:ext cx="571500" cy="38100"/>
          </a:xfrm>
          <a:prstGeom prst="rect">
            <a:avLst/>
          </a:prstGeom>
          <a:solidFill>
            <a:srgbClr val="F7F7F7"/>
          </a:solidFill>
          <a:ln w="12700">
            <a:solidFill>
              <a:srgbClr val="333333">
                <a:alpha val="0"/>
              </a:srgbClr>
            </a:solidFill>
            <a:prstDash val="solid"/>
          </a:ln>
        </p:spPr>
      </p:sp>
      <p:sp>
        <p:nvSpPr>
          <p:cNvPr id="20" name="Shape 15"/>
          <p:cNvSpPr/>
          <p:nvPr/>
        </p:nvSpPr>
        <p:spPr>
          <a:xfrm>
            <a:off x="5848350" y="1314450"/>
            <a:ext cx="38100" cy="571500"/>
          </a:xfrm>
          <a:prstGeom prst="rect">
            <a:avLst/>
          </a:prstGeom>
          <a:solidFill>
            <a:srgbClr val="F7F7F7"/>
          </a:solidFill>
          <a:ln w="12700">
            <a:solidFill>
              <a:srgbClr val="333333">
                <a:alpha val="0"/>
              </a:srgbClr>
            </a:solidFill>
            <a:prstDash val="solid"/>
          </a:ln>
        </p:spPr>
      </p:sp>
      <p:sp>
        <p:nvSpPr>
          <p:cNvPr id="21" name="Shape 16"/>
          <p:cNvSpPr/>
          <p:nvPr/>
        </p:nvSpPr>
        <p:spPr>
          <a:xfrm>
            <a:off x="5314950" y="1847850"/>
            <a:ext cx="571500" cy="38100"/>
          </a:xfrm>
          <a:prstGeom prst="rect">
            <a:avLst/>
          </a:prstGeom>
          <a:solidFill>
            <a:srgbClr val="F7F7F7"/>
          </a:solidFill>
          <a:ln w="12700">
            <a:solidFill>
              <a:srgbClr val="333333">
                <a:alpha val="0"/>
              </a:srgbClr>
            </a:solidFill>
            <a:prstDash val="solid"/>
          </a:ln>
        </p:spPr>
      </p:sp>
      <p:sp>
        <p:nvSpPr>
          <p:cNvPr id="22" name="Shape 17"/>
          <p:cNvSpPr/>
          <p:nvPr/>
        </p:nvSpPr>
        <p:spPr>
          <a:xfrm>
            <a:off x="5314950" y="1314450"/>
            <a:ext cx="38100" cy="571500"/>
          </a:xfrm>
          <a:prstGeom prst="rect">
            <a:avLst/>
          </a:prstGeom>
          <a:solidFill>
            <a:srgbClr val="F7F7F7"/>
          </a:solidFill>
          <a:ln w="12700">
            <a:solidFill>
              <a:srgbClr val="333333">
                <a:alpha val="0"/>
              </a:srgbClr>
            </a:solidFill>
            <a:prstDash val="solid"/>
          </a:ln>
        </p:spPr>
      </p:sp>
      <p:pic>
        <p:nvPicPr>
          <p:cNvPr id="23" name="Image 3" descr="preencoded.png">    </p:cNvPr>
          <p:cNvPicPr>
            <a:picLocks noChangeAspect="1"/>
          </p:cNvPicPr>
          <p:nvPr/>
        </p:nvPicPr>
        <p:blipFill>
          <a:blip r:embed="rId4"/>
          <a:stretch>
            <a:fillRect/>
          </a:stretch>
        </p:blipFill>
        <p:spPr>
          <a:xfrm>
            <a:off x="5476875" y="1476375"/>
            <a:ext cx="247650" cy="247650"/>
          </a:xfrm>
          <a:prstGeom prst="rect">
            <a:avLst/>
          </a:prstGeom>
        </p:spPr>
      </p:pic>
      <p:sp>
        <p:nvSpPr>
          <p:cNvPr id="24" name="Shape 18"/>
          <p:cNvSpPr/>
          <p:nvPr/>
        </p:nvSpPr>
        <p:spPr>
          <a:xfrm>
            <a:off x="7372350" y="1314450"/>
            <a:ext cx="571500" cy="571500"/>
          </a:xfrm>
          <a:prstGeom prst="ellipse">
            <a:avLst>
              <a:gd name="adj" fmla="val 83333"/>
            </a:avLst>
          </a:prstGeom>
          <a:solidFill>
            <a:srgbClr val="FF3399"/>
          </a:solidFill>
          <a:ln w="12700">
            <a:solidFill>
              <a:srgbClr val="333333">
                <a:alpha val="0"/>
              </a:srgbClr>
            </a:solidFill>
            <a:prstDash val="solid"/>
          </a:ln>
        </p:spPr>
      </p:sp>
      <p:sp>
        <p:nvSpPr>
          <p:cNvPr id="25" name="Shape 19"/>
          <p:cNvSpPr/>
          <p:nvPr/>
        </p:nvSpPr>
        <p:spPr>
          <a:xfrm>
            <a:off x="7372350" y="1314450"/>
            <a:ext cx="571500" cy="38100"/>
          </a:xfrm>
          <a:prstGeom prst="rect">
            <a:avLst/>
          </a:prstGeom>
          <a:solidFill>
            <a:srgbClr val="F7F7F7"/>
          </a:solidFill>
          <a:ln w="12700">
            <a:solidFill>
              <a:srgbClr val="333333">
                <a:alpha val="0"/>
              </a:srgbClr>
            </a:solidFill>
            <a:prstDash val="solid"/>
          </a:ln>
        </p:spPr>
      </p:sp>
      <p:sp>
        <p:nvSpPr>
          <p:cNvPr id="26" name="Shape 20"/>
          <p:cNvSpPr/>
          <p:nvPr/>
        </p:nvSpPr>
        <p:spPr>
          <a:xfrm>
            <a:off x="7905750" y="1314450"/>
            <a:ext cx="38100" cy="571500"/>
          </a:xfrm>
          <a:prstGeom prst="rect">
            <a:avLst/>
          </a:prstGeom>
          <a:solidFill>
            <a:srgbClr val="F7F7F7"/>
          </a:solidFill>
          <a:ln w="12700">
            <a:solidFill>
              <a:srgbClr val="333333">
                <a:alpha val="0"/>
              </a:srgbClr>
            </a:solidFill>
            <a:prstDash val="solid"/>
          </a:ln>
        </p:spPr>
      </p:sp>
      <p:sp>
        <p:nvSpPr>
          <p:cNvPr id="27" name="Shape 21"/>
          <p:cNvSpPr/>
          <p:nvPr/>
        </p:nvSpPr>
        <p:spPr>
          <a:xfrm>
            <a:off x="7372350" y="1847850"/>
            <a:ext cx="571500" cy="38100"/>
          </a:xfrm>
          <a:prstGeom prst="rect">
            <a:avLst/>
          </a:prstGeom>
          <a:solidFill>
            <a:srgbClr val="F7F7F7"/>
          </a:solidFill>
          <a:ln w="12700">
            <a:solidFill>
              <a:srgbClr val="333333">
                <a:alpha val="0"/>
              </a:srgbClr>
            </a:solidFill>
            <a:prstDash val="solid"/>
          </a:ln>
        </p:spPr>
      </p:sp>
      <p:sp>
        <p:nvSpPr>
          <p:cNvPr id="28" name="Shape 22"/>
          <p:cNvSpPr/>
          <p:nvPr/>
        </p:nvSpPr>
        <p:spPr>
          <a:xfrm>
            <a:off x="7372350" y="1314450"/>
            <a:ext cx="38100" cy="571500"/>
          </a:xfrm>
          <a:prstGeom prst="rect">
            <a:avLst/>
          </a:prstGeom>
          <a:solidFill>
            <a:srgbClr val="F7F7F7"/>
          </a:solidFill>
          <a:ln w="12700">
            <a:solidFill>
              <a:srgbClr val="333333">
                <a:alpha val="0"/>
              </a:srgbClr>
            </a:solidFill>
            <a:prstDash val="solid"/>
          </a:ln>
        </p:spPr>
      </p:sp>
      <p:pic>
        <p:nvPicPr>
          <p:cNvPr id="29" name="Image 4" descr="preencoded.png">    </p:cNvPr>
          <p:cNvPicPr>
            <a:picLocks noChangeAspect="1"/>
          </p:cNvPicPr>
          <p:nvPr/>
        </p:nvPicPr>
        <p:blipFill>
          <a:blip r:embed="rId5"/>
          <a:stretch>
            <a:fillRect/>
          </a:stretch>
        </p:blipFill>
        <p:spPr>
          <a:xfrm>
            <a:off x="7534275" y="1476375"/>
            <a:ext cx="247650" cy="247650"/>
          </a:xfrm>
          <a:prstGeom prst="rect">
            <a:avLst/>
          </a:prstGeom>
        </p:spPr>
      </p:pic>
      <p:sp>
        <p:nvSpPr>
          <p:cNvPr id="30" name="Shape 23"/>
          <p:cNvSpPr/>
          <p:nvPr/>
        </p:nvSpPr>
        <p:spPr>
          <a:xfrm>
            <a:off x="980777" y="2019300"/>
            <a:ext cx="1010096" cy="152400"/>
          </a:xfrm>
          <a:prstGeom prst="ellipse">
            <a:avLst>
              <a:gd name="adj" fmla="val 6243750"/>
            </a:avLst>
          </a:prstGeom>
          <a:solidFill>
            <a:srgbClr val="E6E9FF"/>
          </a:solidFill>
          <a:ln w="12700">
            <a:solidFill>
              <a:srgbClr val="333333">
                <a:alpha val="0"/>
              </a:srgbClr>
            </a:solidFill>
            <a:prstDash val="solid"/>
          </a:ln>
        </p:spPr>
      </p:sp>
      <p:sp>
        <p:nvSpPr>
          <p:cNvPr id="31" name="Text 24"/>
          <p:cNvSpPr/>
          <p:nvPr/>
        </p:nvSpPr>
        <p:spPr>
          <a:xfrm>
            <a:off x="1066502" y="2038350"/>
            <a:ext cx="879794" cy="121615"/>
          </a:xfrm>
          <a:prstGeom prst="rect">
            <a:avLst/>
          </a:prstGeom>
          <a:noFill/>
          <a:ln/>
        </p:spPr>
        <p:txBody>
          <a:bodyPr wrap="none" lIns="0" tIns="0" rIns="0" bIns="0" rtlCol="0" anchor="ctr"/>
          <a:lstStyle/>
          <a:p>
            <a:pPr indent="0" marL="0">
              <a:buNone/>
            </a:pPr>
            <a:r>
              <a:rPr lang="en-US" sz="825" b="1" dirty="0">
                <a:solidFill>
                  <a:srgbClr val="405BFF"/>
                </a:solidFill>
                <a:latin typeface="Arial" pitchFamily="34" charset="0"/>
                <a:ea typeface="Arial" pitchFamily="34" charset="-122"/>
                <a:cs typeface="Arial" pitchFamily="34" charset="-120"/>
              </a:rPr>
              <a:t>WEEK 1 · 1 week</a:t>
            </a:r>
            <a:endParaRPr lang="en-US" sz="825" dirty="0"/>
          </a:p>
        </p:txBody>
      </p:sp>
      <p:sp>
        <p:nvSpPr>
          <p:cNvPr id="32" name="Text 25"/>
          <p:cNvSpPr/>
          <p:nvPr/>
        </p:nvSpPr>
        <p:spPr>
          <a:xfrm>
            <a:off x="859185" y="2247900"/>
            <a:ext cx="1294578"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Align on success</a:t>
            </a:r>
            <a:endParaRPr lang="en-US" sz="1200" dirty="0"/>
          </a:p>
        </p:txBody>
      </p:sp>
      <p:sp>
        <p:nvSpPr>
          <p:cNvPr id="33" name="Text 26"/>
          <p:cNvSpPr/>
          <p:nvPr/>
        </p:nvSpPr>
        <p:spPr>
          <a:xfrm>
            <a:off x="786854" y="2476500"/>
            <a:ext cx="143909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Agree baseline and targets:</a:t>
            </a:r>
            <a:endParaRPr lang="en-US" sz="900" dirty="0"/>
          </a:p>
        </p:txBody>
      </p:sp>
      <p:sp>
        <p:nvSpPr>
          <p:cNvPr id="34" name="Text 27"/>
          <p:cNvSpPr/>
          <p:nvPr/>
        </p:nvSpPr>
        <p:spPr>
          <a:xfrm>
            <a:off x="577304" y="2630686"/>
            <a:ext cx="185819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recovery time, failure rate, cadence.</a:t>
            </a:r>
            <a:endParaRPr lang="en-US" sz="900" dirty="0"/>
          </a:p>
        </p:txBody>
      </p:sp>
      <p:sp>
        <p:nvSpPr>
          <p:cNvPr id="35" name="Shape 28"/>
          <p:cNvSpPr/>
          <p:nvPr/>
        </p:nvSpPr>
        <p:spPr>
          <a:xfrm>
            <a:off x="571500" y="2981325"/>
            <a:ext cx="1828800" cy="9525"/>
          </a:xfrm>
          <a:prstGeom prst="rect">
            <a:avLst/>
          </a:prstGeom>
          <a:solidFill>
            <a:srgbClr val="DCDCDC"/>
          </a:solidFill>
          <a:ln w="12700">
            <a:solidFill>
              <a:srgbClr val="333333">
                <a:alpha val="0"/>
              </a:srgbClr>
            </a:solidFill>
            <a:prstDash val="solid"/>
          </a:ln>
        </p:spPr>
      </p:sp>
      <p:sp>
        <p:nvSpPr>
          <p:cNvPr id="36" name="Text 29"/>
          <p:cNvSpPr/>
          <p:nvPr/>
        </p:nvSpPr>
        <p:spPr>
          <a:xfrm>
            <a:off x="5715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37" name="Text 30"/>
          <p:cNvSpPr/>
          <p:nvPr/>
        </p:nvSpPr>
        <p:spPr>
          <a:xfrm>
            <a:off x="1113086" y="3067050"/>
            <a:ext cx="1295471"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Head of Payments Eng.</a:t>
            </a:r>
            <a:endParaRPr lang="en-US" sz="863" dirty="0"/>
          </a:p>
        </p:txBody>
      </p:sp>
      <p:sp>
        <p:nvSpPr>
          <p:cNvPr id="38" name="Text 31"/>
          <p:cNvSpPr/>
          <p:nvPr/>
        </p:nvSpPr>
        <p:spPr>
          <a:xfrm>
            <a:off x="5715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39" name="Text 32"/>
          <p:cNvSpPr/>
          <p:nvPr/>
        </p:nvSpPr>
        <p:spPr>
          <a:xfrm>
            <a:off x="1295995" y="3214836"/>
            <a:ext cx="1058091"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Solutions Engineer</a:t>
            </a:r>
            <a:endParaRPr lang="en-US" sz="863" dirty="0"/>
          </a:p>
        </p:txBody>
      </p:sp>
      <p:sp>
        <p:nvSpPr>
          <p:cNvPr id="40" name="Shape 33"/>
          <p:cNvSpPr/>
          <p:nvPr/>
        </p:nvSpPr>
        <p:spPr>
          <a:xfrm>
            <a:off x="3038177" y="2019300"/>
            <a:ext cx="1010096" cy="152400"/>
          </a:xfrm>
          <a:prstGeom prst="ellipse">
            <a:avLst>
              <a:gd name="adj" fmla="val 6243750"/>
            </a:avLst>
          </a:prstGeom>
          <a:solidFill>
            <a:srgbClr val="DFF6FB"/>
          </a:solidFill>
          <a:ln w="12700">
            <a:solidFill>
              <a:srgbClr val="333333">
                <a:alpha val="0"/>
              </a:srgbClr>
            </a:solidFill>
            <a:prstDash val="solid"/>
          </a:ln>
        </p:spPr>
      </p:sp>
      <p:sp>
        <p:nvSpPr>
          <p:cNvPr id="41" name="Text 34"/>
          <p:cNvSpPr/>
          <p:nvPr/>
        </p:nvSpPr>
        <p:spPr>
          <a:xfrm>
            <a:off x="3123902" y="2038350"/>
            <a:ext cx="879794" cy="121615"/>
          </a:xfrm>
          <a:prstGeom prst="rect">
            <a:avLst/>
          </a:prstGeom>
          <a:noFill/>
          <a:ln/>
        </p:spPr>
        <p:txBody>
          <a:bodyPr wrap="none" lIns="0" tIns="0" rIns="0" bIns="0" rtlCol="0" anchor="ctr"/>
          <a:lstStyle/>
          <a:p>
            <a:pPr indent="0" marL="0">
              <a:buNone/>
            </a:pPr>
            <a:r>
              <a:rPr lang="en-US" sz="825" b="1" dirty="0">
                <a:solidFill>
                  <a:srgbClr val="1A8AA3"/>
                </a:solidFill>
                <a:latin typeface="Arial" pitchFamily="34" charset="0"/>
                <a:ea typeface="Arial" pitchFamily="34" charset="-122"/>
                <a:cs typeface="Arial" pitchFamily="34" charset="-120"/>
              </a:rPr>
              <a:t>WEEK 2 · 1 week</a:t>
            </a:r>
            <a:endParaRPr lang="en-US" sz="825" dirty="0"/>
          </a:p>
        </p:txBody>
      </p:sp>
      <p:sp>
        <p:nvSpPr>
          <p:cNvPr id="42" name="Text 35"/>
          <p:cNvSpPr/>
          <p:nvPr/>
        </p:nvSpPr>
        <p:spPr>
          <a:xfrm>
            <a:off x="2984153" y="2247900"/>
            <a:ext cx="1159443"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Security review</a:t>
            </a:r>
            <a:endParaRPr lang="en-US" sz="1200" dirty="0"/>
          </a:p>
        </p:txBody>
      </p:sp>
      <p:sp>
        <p:nvSpPr>
          <p:cNvPr id="43" name="Text 36"/>
          <p:cNvSpPr/>
          <p:nvPr/>
        </p:nvSpPr>
        <p:spPr>
          <a:xfrm>
            <a:off x="2688580" y="2476500"/>
            <a:ext cx="1750439"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Secure mode, data residency and</a:t>
            </a:r>
            <a:endParaRPr lang="en-US" sz="900" dirty="0"/>
          </a:p>
        </p:txBody>
      </p:sp>
      <p:sp>
        <p:nvSpPr>
          <p:cNvPr id="44" name="Text 37"/>
          <p:cNvSpPr/>
          <p:nvPr/>
        </p:nvSpPr>
        <p:spPr>
          <a:xfrm>
            <a:off x="2793653" y="2630686"/>
            <a:ext cx="154044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the DORA third-party register.</a:t>
            </a:r>
            <a:endParaRPr lang="en-US" sz="900" dirty="0"/>
          </a:p>
        </p:txBody>
      </p:sp>
      <p:sp>
        <p:nvSpPr>
          <p:cNvPr id="45" name="Shape 38"/>
          <p:cNvSpPr/>
          <p:nvPr/>
        </p:nvSpPr>
        <p:spPr>
          <a:xfrm>
            <a:off x="2628900" y="2981325"/>
            <a:ext cx="1828800" cy="9525"/>
          </a:xfrm>
          <a:prstGeom prst="rect">
            <a:avLst/>
          </a:prstGeom>
          <a:solidFill>
            <a:srgbClr val="DCDCDC"/>
          </a:solidFill>
          <a:ln w="12700">
            <a:solidFill>
              <a:srgbClr val="333333">
                <a:alpha val="0"/>
              </a:srgbClr>
            </a:solidFill>
            <a:prstDash val="solid"/>
          </a:ln>
        </p:spPr>
      </p:sp>
      <p:sp>
        <p:nvSpPr>
          <p:cNvPr id="46" name="Text 39"/>
          <p:cNvSpPr/>
          <p:nvPr/>
        </p:nvSpPr>
        <p:spPr>
          <a:xfrm>
            <a:off x="26289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47" name="Text 40"/>
          <p:cNvSpPr/>
          <p:nvPr/>
        </p:nvSpPr>
        <p:spPr>
          <a:xfrm>
            <a:off x="3170486" y="3067050"/>
            <a:ext cx="1149322"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InfoSec, Architecture</a:t>
            </a:r>
            <a:endParaRPr lang="en-US" sz="863" dirty="0"/>
          </a:p>
        </p:txBody>
      </p:sp>
      <p:sp>
        <p:nvSpPr>
          <p:cNvPr id="48" name="Text 41"/>
          <p:cNvSpPr/>
          <p:nvPr/>
        </p:nvSpPr>
        <p:spPr>
          <a:xfrm>
            <a:off x="26289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49" name="Text 42"/>
          <p:cNvSpPr/>
          <p:nvPr/>
        </p:nvSpPr>
        <p:spPr>
          <a:xfrm>
            <a:off x="3353395" y="3214836"/>
            <a:ext cx="1015228"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SE, Security team</a:t>
            </a:r>
            <a:endParaRPr lang="en-US" sz="863" dirty="0"/>
          </a:p>
        </p:txBody>
      </p:sp>
      <p:sp>
        <p:nvSpPr>
          <p:cNvPr id="50" name="Shape 43"/>
          <p:cNvSpPr/>
          <p:nvPr/>
        </p:nvSpPr>
        <p:spPr>
          <a:xfrm>
            <a:off x="4973241" y="2019300"/>
            <a:ext cx="1254770" cy="152400"/>
          </a:xfrm>
          <a:prstGeom prst="ellipse">
            <a:avLst>
              <a:gd name="adj" fmla="val 6243750"/>
            </a:avLst>
          </a:prstGeom>
          <a:solidFill>
            <a:srgbClr val="F2E6FB"/>
          </a:solidFill>
          <a:ln w="12700">
            <a:solidFill>
              <a:srgbClr val="333333">
                <a:alpha val="0"/>
              </a:srgbClr>
            </a:solidFill>
            <a:prstDash val="solid"/>
          </a:ln>
        </p:spPr>
      </p:sp>
      <p:sp>
        <p:nvSpPr>
          <p:cNvPr id="51" name="Text 44"/>
          <p:cNvSpPr/>
          <p:nvPr/>
        </p:nvSpPr>
        <p:spPr>
          <a:xfrm>
            <a:off x="5058966" y="2038350"/>
            <a:ext cx="1124468" cy="121615"/>
          </a:xfrm>
          <a:prstGeom prst="rect">
            <a:avLst/>
          </a:prstGeom>
          <a:noFill/>
          <a:ln/>
        </p:spPr>
        <p:txBody>
          <a:bodyPr wrap="none" lIns="0" tIns="0" rIns="0" bIns="0" rtlCol="0" anchor="ctr"/>
          <a:lstStyle/>
          <a:p>
            <a:pPr indent="0" marL="0">
              <a:buNone/>
            </a:pPr>
            <a:r>
              <a:rPr lang="en-US" sz="825" b="1" dirty="0">
                <a:solidFill>
                  <a:srgbClr val="A34FDE"/>
                </a:solidFill>
                <a:latin typeface="Arial" pitchFamily="34" charset="0"/>
                <a:ea typeface="Arial" pitchFamily="34" charset="-122"/>
                <a:cs typeface="Arial" pitchFamily="34" charset="-120"/>
              </a:rPr>
              <a:t>WEEKS 3–6 · 4 weeks</a:t>
            </a:r>
            <a:endParaRPr lang="en-US" sz="825" dirty="0"/>
          </a:p>
        </p:txBody>
      </p:sp>
      <p:sp>
        <p:nvSpPr>
          <p:cNvPr id="52" name="Text 45"/>
          <p:cNvSpPr/>
          <p:nvPr/>
        </p:nvSpPr>
        <p:spPr>
          <a:xfrm>
            <a:off x="4931420" y="2247900"/>
            <a:ext cx="1379708"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Pilot a real release</a:t>
            </a:r>
            <a:endParaRPr lang="en-US" sz="1200" dirty="0"/>
          </a:p>
        </p:txBody>
      </p:sp>
      <p:sp>
        <p:nvSpPr>
          <p:cNvPr id="53" name="Text 46"/>
          <p:cNvSpPr/>
          <p:nvPr/>
        </p:nvSpPr>
        <p:spPr>
          <a:xfrm>
            <a:off x="4796879" y="2476500"/>
            <a:ext cx="1648789"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One squad ships one payments</a:t>
            </a:r>
            <a:endParaRPr lang="en-US" sz="900" dirty="0"/>
          </a:p>
        </p:txBody>
      </p:sp>
      <p:sp>
        <p:nvSpPr>
          <p:cNvPr id="54" name="Text 47"/>
          <p:cNvSpPr/>
          <p:nvPr/>
        </p:nvSpPr>
        <p:spPr>
          <a:xfrm>
            <a:off x="4764881" y="2630686"/>
            <a:ext cx="171263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change behind a guarded rollout.</a:t>
            </a:r>
            <a:endParaRPr lang="en-US" sz="900" dirty="0"/>
          </a:p>
        </p:txBody>
      </p:sp>
      <p:sp>
        <p:nvSpPr>
          <p:cNvPr id="55" name="Shape 48"/>
          <p:cNvSpPr/>
          <p:nvPr/>
        </p:nvSpPr>
        <p:spPr>
          <a:xfrm>
            <a:off x="4686300" y="2981325"/>
            <a:ext cx="1828800" cy="9525"/>
          </a:xfrm>
          <a:prstGeom prst="rect">
            <a:avLst/>
          </a:prstGeom>
          <a:solidFill>
            <a:srgbClr val="DCDCDC"/>
          </a:solidFill>
          <a:ln w="12700">
            <a:solidFill>
              <a:srgbClr val="333333">
                <a:alpha val="0"/>
              </a:srgbClr>
            </a:solidFill>
            <a:prstDash val="solid"/>
          </a:ln>
        </p:spPr>
      </p:sp>
      <p:sp>
        <p:nvSpPr>
          <p:cNvPr id="56" name="Text 49"/>
          <p:cNvSpPr/>
          <p:nvPr/>
        </p:nvSpPr>
        <p:spPr>
          <a:xfrm>
            <a:off x="46863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57" name="Text 50"/>
          <p:cNvSpPr/>
          <p:nvPr/>
        </p:nvSpPr>
        <p:spPr>
          <a:xfrm>
            <a:off x="5227886" y="3067050"/>
            <a:ext cx="68051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Pilot squad</a:t>
            </a:r>
            <a:endParaRPr lang="en-US" sz="863" dirty="0"/>
          </a:p>
        </p:txBody>
      </p:sp>
      <p:sp>
        <p:nvSpPr>
          <p:cNvPr id="58" name="Text 51"/>
          <p:cNvSpPr/>
          <p:nvPr/>
        </p:nvSpPr>
        <p:spPr>
          <a:xfrm>
            <a:off x="46863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59" name="Text 52"/>
          <p:cNvSpPr/>
          <p:nvPr/>
        </p:nvSpPr>
        <p:spPr>
          <a:xfrm>
            <a:off x="5410795" y="3214836"/>
            <a:ext cx="111866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SE, weekly check-in</a:t>
            </a:r>
            <a:endParaRPr lang="en-US" sz="863" dirty="0"/>
          </a:p>
        </p:txBody>
      </p:sp>
      <p:sp>
        <p:nvSpPr>
          <p:cNvPr id="60" name="Shape 53"/>
          <p:cNvSpPr/>
          <p:nvPr/>
        </p:nvSpPr>
        <p:spPr>
          <a:xfrm>
            <a:off x="7112347" y="2019300"/>
            <a:ext cx="1091357" cy="152400"/>
          </a:xfrm>
          <a:prstGeom prst="ellipse">
            <a:avLst>
              <a:gd name="adj" fmla="val 6243750"/>
            </a:avLst>
          </a:prstGeom>
          <a:solidFill>
            <a:srgbClr val="FFE3F0"/>
          </a:solidFill>
          <a:ln w="12700">
            <a:solidFill>
              <a:srgbClr val="333333">
                <a:alpha val="0"/>
              </a:srgbClr>
            </a:solidFill>
            <a:prstDash val="solid"/>
          </a:ln>
        </p:spPr>
      </p:sp>
      <p:sp>
        <p:nvSpPr>
          <p:cNvPr id="61" name="Text 54"/>
          <p:cNvSpPr/>
          <p:nvPr/>
        </p:nvSpPr>
        <p:spPr>
          <a:xfrm>
            <a:off x="7198072" y="2038350"/>
            <a:ext cx="961055" cy="121615"/>
          </a:xfrm>
          <a:prstGeom prst="rect">
            <a:avLst/>
          </a:prstGeom>
          <a:noFill/>
          <a:ln/>
        </p:spPr>
        <p:txBody>
          <a:bodyPr wrap="none" lIns="0" tIns="0" rIns="0" bIns="0" rtlCol="0" anchor="ctr"/>
          <a:lstStyle/>
          <a:p>
            <a:pPr indent="0" marL="0">
              <a:buNone/>
            </a:pPr>
            <a:r>
              <a:rPr lang="en-US" sz="825" b="1" dirty="0">
                <a:solidFill>
                  <a:srgbClr val="E0207F"/>
                </a:solidFill>
                <a:latin typeface="Arial" pitchFamily="34" charset="0"/>
                <a:ea typeface="Arial" pitchFamily="34" charset="-122"/>
                <a:cs typeface="Arial" pitchFamily="34" charset="-120"/>
              </a:rPr>
              <a:t>WEEK 7 · decision</a:t>
            </a:r>
            <a:endParaRPr lang="en-US" sz="825" dirty="0"/>
          </a:p>
        </p:txBody>
      </p:sp>
      <p:sp>
        <p:nvSpPr>
          <p:cNvPr id="62" name="Text 55"/>
          <p:cNvSpPr/>
          <p:nvPr/>
        </p:nvSpPr>
        <p:spPr>
          <a:xfrm>
            <a:off x="6934051" y="2247900"/>
            <a:ext cx="1489097"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Readout &amp; proposal</a:t>
            </a:r>
            <a:endParaRPr lang="en-US" sz="1200" dirty="0"/>
          </a:p>
        </p:txBody>
      </p:sp>
      <p:sp>
        <p:nvSpPr>
          <p:cNvPr id="63" name="Text 56"/>
          <p:cNvSpPr/>
          <p:nvPr/>
        </p:nvSpPr>
        <p:spPr>
          <a:xfrm>
            <a:off x="6774954" y="2476500"/>
            <a:ext cx="1807440"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Results against the agreed criteria,</a:t>
            </a:r>
            <a:endParaRPr lang="en-US" sz="900" dirty="0"/>
          </a:p>
        </p:txBody>
      </p:sp>
      <p:sp>
        <p:nvSpPr>
          <p:cNvPr id="64" name="Text 57"/>
          <p:cNvSpPr/>
          <p:nvPr/>
        </p:nvSpPr>
        <p:spPr>
          <a:xfrm>
            <a:off x="6946553" y="2630686"/>
            <a:ext cx="146424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plus a commercial proposal.</a:t>
            </a:r>
            <a:endParaRPr lang="en-US" sz="900" dirty="0"/>
          </a:p>
        </p:txBody>
      </p:sp>
      <p:sp>
        <p:nvSpPr>
          <p:cNvPr id="65" name="Shape 58"/>
          <p:cNvSpPr/>
          <p:nvPr/>
        </p:nvSpPr>
        <p:spPr>
          <a:xfrm>
            <a:off x="6743700" y="2981325"/>
            <a:ext cx="1828800" cy="9525"/>
          </a:xfrm>
          <a:prstGeom prst="rect">
            <a:avLst/>
          </a:prstGeom>
          <a:solidFill>
            <a:srgbClr val="DCDCDC"/>
          </a:solidFill>
          <a:ln w="12700">
            <a:solidFill>
              <a:srgbClr val="333333">
                <a:alpha val="0"/>
              </a:srgbClr>
            </a:solidFill>
            <a:prstDash val="solid"/>
          </a:ln>
        </p:spPr>
      </p:sp>
      <p:sp>
        <p:nvSpPr>
          <p:cNvPr id="66" name="Text 59"/>
          <p:cNvSpPr/>
          <p:nvPr/>
        </p:nvSpPr>
        <p:spPr>
          <a:xfrm>
            <a:off x="67437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67" name="Text 60"/>
          <p:cNvSpPr/>
          <p:nvPr/>
        </p:nvSpPr>
        <p:spPr>
          <a:xfrm>
            <a:off x="7285286" y="3067050"/>
            <a:ext cx="103353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Executive sponsor</a:t>
            </a:r>
            <a:endParaRPr lang="en-US" sz="863" dirty="0"/>
          </a:p>
        </p:txBody>
      </p:sp>
      <p:sp>
        <p:nvSpPr>
          <p:cNvPr id="68" name="Text 61"/>
          <p:cNvSpPr/>
          <p:nvPr/>
        </p:nvSpPr>
        <p:spPr>
          <a:xfrm>
            <a:off x="67437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69" name="Text 62"/>
          <p:cNvSpPr/>
          <p:nvPr/>
        </p:nvSpPr>
        <p:spPr>
          <a:xfrm>
            <a:off x="7468195" y="3214836"/>
            <a:ext cx="1009275"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Account Exec, SE</a:t>
            </a:r>
            <a:endParaRPr lang="en-US" sz="863" dirty="0"/>
          </a:p>
        </p:txBody>
      </p:sp>
      <p:sp>
        <p:nvSpPr>
          <p:cNvPr id="70" name="Text 63"/>
          <p:cNvSpPr/>
          <p:nvPr/>
        </p:nvSpPr>
        <p:spPr>
          <a:xfrm>
            <a:off x="571500" y="3533775"/>
            <a:ext cx="838867" cy="121615"/>
          </a:xfrm>
          <a:prstGeom prst="rect">
            <a:avLst/>
          </a:prstGeom>
          <a:noFill/>
          <a:ln/>
        </p:spPr>
        <p:txBody>
          <a:bodyPr wrap="none" lIns="0" tIns="0" rIns="0" bIns="0" rtlCol="0" anchor="ctr"/>
          <a:lstStyle/>
          <a:p>
            <a:pPr indent="0" marL="0">
              <a:buNone/>
            </a:pPr>
            <a:r>
              <a:rPr lang="en-US" sz="863" b="1" dirty="0">
                <a:solidFill>
                  <a:srgbClr val="555555"/>
                </a:solidFill>
                <a:latin typeface="Arial" pitchFamily="34" charset="0"/>
                <a:ea typeface="Arial" pitchFamily="34" charset="-122"/>
                <a:cs typeface="Arial" pitchFamily="34" charset="-120"/>
              </a:rPr>
              <a:t>Business case:</a:t>
            </a:r>
            <a:endParaRPr lang="en-US" sz="863" dirty="0"/>
          </a:p>
        </p:txBody>
      </p:sp>
      <p:sp>
        <p:nvSpPr>
          <p:cNvPr id="71" name="Text 64"/>
          <p:cNvSpPr/>
          <p:nvPr/>
        </p:nvSpPr>
        <p:spPr>
          <a:xfrm>
            <a:off x="1369219" y="3533775"/>
            <a:ext cx="6584674" cy="121615"/>
          </a:xfrm>
          <a:prstGeom prst="rect">
            <a:avLst/>
          </a:prstGeom>
          <a:noFill/>
          <a:ln/>
        </p:spPr>
        <p:txBody>
          <a:bodyPr wrap="none" lIns="0" tIns="0" rIns="0" bIns="0" rtlCol="0" anchor="ctr"/>
          <a:lstStyle/>
          <a:p>
            <a:pPr indent="0" marL="0">
              <a:buNone/>
            </a:pPr>
            <a:r>
              <a:rPr lang="en-US" sz="863" dirty="0">
                <a:solidFill>
                  <a:srgbClr val="555555"/>
                </a:solidFill>
                <a:latin typeface="Arial" pitchFamily="34" charset="0"/>
                <a:ea typeface="Arial" pitchFamily="34" charset="-122"/>
                <a:cs typeface="Arial" pitchFamily="34" charset="-120"/>
              </a:rPr>
              <a:t> validate incident cost, release/on-call hours and audit effort saved, less license and implementation cost. Northwind owns the baseline.</a:t>
            </a:r>
            <a:endParaRPr lang="en-US" sz="863" dirty="0"/>
          </a:p>
        </p:txBody>
      </p:sp>
      <p:sp>
        <p:nvSpPr>
          <p:cNvPr id="72" name="Shape 65"/>
          <p:cNvSpPr/>
          <p:nvPr/>
        </p:nvSpPr>
        <p:spPr>
          <a:xfrm>
            <a:off x="457200" y="4114800"/>
            <a:ext cx="8229600" cy="438150"/>
          </a:xfrm>
          <a:prstGeom prst="rect">
            <a:avLst/>
          </a:prstGeom>
          <a:solidFill>
            <a:srgbClr val="1A1A1A"/>
          </a:solidFill>
          <a:ln w="12700">
            <a:solidFill>
              <a:srgbClr val="333333">
                <a:alpha val="0"/>
              </a:srgbClr>
            </a:solidFill>
            <a:prstDash val="solid"/>
          </a:ln>
        </p:spPr>
      </p:sp>
      <p:pic>
        <p:nvPicPr>
          <p:cNvPr id="73" name="Image 5" descr="preencoded.png">    </p:cNvPr>
          <p:cNvPicPr>
            <a:picLocks noChangeAspect="1"/>
          </p:cNvPicPr>
          <p:nvPr/>
        </p:nvPicPr>
        <p:blipFill>
          <a:blip r:embed="rId6"/>
          <a:stretch>
            <a:fillRect/>
          </a:stretch>
        </p:blipFill>
        <p:spPr>
          <a:xfrm>
            <a:off x="628650" y="4229100"/>
            <a:ext cx="209550" cy="209550"/>
          </a:xfrm>
          <a:prstGeom prst="rect">
            <a:avLst/>
          </a:prstGeom>
        </p:spPr>
      </p:pic>
      <p:sp>
        <p:nvSpPr>
          <p:cNvPr id="74" name="Text 66"/>
          <p:cNvSpPr/>
          <p:nvPr/>
        </p:nvSpPr>
        <p:spPr>
          <a:xfrm>
            <a:off x="952500" y="4257675"/>
            <a:ext cx="1008233" cy="159715"/>
          </a:xfrm>
          <a:prstGeom prst="rect">
            <a:avLst/>
          </a:prstGeom>
          <a:noFill/>
          <a:ln/>
        </p:spPr>
        <p:txBody>
          <a:bodyPr wrap="none" lIns="0" tIns="0" rIns="0" bIns="0" rtlCol="0" anchor="ctr"/>
          <a:lstStyle/>
          <a:p>
            <a:pPr indent="0" marL="0">
              <a:buNone/>
            </a:pPr>
            <a:r>
              <a:rPr lang="en-US" sz="1088" b="1" dirty="0">
                <a:solidFill>
                  <a:srgbClr val="D8F55A"/>
                </a:solidFill>
                <a:latin typeface="Arial" pitchFamily="34" charset="0"/>
                <a:ea typeface="Arial" pitchFamily="34" charset="-122"/>
                <a:cs typeface="Arial" pitchFamily="34" charset="-120"/>
              </a:rPr>
              <a:t>Our ask today:</a:t>
            </a:r>
            <a:endParaRPr lang="en-US" sz="1088" dirty="0"/>
          </a:p>
        </p:txBody>
      </p:sp>
      <p:sp>
        <p:nvSpPr>
          <p:cNvPr id="75" name="Text 67"/>
          <p:cNvSpPr/>
          <p:nvPr/>
        </p:nvSpPr>
        <p:spPr>
          <a:xfrm>
            <a:off x="1919585" y="4257675"/>
            <a:ext cx="5174974" cy="159715"/>
          </a:xfrm>
          <a:prstGeom prst="rect">
            <a:avLst/>
          </a:prstGeom>
          <a:noFill/>
          <a:ln/>
        </p:spPr>
        <p:txBody>
          <a:bodyPr wrap="none" lIns="0" tIns="0" rIns="0" bIns="0" rtlCol="0" anchor="ctr"/>
          <a:lstStyle/>
          <a:p>
            <a:pPr indent="0" marL="0">
              <a:buNone/>
            </a:pPr>
            <a:r>
              <a:rPr lang="en-US" sz="1088" dirty="0">
                <a:solidFill>
                  <a:srgbClr val="FFFFFF"/>
                </a:solidFill>
                <a:latin typeface="Arial" pitchFamily="34" charset="0"/>
                <a:ea typeface="Arial" pitchFamily="34" charset="-122"/>
                <a:cs typeface="Arial" pitchFamily="34" charset="-120"/>
              </a:rPr>
              <a:t> name an executive sponsor and a pilot team, and book the week 1 workshop today.</a:t>
            </a:r>
            <a:endParaRPr lang="en-US" sz="1088" dirty="0"/>
          </a:p>
        </p:txBody>
      </p:sp>
      <p:sp>
        <p:nvSpPr>
          <p:cNvPr id="76" name="Shape 68"/>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77" name="Image 6" descr="preencoded.png">    </p:cNvPr>
          <p:cNvPicPr>
            <a:picLocks noChangeAspect="1"/>
          </p:cNvPicPr>
          <p:nvPr/>
        </p:nvPicPr>
        <p:blipFill>
          <a:blip r:embed="rId7"/>
          <a:stretch>
            <a:fillRect/>
          </a:stretch>
        </p:blipFill>
        <p:spPr>
          <a:xfrm>
            <a:off x="266700" y="4810125"/>
            <a:ext cx="247650" cy="2476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7160E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1143000" y="3619500"/>
            <a:ext cx="4953000" cy="4000500"/>
          </a:xfrm>
          <a:prstGeom prst="rect">
            <a:avLst/>
          </a:prstGeom>
        </p:spPr>
      </p:pic>
      <p:sp>
        <p:nvSpPr>
          <p:cNvPr id="4" name="Text 0"/>
          <p:cNvSpPr/>
          <p:nvPr/>
        </p:nvSpPr>
        <p:spPr>
          <a:xfrm>
            <a:off x="419100" y="338138"/>
            <a:ext cx="1679002" cy="293065"/>
          </a:xfrm>
          <a:prstGeom prst="rect">
            <a:avLst/>
          </a:prstGeom>
          <a:noFill/>
          <a:ln/>
        </p:spPr>
        <p:txBody>
          <a:bodyPr wrap="none" lIns="0" tIns="0" rIns="0" bIns="0" rtlCol="0" anchor="ctr"/>
          <a:lstStyle/>
          <a:p>
            <a:pPr indent="0" marL="0">
              <a:buNone/>
            </a:pPr>
            <a:r>
              <a:rPr lang="en-US" sz="1950" b="1" dirty="0">
                <a:solidFill>
                  <a:srgbClr val="FFFFFF"/>
                </a:solidFill>
                <a:latin typeface="Arial" pitchFamily="34" charset="0"/>
                <a:ea typeface="Arial" pitchFamily="34" charset="-122"/>
                <a:cs typeface="Arial" pitchFamily="34" charset="-120"/>
              </a:rPr>
              <a:t>LaunchDarkly</a:t>
            </a:r>
            <a:endParaRPr lang="en-US" sz="1950" dirty="0"/>
          </a:p>
        </p:txBody>
      </p:sp>
      <p:pic>
        <p:nvPicPr>
          <p:cNvPr id="5" name="Image 2" descr="preencoded.png">    </p:cNvPr>
          <p:cNvPicPr>
            <a:picLocks noChangeAspect="1"/>
          </p:cNvPicPr>
          <p:nvPr/>
        </p:nvPicPr>
        <p:blipFill>
          <a:blip r:embed="rId3"/>
          <a:stretch>
            <a:fillRect/>
          </a:stretch>
        </p:blipFill>
        <p:spPr>
          <a:xfrm>
            <a:off x="2152204" y="323850"/>
            <a:ext cx="323850" cy="323850"/>
          </a:xfrm>
          <a:prstGeom prst="rect">
            <a:avLst/>
          </a:prstGeom>
        </p:spPr>
      </p:pic>
      <p:sp>
        <p:nvSpPr>
          <p:cNvPr id="6" name="Text 1"/>
          <p:cNvSpPr/>
          <p:nvPr/>
        </p:nvSpPr>
        <p:spPr>
          <a:xfrm>
            <a:off x="419100" y="1485900"/>
            <a:ext cx="3470594"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Thank you.</a:t>
            </a:r>
            <a:endParaRPr lang="en-US" sz="5400" dirty="0"/>
          </a:p>
        </p:txBody>
      </p:sp>
      <p:sp>
        <p:nvSpPr>
          <p:cNvPr id="7" name="Text 2"/>
          <p:cNvSpPr/>
          <p:nvPr/>
        </p:nvSpPr>
        <p:spPr>
          <a:xfrm>
            <a:off x="419100" y="2419350"/>
            <a:ext cx="3405408" cy="197815"/>
          </a:xfrm>
          <a:prstGeom prst="rect">
            <a:avLst/>
          </a:prstGeom>
          <a:noFill/>
          <a:ln/>
        </p:spPr>
        <p:txBody>
          <a:bodyPr wrap="non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Ship faster. Release safer. Decide with data.</a:t>
            </a:r>
            <a:endParaRPr lang="en-US" sz="1350" dirty="0"/>
          </a:p>
        </p:txBody>
      </p:sp>
      <p:sp>
        <p:nvSpPr>
          <p:cNvPr id="8" name="Text 3"/>
          <p:cNvSpPr/>
          <p:nvPr/>
        </p:nvSpPr>
        <p:spPr>
          <a:xfrm>
            <a:off x="419100" y="2867025"/>
            <a:ext cx="5700784" cy="169240"/>
          </a:xfrm>
          <a:prstGeom prst="rect">
            <a:avLst/>
          </a:prstGeom>
          <a:noFill/>
          <a:ln/>
        </p:spPr>
        <p:txBody>
          <a:bodyPr wrap="non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Agreed next step: week 1 workshop · Date: ____________ · Owner: ____________</a:t>
            </a:r>
            <a:endParaRPr lang="en-US" sz="1200" dirty="0"/>
          </a:p>
        </p:txBody>
      </p:sp>
      <p:sp>
        <p:nvSpPr>
          <p:cNvPr id="9" name="Shape 4"/>
          <p:cNvSpPr/>
          <p:nvPr/>
        </p:nvSpPr>
        <p:spPr>
          <a:xfrm>
            <a:off x="0" y="4724400"/>
            <a:ext cx="9144000" cy="419100"/>
          </a:xfrm>
          <a:prstGeom prst="rect">
            <a:avLst/>
          </a:prstGeom>
          <a:solidFill>
            <a:srgbClr val="1A1A1A"/>
          </a:solidFill>
          <a:ln w="12700">
            <a:solidFill>
              <a:srgbClr val="333333">
                <a:alpha val="0"/>
              </a:srgbClr>
            </a:solidFill>
            <a:prstDash val="solid"/>
          </a:ln>
        </p:spPr>
      </p:sp>
      <p:sp>
        <p:nvSpPr>
          <p:cNvPr id="10" name="Text 5"/>
          <p:cNvSpPr/>
          <p:nvPr/>
        </p:nvSpPr>
        <p:spPr>
          <a:xfrm>
            <a:off x="419100" y="4862513"/>
            <a:ext cx="3975568"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github.com/squalliram/ld-northwind-payments → docs.launchdarkly.com</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LaunchDarkly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Safer, faster payment releases</dc:title>
  <dc:subject>Northwind Bank value playback</dc:subject>
  <dc:creator>Iram Khan</dc:creator>
  <cp:lastModifiedBy>Iram Khan</cp:lastModifiedBy>
  <cp:revision>1</cp:revision>
  <dcterms:created xsi:type="dcterms:W3CDTF">2026-10-21T16:23:04Z</dcterms:created>
  <dcterms:modified xsi:type="dcterms:W3CDTF">2026-10-21T16:23:04Z</dcterms:modified>
</cp:coreProperties>
</file>